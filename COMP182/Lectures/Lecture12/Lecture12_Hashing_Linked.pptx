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f939d73d3a41ec" /><Relationship Type="http://schemas.openxmlformats.org/officeDocument/2006/relationships/extended-properties" Target="/docProps/app.xml" Id="R9eea8b71d60c470f" /><Relationship Type="http://schemas.openxmlformats.org/officeDocument/2006/relationships/officeDocument" Target="/ppt/presentation.xml" Id="R1e0e76e1a5094497" /></Relationships>
</file>

<file path=ppt/presentation.xml><?xml version="1.0" encoding="utf-8"?>
<p:presentation xmlns:ns1="http://schemas.openxmlformats.org/officeDocument/2006/relationships" xmlns:p="http://schemas.openxmlformats.org/presentationml/2006/main">
  <p:sldMasterIdLst>
    <p:sldMasterId id="2147483648" ns1:id="R9e88b44840d84bd0"/>
  </p:sldMasterIdLst>
  <p:notesMasterIdLst>
    <p:notesMasterId ns1:id="R41fd68676c9d4272"/>
  </p:notesMasterIdLst>
  <p:sldIdLst>
    <p:sldId id="256" ns1:id="R733a65b5f7e34d47"/>
    <p:sldId id="257" ns1:id="Ra374afc1066846d3"/>
    <p:sldId id="258" ns1:id="R5b26a1f42c364af7"/>
    <p:sldId id="259" ns1:id="R048b932e9005496b"/>
    <p:sldId id="260" ns1:id="R648155ab4ccf4080"/>
    <p:sldId id="261" ns1:id="R6cffbf9c2c4843ac"/>
    <p:sldId id="262" ns1:id="R5499efa1c5a442ee"/>
    <p:sldId id="263" ns1:id="R8152b15684234633"/>
    <p:sldId id="264" ns1:id="R1cd5539591e24254"/>
    <p:sldId id="265" ns1:id="Rd5582f6d2afb43e7"/>
    <p:sldId id="266" ns1:id="R246a0aa76bee4ebe"/>
    <p:sldId id="267" ns1:id="R3f257e1cb1f94148"/>
    <p:sldId id="268" ns1:id="R7214f2a23952463b"/>
    <p:sldId id="269" ns1:id="R519aa7466cee4251"/>
    <p:sldId id="270" ns1:id="R80115546d2c54c19"/>
    <p:sldId id="271" ns1:id="R22baaf0a9f9b407c"/>
    <p:sldId id="272" ns1:id="Re7fb95c848d1492c"/>
    <p:sldId id="273" ns1:id="R42460cfb791548f3"/>
    <p:sldId id="274" ns1:id="Rf9be36d032664c1f"/>
    <p:sldId id="275" ns1:id="Rd863dd8f3d384a6e"/>
    <p:sldId id="276" ns1:id="R20caed29298c4210"/>
    <p:sldId id="277" ns1:id="R98edf55c07c64232"/>
    <p:sldId id="278" ns1:id="Re7686555ad6e441e"/>
    <p:sldId id="279" ns1:id="R53eb19a4c1fd4cff"/>
    <p:sldId id="280" ns1:id="Rfe2675b8b0b54c7c"/>
    <p:sldId id="281" ns1:id="R9418d6a712134c8c"/>
    <p:sldId id="282" ns1:id="R5e74782ccf514589"/>
    <p:sldId id="283" ns1:id="Redc0ef84caca4b68"/>
    <p:sldId id="284" ns1:id="R860b1d2483a0436f"/>
    <p:sldId id="285" ns1:id="R63b19a80a8544920"/>
    <p:sldId id="286" ns1:id="R33b2aa41e8cf4a9f"/>
    <p:sldId id="287" ns1:id="R1167018ca665433a"/>
    <p:sldId id="288" ns1:id="R93d3c68042594fa1"/>
    <p:sldId id="289" ns1:id="Rc97eb21824624ceb"/>
    <p:sldId id="290" ns1:id="R675a9d234ef64dec"/>
    <p:sldId id="291" ns1:id="Rb1e7659402cb4fae"/>
    <p:sldId id="292" ns1:id="R78784837bb0b4308"/>
    <p:sldId id="293" ns1:id="R31816d74922e4802"/>
    <p:sldId id="294" ns1:id="R4d5d2ff3813c4fb5"/>
    <p:sldId id="295" ns1:id="Re729f45f5bc7495a"/>
    <p:sldId id="296" ns1:id="Rdb036ebbde4842d5"/>
    <p:sldId id="297" ns1:id="R78757cf13402467b"/>
    <p:sldId id="298" ns1:id="Rd7c1557cc2fc49f9"/>
    <p:sldId id="299" ns1:id="R3a053d9d6f0b49ea"/>
    <p:sldId id="300" ns1:id="R456396ed896d46ca"/>
  </p:sldIdLst>
  <p:sldSz cx="12192000" cy="6858000"/>
  <p:notesSz cx="7772400" cy="10058400"/>
  <p:printPr prnWhat="notes" clrMode="clr" frameSlides="0" scaleToFitPaper="1"/>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6f61f980e44503" /><Relationship Type="http://schemas.openxmlformats.org/officeDocument/2006/relationships/slideMaster" Target="/ppt/slideMasters/slideMaster1.xml" Id="R9e88b44840d84bd0" /><Relationship Type="http://schemas.openxmlformats.org/officeDocument/2006/relationships/notesMaster" Target="/ppt/notesMasters/notesMaster1.xml" Id="R41fd68676c9d4272" /><Relationship Type="http://schemas.openxmlformats.org/officeDocument/2006/relationships/presProps" Target="/ppt/presProps.xml" Id="R68afd50a9035427c" /><Relationship Type="http://schemas.openxmlformats.org/officeDocument/2006/relationships/tableStyles" Target="/ppt/tableStyles.xml" Id="Rdfd0343d54ad4eec" /><Relationship Type="http://schemas.openxmlformats.org/officeDocument/2006/relationships/slide" Target="/ppt/slides/slide1.xml" Id="R733a65b5f7e34d47" /><Relationship Type="http://schemas.openxmlformats.org/officeDocument/2006/relationships/slide" Target="/ppt/slides/slide2.xml" Id="Ra374afc1066846d3" /><Relationship Type="http://schemas.openxmlformats.org/officeDocument/2006/relationships/slide" Target="/ppt/slides/slide3.xml" Id="R5b26a1f42c364af7" /><Relationship Type="http://schemas.openxmlformats.org/officeDocument/2006/relationships/slide" Target="/ppt/slides/slide4.xml" Id="R048b932e9005496b" /><Relationship Type="http://schemas.openxmlformats.org/officeDocument/2006/relationships/slide" Target="/ppt/slides/slide5.xml" Id="R648155ab4ccf4080" /><Relationship Type="http://schemas.openxmlformats.org/officeDocument/2006/relationships/slide" Target="/ppt/slides/slide6.xml" Id="R6cffbf9c2c4843ac" /><Relationship Type="http://schemas.openxmlformats.org/officeDocument/2006/relationships/slide" Target="/ppt/slides/slide7.xml" Id="R5499efa1c5a442ee" /><Relationship Type="http://schemas.openxmlformats.org/officeDocument/2006/relationships/slide" Target="/ppt/slides/slide8.xml" Id="R8152b15684234633" /><Relationship Type="http://schemas.openxmlformats.org/officeDocument/2006/relationships/slide" Target="/ppt/slides/slide9.xml" Id="R1cd5539591e24254" /><Relationship Type="http://schemas.openxmlformats.org/officeDocument/2006/relationships/slide" Target="/ppt/slides/slide10.xml" Id="Rd5582f6d2afb43e7" /><Relationship Type="http://schemas.openxmlformats.org/officeDocument/2006/relationships/slide" Target="/ppt/slides/slide11.xml" Id="R246a0aa76bee4ebe" /><Relationship Type="http://schemas.openxmlformats.org/officeDocument/2006/relationships/slide" Target="/ppt/slides/slide12.xml" Id="R3f257e1cb1f94148" /><Relationship Type="http://schemas.openxmlformats.org/officeDocument/2006/relationships/slide" Target="/ppt/slides/slide13.xml" Id="R7214f2a23952463b" /><Relationship Type="http://schemas.openxmlformats.org/officeDocument/2006/relationships/slide" Target="/ppt/slides/slide14.xml" Id="R519aa7466cee4251" /><Relationship Type="http://schemas.openxmlformats.org/officeDocument/2006/relationships/slide" Target="/ppt/slides/slide15.xml" Id="R80115546d2c54c19" /><Relationship Type="http://schemas.openxmlformats.org/officeDocument/2006/relationships/slide" Target="/ppt/slides/slide16.xml" Id="R22baaf0a9f9b407c" /><Relationship Type="http://schemas.openxmlformats.org/officeDocument/2006/relationships/slide" Target="/ppt/slides/slide17.xml" Id="Re7fb95c848d1492c" /><Relationship Type="http://schemas.openxmlformats.org/officeDocument/2006/relationships/slide" Target="/ppt/slides/slide18.xml" Id="R42460cfb791548f3" /><Relationship Type="http://schemas.openxmlformats.org/officeDocument/2006/relationships/slide" Target="/ppt/slides/slide19.xml" Id="Rf9be36d032664c1f" /><Relationship Type="http://schemas.openxmlformats.org/officeDocument/2006/relationships/slide" Target="/ppt/slides/slide20.xml" Id="Rd863dd8f3d384a6e" /><Relationship Type="http://schemas.openxmlformats.org/officeDocument/2006/relationships/slide" Target="/ppt/slides/slide21.xml" Id="R20caed29298c4210" /><Relationship Type="http://schemas.openxmlformats.org/officeDocument/2006/relationships/slide" Target="/ppt/slides/slide22.xml" Id="R98edf55c07c64232" /><Relationship Type="http://schemas.openxmlformats.org/officeDocument/2006/relationships/slide" Target="/ppt/slides/slide23.xml" Id="Re7686555ad6e441e" /><Relationship Type="http://schemas.openxmlformats.org/officeDocument/2006/relationships/slide" Target="/ppt/slides/slide24.xml" Id="R53eb19a4c1fd4cff" /><Relationship Type="http://schemas.openxmlformats.org/officeDocument/2006/relationships/slide" Target="/ppt/slides/slide25.xml" Id="Rfe2675b8b0b54c7c" /><Relationship Type="http://schemas.openxmlformats.org/officeDocument/2006/relationships/slide" Target="/ppt/slides/slide26.xml" Id="R9418d6a712134c8c" /><Relationship Type="http://schemas.openxmlformats.org/officeDocument/2006/relationships/slide" Target="/ppt/slides/slide27.xml" Id="R5e74782ccf514589" /><Relationship Type="http://schemas.openxmlformats.org/officeDocument/2006/relationships/slide" Target="/ppt/slides/slide28.xml" Id="Redc0ef84caca4b68" /><Relationship Type="http://schemas.openxmlformats.org/officeDocument/2006/relationships/slide" Target="/ppt/slides/slide29.xml" Id="R860b1d2483a0436f" /><Relationship Type="http://schemas.openxmlformats.org/officeDocument/2006/relationships/slide" Target="/ppt/slides/slide30.xml" Id="R63b19a80a8544920" /><Relationship Type="http://schemas.openxmlformats.org/officeDocument/2006/relationships/slide" Target="/ppt/slides/slide31.xml" Id="R33b2aa41e8cf4a9f" /><Relationship Type="http://schemas.openxmlformats.org/officeDocument/2006/relationships/slide" Target="/ppt/slides/slide32.xml" Id="R1167018ca665433a" /><Relationship Type="http://schemas.openxmlformats.org/officeDocument/2006/relationships/slide" Target="/ppt/slides/slide33.xml" Id="R93d3c68042594fa1" /><Relationship Type="http://schemas.openxmlformats.org/officeDocument/2006/relationships/slide" Target="/ppt/slides/slide34.xml" Id="Rc97eb21824624ceb" /><Relationship Type="http://schemas.openxmlformats.org/officeDocument/2006/relationships/slide" Target="/ppt/slides/slide35.xml" Id="R675a9d234ef64dec" /><Relationship Type="http://schemas.openxmlformats.org/officeDocument/2006/relationships/slide" Target="/ppt/slides/slide36.xml" Id="Rb1e7659402cb4fae" /><Relationship Type="http://schemas.openxmlformats.org/officeDocument/2006/relationships/slide" Target="/ppt/slides/slide37.xml" Id="R78784837bb0b4308" /><Relationship Type="http://schemas.openxmlformats.org/officeDocument/2006/relationships/slide" Target="/ppt/slides/slide38.xml" Id="R31816d74922e4802" /><Relationship Type="http://schemas.openxmlformats.org/officeDocument/2006/relationships/slide" Target="/ppt/slides/slide39.xml" Id="R4d5d2ff3813c4fb5" /><Relationship Type="http://schemas.openxmlformats.org/officeDocument/2006/relationships/slide" Target="/ppt/slides/slide40.xml" Id="Re729f45f5bc7495a" /><Relationship Type="http://schemas.openxmlformats.org/officeDocument/2006/relationships/slide" Target="/ppt/slides/slide41.xml" Id="Rdb036ebbde4842d5" /><Relationship Type="http://schemas.openxmlformats.org/officeDocument/2006/relationships/slide" Target="/ppt/slides/slide42.xml" Id="R78757cf13402467b" /><Relationship Type="http://schemas.openxmlformats.org/officeDocument/2006/relationships/slide" Target="/ppt/slides/slide43.xml" Id="Rd7c1557cc2fc49f9" /><Relationship Type="http://schemas.openxmlformats.org/officeDocument/2006/relationships/slide" Target="/ppt/slides/slide44.xml" Id="R3a053d9d6f0b49ea" /><Relationship Type="http://schemas.openxmlformats.org/officeDocument/2006/relationships/slide" Target="/ppt/slides/slide45.xml" Id="R456396ed896d46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dfd456cf0843ec"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xfrm>
            <a:off x="594360" y="9418320"/>
            <a:ext cx="5394960" cy="274320"/>
          </a:xfrm>
          <a:prstGeom prst="rect">
            <a:avLst/>
          </a:prstGeom>
        </p:spPr>
        <p:txBody>
          <a:bodyPr/>
          <a:lstStyle/>
          <a:p/>
        </p:txBody>
      </p:sp>
      <p:sp>
        <p:nvSpPr>
          <p:cNvPr id="3" name="Date Placeholder"/>
          <p:cNvSpPr/>
          <p:nvPr>
            <p:ph type="dt" sz="quarter" idx="1"/>
          </p:nvPr>
        </p:nvSpPr>
        <p:spPr>
          <a:xfrm>
            <a:off x="594360" y="9418320"/>
            <a:ext cx="5394960" cy="274320"/>
          </a:xfrm>
          <a:prstGeom prst="rect">
            <a:avLst/>
          </a:prstGeom>
        </p:spPr>
        <p:txBody>
          <a:bodyPr/>
          <a:lstStyle/>
          <a:p/>
        </p:txBody>
      </p:sp>
      <p:sp>
        <p:nvSpPr>
          <p:cNvPr id="4" name="Slide Image Placeholder"/>
          <p:cNvSpPr/>
          <p:nvPr>
            <p:ph type="sldImg" idx="2"/>
          </p:nvPr>
        </p:nvSpPr>
        <p:spPr>
          <a:xfrm>
            <a:off x="594360" y="594360"/>
            <a:ext cx="6583680" cy="3703320"/>
          </a:xfrm>
          <a:prstGeom prst="rect">
            <a:avLst/>
          </a:prstGeom>
        </p:spPr>
        <p:txBody>
          <a:bodyPr/>
          <a:lstStyle/>
          <a:p/>
        </p:txBody>
      </p:sp>
      <p:sp>
        <p:nvSpPr>
          <p:cNvPr id="5" name="Notes Placeholder"/>
          <p:cNvSpPr/>
          <p:nvPr>
            <p:ph type="body" sz="quarter" idx="3"/>
          </p:nvPr>
        </p:nvSpPr>
        <p:spPr>
          <a:xfrm>
            <a:off x="594360" y="4617720"/>
            <a:ext cx="6583680" cy="4480560"/>
          </a:xfrm>
          <a:prstGeom prst="rect">
            <a:avLst/>
          </a:prstGeom>
        </p:spPr>
        <p:txBody>
          <a:bodyPr lIns="0" tIns="0" rIns="0" bIns="0" wrap="square" anchor="t"/>
          <a:lstStyle/>
          <a:p>
            <a:pPr>
              <a:lnSpc>
                <a:spcPct val="115000"/>
              </a:lnSpc>
            </a:pPr>
          </a:p>
        </p:txBody>
      </p:sp>
      <p:sp>
        <p:nvSpPr>
          <p:cNvPr id="6" name="Footer Placeholder"/>
          <p:cNvSpPr/>
          <p:nvPr>
            <p:ph type="ftr" sz="quarter" idx="4"/>
          </p:nvPr>
        </p:nvSpPr>
        <p:spPr>
          <a:xfrm>
            <a:off x="594360" y="9418320"/>
            <a:ext cx="5394960" cy="274320"/>
          </a:xfrm>
          <a:prstGeom prst="rect">
            <a:avLst/>
          </a:prstGeom>
        </p:spPr>
        <p:txBody>
          <a:bodyPr/>
          <a:lstStyle/>
          <a:p/>
        </p:txBody>
      </p:sp>
      <p:sp>
        <p:nvSpPr>
          <p:cNvPr id="7" name="Slide Number Placeholder"/>
          <p:cNvSpPr/>
          <p:nvPr>
            <p:ph type="sldNum" sz="quarter" idx="5"/>
          </p:nvPr>
        </p:nvSpPr>
        <p:spPr>
          <a:xfrm>
            <a:off x="6675120" y="9418320"/>
            <a:ext cx="502920" cy="274320"/>
          </a:xfrm>
          <a:prstGeom prst="rect">
            <a:avLst/>
          </a:prstGeom>
        </p:spPr>
        <p:txBody>
          <a:bodyPr lIns="0" tIns="0" rIns="0" bIns="0" wrap="square" anchor="t"/>
          <a:lstStyle/>
          <a:p>
            <a:pPr>
              <a:lnSpc>
                <a:spcPct val="115000"/>
              </a:lnSpc>
            </a:p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dd200053704195" /><Relationship Type="http://schemas.openxmlformats.org/officeDocument/2006/relationships/notesMaster" Target="/ppt/notesMasters/notesMaster1.xml" Id="Ra96423e6ca1743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4a7fd8f3ad42ea" /><Relationship Type="http://schemas.openxmlformats.org/officeDocument/2006/relationships/notesMaster" Target="/ppt/notesMasters/notesMaster1.xml" Id="R16a175262163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c37c454b2d42ca" /><Relationship Type="http://schemas.openxmlformats.org/officeDocument/2006/relationships/notesMaster" Target="/ppt/notesMasters/notesMaster1.xml" Id="Re94618e8c60d46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bd70f87f7047ea" /><Relationship Type="http://schemas.openxmlformats.org/officeDocument/2006/relationships/notesMaster" Target="/ppt/notesMasters/notesMaster1.xml" Id="Re9ca9f7089dc45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f1762c13df4079" /><Relationship Type="http://schemas.openxmlformats.org/officeDocument/2006/relationships/notesMaster" Target="/ppt/notesMasters/notesMaster1.xml" Id="Rd4b14e8002cd44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a136500e44447f" /><Relationship Type="http://schemas.openxmlformats.org/officeDocument/2006/relationships/notesMaster" Target="/ppt/notesMasters/notesMaster1.xml" Id="R11b545d198f241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a4941054064c0a" /><Relationship Type="http://schemas.openxmlformats.org/officeDocument/2006/relationships/notesMaster" Target="/ppt/notesMasters/notesMaster1.xml" Id="Rcf39620429334c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9df2d2c8144299" /><Relationship Type="http://schemas.openxmlformats.org/officeDocument/2006/relationships/notesMaster" Target="/ppt/notesMasters/notesMaster1.xml" Id="R228e97046cac4f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ab9cb655fa47da" /><Relationship Type="http://schemas.openxmlformats.org/officeDocument/2006/relationships/notesMaster" Target="/ppt/notesMasters/notesMaster1.xml" Id="Rf7cfe95f114f41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501f6efe774a23" /><Relationship Type="http://schemas.openxmlformats.org/officeDocument/2006/relationships/notesMaster" Target="/ppt/notesMasters/notesMaster1.xml" Id="Rcc1c31fed58a4e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ec7700ffba428c" /><Relationship Type="http://schemas.openxmlformats.org/officeDocument/2006/relationships/notesMaster" Target="/ppt/notesMasters/notesMaster1.xml" Id="R7cfc374da67c4d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6ecf8c7b7446fa" /><Relationship Type="http://schemas.openxmlformats.org/officeDocument/2006/relationships/notesMaster" Target="/ppt/notesMasters/notesMaster1.xml" Id="Rde72cecd67ac43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0a704e7ab547fd" /><Relationship Type="http://schemas.openxmlformats.org/officeDocument/2006/relationships/notesMaster" Target="/ppt/notesMasters/notesMaster1.xml" Id="R0df7458f2c0b40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5fda369c4144c5" /><Relationship Type="http://schemas.openxmlformats.org/officeDocument/2006/relationships/notesMaster" Target="/ppt/notesMasters/notesMaster1.xml" Id="R5eb1593b707240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b46ed3ef2340d6" /><Relationship Type="http://schemas.openxmlformats.org/officeDocument/2006/relationships/notesMaster" Target="/ppt/notesMasters/notesMaster1.xml" Id="R320f4696637d4d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a3037097874df6" /><Relationship Type="http://schemas.openxmlformats.org/officeDocument/2006/relationships/notesMaster" Target="/ppt/notesMasters/notesMaster1.xml" Id="Rb798d10bdb1145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9b97b104184076" /><Relationship Type="http://schemas.openxmlformats.org/officeDocument/2006/relationships/notesMaster" Target="/ppt/notesMasters/notesMaster1.xml" Id="R6b0317eb84db4a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2b22244964447e7" /><Relationship Type="http://schemas.openxmlformats.org/officeDocument/2006/relationships/notesMaster" Target="/ppt/notesMasters/notesMaster1.xml" Id="R3ff9ba0979f9404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32ed85be6f34818" /><Relationship Type="http://schemas.openxmlformats.org/officeDocument/2006/relationships/notesMaster" Target="/ppt/notesMasters/notesMaster1.xml" Id="R657aa140efa143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6db817088d4261" /><Relationship Type="http://schemas.openxmlformats.org/officeDocument/2006/relationships/notesMaster" Target="/ppt/notesMasters/notesMaster1.xml" Id="R1c922415a33e41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194ffc1a494c2f" /><Relationship Type="http://schemas.openxmlformats.org/officeDocument/2006/relationships/notesMaster" Target="/ppt/notesMasters/notesMaster1.xml" Id="R85491c2f80e144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4fa35456a744c16" /><Relationship Type="http://schemas.openxmlformats.org/officeDocument/2006/relationships/notesMaster" Target="/ppt/notesMasters/notesMaster1.xml" Id="R9fa328e0759740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997c3fded5c4c2c" /><Relationship Type="http://schemas.openxmlformats.org/officeDocument/2006/relationships/notesMaster" Target="/ppt/notesMasters/notesMaster1.xml" Id="R5f807164d56347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269324afa6495c" /><Relationship Type="http://schemas.openxmlformats.org/officeDocument/2006/relationships/notesMaster" Target="/ppt/notesMasters/notesMaster1.xml" Id="Rf146151cede6491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3516340954f4284" /><Relationship Type="http://schemas.openxmlformats.org/officeDocument/2006/relationships/notesMaster" Target="/ppt/notesMasters/notesMaster1.xml" Id="Rc6d29e90967849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9f464587b0e4790" /><Relationship Type="http://schemas.openxmlformats.org/officeDocument/2006/relationships/notesMaster" Target="/ppt/notesMasters/notesMaster1.xml" Id="Rf66bfdc9c6ba488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d79e33870984618" /><Relationship Type="http://schemas.openxmlformats.org/officeDocument/2006/relationships/notesMaster" Target="/ppt/notesMasters/notesMaster1.xml" Id="R597980f27118408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d9cdb2890324961" /><Relationship Type="http://schemas.openxmlformats.org/officeDocument/2006/relationships/notesMaster" Target="/ppt/notesMasters/notesMaster1.xml" Id="R88811f3504b842f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dbbc3b0b304216" /><Relationship Type="http://schemas.openxmlformats.org/officeDocument/2006/relationships/notesMaster" Target="/ppt/notesMasters/notesMaster1.xml" Id="Rcf117ac88d0c44f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9e9b54582134cd7" /><Relationship Type="http://schemas.openxmlformats.org/officeDocument/2006/relationships/notesMaster" Target="/ppt/notesMasters/notesMaster1.xml" Id="R098b406f033243a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9b342a674e64f16" /><Relationship Type="http://schemas.openxmlformats.org/officeDocument/2006/relationships/notesMaster" Target="/ppt/notesMasters/notesMaster1.xml" Id="Rbaeb86f5074240f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b2d570ee1654674" /><Relationship Type="http://schemas.openxmlformats.org/officeDocument/2006/relationships/notesMaster" Target="/ppt/notesMasters/notesMaster1.xml" Id="Rf3ea374e0cb74bc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58ea4b5de334bc2" /><Relationship Type="http://schemas.openxmlformats.org/officeDocument/2006/relationships/notesMaster" Target="/ppt/notesMasters/notesMaster1.xml" Id="R17ecde93da51447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dd8393d3da94aa2" /><Relationship Type="http://schemas.openxmlformats.org/officeDocument/2006/relationships/notesMaster" Target="/ppt/notesMasters/notesMaster1.xml" Id="R088756650a5748a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0245c7bdfc54339" /><Relationship Type="http://schemas.openxmlformats.org/officeDocument/2006/relationships/notesMaster" Target="/ppt/notesMasters/notesMaster1.xml" Id="R26db7ab0a1b4480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11addb67eab447c" /><Relationship Type="http://schemas.openxmlformats.org/officeDocument/2006/relationships/notesMaster" Target="/ppt/notesMasters/notesMaster1.xml" Id="R8ad6966caff541e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82cd05f509e46b2" /><Relationship Type="http://schemas.openxmlformats.org/officeDocument/2006/relationships/notesMaster" Target="/ppt/notesMasters/notesMaster1.xml" Id="Rc4fb1dba096b44b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24b84412da44d16" /><Relationship Type="http://schemas.openxmlformats.org/officeDocument/2006/relationships/notesMaster" Target="/ppt/notesMasters/notesMaster1.xml" Id="Rfb38f18e364348d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3d09fc3efa94536" /><Relationship Type="http://schemas.openxmlformats.org/officeDocument/2006/relationships/notesMaster" Target="/ppt/notesMasters/notesMaster1.xml" Id="R8e9723026228485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d9820d91cea431b" /><Relationship Type="http://schemas.openxmlformats.org/officeDocument/2006/relationships/notesMaster" Target="/ppt/notesMasters/notesMaster1.xml" Id="R139e41d5decb4cb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709a1375c024173" /><Relationship Type="http://schemas.openxmlformats.org/officeDocument/2006/relationships/notesMaster" Target="/ppt/notesMasters/notesMaster1.xml" Id="Rac4714a17e93421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9f313d1006643a7" /><Relationship Type="http://schemas.openxmlformats.org/officeDocument/2006/relationships/notesMaster" Target="/ppt/notesMasters/notesMaster1.xml" Id="Rb4562b2258d6433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1fb77b6c40f4e51" /><Relationship Type="http://schemas.openxmlformats.org/officeDocument/2006/relationships/notesMaster" Target="/ppt/notesMasters/notesMaster1.xml" Id="Rbc7182d9d2af4af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8b1e0541e7c48f4" /><Relationship Type="http://schemas.openxmlformats.org/officeDocument/2006/relationships/notesMaster" Target="/ppt/notesMasters/notesMaster1.xml" Id="R8cb8eef13eff45d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d7df738979a4b22" /><Relationship Type="http://schemas.openxmlformats.org/officeDocument/2006/relationships/notesMaster" Target="/ppt/notesMasters/notesMaster1.xml" Id="R2c6bbfd189f1469c"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This lecture develops a hash table as an implementation of a map or set. The walkthroughs consolidate the original animation builds into complete tables so each page can stand alone when printed. Notes explain assumptions, stopping rules, and answers to classroom exercises.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Keep Lecture12_Hashing_Java_Examples beside the PowerPoint for local source links. The folder contains complete Java 17 examples, including the Java code and runnable implementations of the map/set outlines. Print Notes Pages for teaching notes; the separate PDF contains slides only.</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Ask students to distinguish a key from a value and an array index from a hash code. Use the same six-key exercise for all three probing methods so students can compare their collision paths. The lecture ends with implementation outlines and a short review.</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 Adapted from the supplied COMP 182 lecture.</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A plain binary search tree can degenerate to O(n). A balanced tree supports ordered operations as well as logarithmic lookup. Binary search improves lookup in a sorted array, but insertion and deletion may shift entries. Hash tables trade sorted order for expected constant-time access. A resize can make a single insertion linear. Reference: https://algs4.cs.princeton.edu/34hash/</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 Adapted from the supplied COMP 182 lecture.</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source calls the universe M. This version uses U for the universe, n for the number of stored entries, and m for table capacity. An English dictionary stores only some possible strings. A table proportional to the universe would be impractical. Hashing uses space O(m + n), which is O(n) when capacity stays proportional to the stored set.</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4. Adapted from the supplied COMP 182 lecture.</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Use words and definitions as a map example. Apple, Pear, Orange, Durian, and Kumquat can be stored in a compact list, but an unsorted list needs a scan. A repeatable hash computation can start lookup near the right entry. Randomly choosing a fresh position on each access would lose that repeatability. A map can also use a tree.</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5.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JavaHashMapDemo.java.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Java Map.put returns the previous value, or null when no previous mapping exists. A previous null value makes that return ambiguous too. containsKey distinguishes absence from a mapping to null. For the teaching algorithms later, assume non-null keys and explicitly represent a missing result. Source: https://docs.oracle.com/en/java/javase/21/docs/api/java.base/java/util/Map.html</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6.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JavaHashMapDemo.java.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A hash code can have a much larger range than the table indices. The phone-number example illustrates the two stages, but discarding most digits may create poor distribution. The source definition saying retrieval happens without searching is too strong: collisions require comparisons within a bucket or probe sequence.</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7.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HashCodeExamples.java.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These four rows combine the original incremental integer example. We have not selected a collision policy yet, so 3744 cannot simply overwrite 214. A perfect hash function avoids collisions for its designated key set, often constructed for a known static set. A general dynamic hash table must handle collisions.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8.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HashCodeExamples.java.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Object.hashCode is not specified to return a memory address. Its value must remain consistent during one execution while equality-relevant information is unchanged. Java does not require the same hash code across separate runs. A mutated key can become unreachable through normal lookup. Source: https://docs.oracle.com/en/java/javase/21/docs/api/java.base/java/lang/Object.html</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9.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PersonKey is immutable and includes exactly the four fields used by equals in hashCode. PersonKeyDemo shows equal distinct key objects and the unequal colliding Strings FB and Ea.</a:t>
            </a:r>
          </a:p>
          <a:p>
            <a:pPr marL="0" indent="0">
              <a:buNone/>
              <a:defRPr sz="1150">
                <a:latin typeface="Arial"/>
                <a:ea typeface="Arial"/>
                <a:cs typeface="Arial"/>
              </a:defRPr>
              <a:lnSpc>
                <a:spcPct val="115000"/>
              </a:lnSpc>
            </a:pPr>
            <a:r>
              <a:rPr sz="1200">
                <a:latin typeface="Arial"/>
                <a:ea typeface="Arial"/>
                <a:cs typeface="Arial"/>
                <a:latin typeface="Arial"/>
              </a:rPr>
              <a:t>Local Java: PersonKey.java, PersonKeyDemo.java.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Simply casting a long to int discards the upper 32 bits. XOR folding incorporates them. The result is still only 32 bits, so collisions remain possible. Prefer the wrapper hashCode methods when implementing Java code. Source: https://docs.oracle.com/en/java/javase/21/docs/api/java.base/java/lang/Long.html#hashCode(long)</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10.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HashCodeExamples.java.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Casting 12.2 to an integer loses the fractional part. Float uses Float.floatToIntBits. Double combines the two halves of Double.doubleToLongBits. These APIs handle NaNs consistently with wrapper equality. Positive and negative zero are distinct under Double.equals. Sources: https://docs.oracle.com/en/java/javase/21/docs/api/java.base/java/lang/Double.html#hashCode(double) and https://docs.oracle.com/en/java/javase/21/docs/api/java.base/java/lang/Float.html#hashCode(float)</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11.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HashCodeExamples.java.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Horner evaluation computes a polynomial without explicitly raising the base to powers. Java String uses base 31 over UTF-16 char code units with int overflow. For ab: 31 * 97 + 98 = 3105. For ba: 31 * 98 + 97 = 3135. Computing this loop takes O(L) for L code units. Source: https://docs.oracle.com/en/java/javase/21/docs/api/java.base/java/lang/String.html#hashCode()</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12.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HashCodeExamples.java.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For a Person whose equality uses first name, middle name, last name, and birth date, include those fields in the hash computation. Decide equality first, then implement its compatible hash. Two different people can still collide. Prefer immutable key types. This preserves the source example while making the equality requirement explicit.</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13.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PersonKey.java, PersonKeyDemo.java.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For example, -1 % 10 is -1, but Math.floorMod(-1, 10) is 9. Avoid Math.abs(hashCode) because the minimum int remains negative when negated. Prime capacities can help some modular schemes, but they do not repair a poor hash function. The bit-mask expression with m = 4 and mixedHash = 11 gives 3.</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14.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HashCodeExamples.java.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In open addressing each array slot holds at most one live entry. In separate chaining the array points to buckets that can hold multiple entries. A linked list is one bucket representation, but a bucket need not be an array or a list. Resizing is complementary to either collision strategy.</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15.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ProbeTable.java, MyHashMap.java.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Compare each occupied slot with the requested key. Stop successfully on equality. Stop unsuccessfully at a never-used slot or after exhausting the permitted sequence. A deleted marker does not stop lookup. Linear probing visits every slot once within m probes. Reference: https://algs4.cs.princeton.edu/34hash/</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16.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ProbeTable.java.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Start with an empty table and insert in the listed order. Each inspected sequence includes the final empty slot. The third insertion demonstrates wraparound. The five entries occupy half the table, so the load factor is 5 / 10 = 0.5.</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17.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LinearProbingDemo.java.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cluster crosses the end of the array, so it is one circular run. Searching for 10 begins at its own home slot 0 and checks 0, 1, 2. It does not begin at 8. Searching for a missing key with home 8 must scan the run until a never-used slot appears.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18.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LinearProbingDemo.java.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With tombstone deletion, changing slot 8 directly to EMPTY would incorrectly hide the key 8. A put operation must continue after the first tombstone to check for an existing equal key, then reuse the remembered slot when absence is established. Linear probing also permits carefully implemented cluster repair instead of tombstones. Reference: https://algs4.cs.princeton.edu/34hash/</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19.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LinearProbingMap and MyHashMap reject both null keys and null values, so null is an unambiguous missing result in these teaching implementations. This differs from java.util.HashMap. TombstoneMapDemo tests that a replacement beyond a deleted slot does not create a duplicate.</a:t>
            </a:r>
          </a:p>
          <a:p>
            <a:pPr marL="0" indent="0">
              <a:buNone/>
              <a:defRPr sz="1150">
                <a:latin typeface="Arial"/>
                <a:ea typeface="Arial"/>
                <a:cs typeface="Arial"/>
              </a:defRPr>
              <a:lnSpc>
                <a:spcPct val="115000"/>
              </a:lnSpc>
            </a:pPr>
            <a:r>
              <a:rPr sz="1200">
                <a:latin typeface="Arial"/>
                <a:ea typeface="Arial"/>
                <a:cs typeface="Arial"/>
                <a:latin typeface="Arial"/>
              </a:rPr>
              <a:t>Local Java: LinearProbingMap.java, TombstoneMapDemo.java.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This pseudocode assumes probe visits all slots within m attempts, as linear probing and correctly configured double hashing do. For quadratic probing, use a bounded policy and detect failure even if some slots remain unused. A table with no EMPTY slots still supports a terminating lookup when the probe count is bounded.</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20.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The fixed-capacity ProbeTable illustrates all probe policies and intentional failure; LinearProbingMap is the complete resizing map for linear probing. Each uses bounded searches. The map tracks live and occupied-or-deleted counts, reuses tombstones, and offers compact() for a same-capacity rebuild.</a:t>
            </a:r>
          </a:p>
          <a:p>
            <a:pPr marL="0" indent="0">
              <a:buNone/>
              <a:defRPr sz="1150">
                <a:latin typeface="Arial"/>
                <a:ea typeface="Arial"/>
                <a:cs typeface="Arial"/>
              </a:defRPr>
              <a:lnSpc>
                <a:spcPct val="115000"/>
              </a:lnSpc>
            </a:pPr>
            <a:r>
              <a:rPr sz="1200">
                <a:latin typeface="Arial"/>
                <a:ea typeface="Arial"/>
                <a:cs typeface="Arial"/>
                <a:latin typeface="Arial"/>
              </a:rPr>
              <a:t>Local Java: LinearProbingMap.java, TombstoneMapDemo.java.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Have students record every probe, including the final slot. Use i starting at zero. Start a new empty table for each method. Do not carry a previous method’s layout into the next exercise. The next three answer slides can be held back during classroom discussion or used for independent study.</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21.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ProbingPractice.java.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Each exercise starts from an empty table. The final key 26 starts at slot 4, passes 4, 5, and 6, then uses slot 7.</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22.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ProbingPractice.java.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Each exercise starts from an empty table. The final key 26 probes 4, 5, 8. This differs from the linear-probing result.</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23.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ProbingPractice.java.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Each exercise starts from an empty table. Key 26 has step 2. It probes 4, 6, 8. Capacity 11 is prime, and every step from 1 through 7 is coprime to 11.</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24.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ProbingPractice.java.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latter effect is secondary clustering. The simple square-offset scheme does not guarantee that every slot will be reached. For an odd prime capacity, the first (m + 1) / 2 offsets are distinct. Keeping the table less than half full provides a useful insertion guarantee for this variant. Other quadratic formulas have different coverage rules.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25.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ProbeTable.java, QuadraticProbingDemo.java.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These are the source’s five insertions, now visible together. For 79, the third probe uses (9 + 4) mod 10 = 3. Do not add successive squares to the previous slot. Capacity 10 illustrates the arithmetic but is not a general coverage guarantee.</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26.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QuadraticProbingDemo.java.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Square offsets modulo 7 are only 0, 1, 2, and 4. Starting from home slot 5 therefore reaches only 5, 6, 0, and 2. A repeated slot by itself need not mean the entire quadratic sequence has finished: the sequence can revisit a slot before later reaching a new one. Bound the loop, detect insertion failure, and rebuild with an appropriate capacity/load policy.</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27.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QuadraticProbingDemo prints all seven probes for 47, including repeated slots. Its fixed-capacity table reports index -1 for failed insertion and leaves stored entries unchanged.</a:t>
            </a:r>
          </a:p>
          <a:p>
            <a:pPr marL="0" indent="0">
              <a:buNone/>
              <a:defRPr sz="1150">
                <a:latin typeface="Arial"/>
                <a:ea typeface="Arial"/>
                <a:cs typeface="Arial"/>
              </a:defRPr>
              <a:lnSpc>
                <a:spcPct val="115000"/>
              </a:lnSpc>
            </a:pPr>
            <a:r>
              <a:rPr sz="1200">
                <a:latin typeface="Arial"/>
                <a:ea typeface="Arial"/>
                <a:cs typeface="Arial"/>
                <a:latin typeface="Arial"/>
              </a:rPr>
              <a:t>Local Java: QuadraticProbingDemo.java.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step remains fixed for a key throughout its probe sequence. With a nonzero step coprime to m, the first m probes visit every slot exactly once. Merely choosing two different hash functions, or having h1 differ from h2, does not ensure this property.</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28.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ProbeTable.java, DoubleHashingDemo.java.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This retains the original counterexample. For 43 the step is 5, and gcd(5, 10) = 5. Only slots 3 and 8 are reachable. A nonzero step alone is insufficient. Other steps in this example also lack full coverage, even though their insertions happen to succeed.</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29.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DoubleHashingDemo uses nonnegative keys for the legacy integer-division formula. It deliberately permits the bad configuration to reproduce the counterexample and bounds every search by capacity.</a:t>
            </a:r>
          </a:p>
          <a:p>
            <a:pPr marL="0" indent="0">
              <a:buNone/>
              <a:defRPr sz="1150">
                <a:latin typeface="Arial"/>
                <a:ea typeface="Arial"/>
                <a:cs typeface="Arial"/>
              </a:defRPr>
              <a:lnSpc>
                <a:spcPct val="115000"/>
              </a:lnSpc>
            </a:pPr>
            <a:r>
              <a:rPr sz="1200">
                <a:latin typeface="Arial"/>
                <a:ea typeface="Arial"/>
                <a:cs typeface="Arial"/>
                <a:latin typeface="Arial"/>
              </a:rPr>
              <a:t>Local Java: DoubleHashingDemo.java.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For the classroom practice p = 11 and q = 7. The rule works because every nonzero integer below prime p is coprime to p. For a power-of-two capacity, an odd step is coprime to that capacity. Full coverage ensures an empty slot is reachable, but high occupancy can still make lookup slow.</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30.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ProbeTable validates that both p and q are prime and q &lt; p for the full-coverage variant. The step uses floorMod so signed int keys also work. Other modes intentionally allow incomplete coverage for classroom examples.</a:t>
            </a:r>
          </a:p>
          <a:p>
            <a:pPr marL="0" indent="0">
              <a:buNone/>
              <a:defRPr sz="1150">
                <a:latin typeface="Arial"/>
                <a:ea typeface="Arial"/>
                <a:cs typeface="Arial"/>
              </a:defRPr>
              <a:lnSpc>
                <a:spcPct val="115000"/>
              </a:lnSpc>
            </a:pPr>
            <a:r>
              <a:rPr sz="1200">
                <a:latin typeface="Arial"/>
                <a:ea typeface="Arial"/>
                <a:cs typeface="Arial"/>
                <a:latin typeface="Arial"/>
              </a:rPr>
              <a:t>Local Java: DoubleHashingDemo.java.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array stores references to chains rather than one entry per slot. A collision selects the same bucket without displacing other buckets. This makes deletion straightforward, but long chains still require scans. With uniform hashing, expected lookup work is O(1 + alpha). Worst-case lookup can remain O(n) in a basic list-based design.</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31.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MyHashMap.java, ChainingDemo.java.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source inserts at each chain’s head. A new map entry must first check for an equal key to avoid duplicates. Unchecked head insertion is O(1), but map.put generally includes a bucket search. Removing 12 changes bucket 2 to [42, 22]. Removing the head must update the bucket reference.</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32.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ChainingDemo inserts 10, 22, 86, 12, 42 and prints the head-first chains, then removes 12. Its configurable load threshold is 3.0, so the later 21-entry example retains ten buckets.</a:t>
            </a:r>
          </a:p>
          <a:p>
            <a:pPr marL="0" indent="0">
              <a:buNone/>
              <a:defRPr sz="1150">
                <a:latin typeface="Arial"/>
                <a:ea typeface="Arial"/>
                <a:cs typeface="Arial"/>
              </a:defRPr>
              <a:lnSpc>
                <a:spcPct val="115000"/>
              </a:lnSpc>
            </a:pPr>
            <a:r>
              <a:rPr sz="1200">
                <a:latin typeface="Arial"/>
                <a:ea typeface="Arial"/>
                <a:cs typeface="Arial"/>
                <a:latin typeface="Arial"/>
              </a:rPr>
              <a:t>Local Java: ChainingDemo.java.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In chaining, alpha is the average bucket length, including empty buckets. It can exceed 1. In open addressing, deleted markers also affect performance even though they are excluded from live-entry n. A useful implementation tracks both live occupancy and occupied-or-deleted slots.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33.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ChainingDemo.java, HashAnalysisExamples.java.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source figure has 21 keys but incorrectly places key 2 in bucket 1. This corrected table places it in bucket 2 because 2 mod 10 = 2. All other keys retain their source buckets. The order within a chain is arbitrary here. Counting the entries gives 1 + 2 + 4 + 2 + 0 + 4 + 1 + 2 + 4 + 1 = 21. A load factor above one is valid for chaining.</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34.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ChainingDemo.java.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For example, 519 mod 10 = 9, but 519 mod 23 = 13. Copying the old array positions would break lookup. A rebuild processes live entries and scans the old capacity. Geometric growth keeps resize work amortized over many insertions under suitable hashing assumptions. A same-capacity rebuild can remove tombstones.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35.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MyHashMap.rehash(23) explicitly reproduces 519 moving from bucket 9 to 13. Its normal automatic growth also reinserts entries. LinearProbingMap rebuilds without tombstones and grows before exceeding half live occupancy. Rebuild cost includes the old capacity scan.</a:t>
            </a:r>
          </a:p>
          <a:p>
            <a:pPr marL="0" indent="0">
              <a:buNone/>
              <a:defRPr sz="1150">
                <a:latin typeface="Arial"/>
                <a:ea typeface="Arial"/>
                <a:cs typeface="Arial"/>
              </a:defRPr>
              <a:lnSpc>
                <a:spcPct val="115000"/>
              </a:lnSpc>
            </a:pPr>
            <a:r>
              <a:rPr sz="1200">
                <a:latin typeface="Arial"/>
                <a:ea typeface="Arial"/>
                <a:cs typeface="Arial"/>
                <a:latin typeface="Arial"/>
              </a:rPr>
              <a:t>Local Java: RehashingDemo.java, TombstoneMapDemo.java.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These approximate averages assume random, uniform home addresses in a large linear-probing table and exclude tombstone effects. They are not worst-case guarantees. Unsuccessful searches become expensive near full occupancy because they must find a stopping point. The formulas illustrate why load control matters. Reference: https://algs4.cs.princeton.edu/34hash/</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36.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HashAnalysisExamples.java.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Under ideal uniform probing and alpha &lt; 1, unsuccessful search is at most about 1 / (1 - alpha) probes, and successful search about ln(1 / (1 - alpha)) / alpha. These are idealized bounds, not universal formulas for quadratic probing. Chaining has expected O(1 + alpha) lookup. In a basic design, adversarial collisions can produce linear work.</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37.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ProbeTable.java, MyHashMap.java.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If the 100 prefixes are equally likely, 60% of keys go to the first half of buckets and 40% to the second half. Unique full keys do not imply uniform prefixes or exact counts of 60 and 40 keys. If leading zero prefixes are impossible, the distribution changes again. A good function must suit the actual key distribution.</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38.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HashAnalysisExamples.java.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This slide preserves the older mixing code as a historical example, not a promise made by the Map interface. Masking capacity - 1 uses only low bits when capacity is a power of two. Mixing can reduce some patterned collisions, but it cannot separate keys that already have identical hash codes.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39.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HashMixingExamples.java.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excerpt brings high bits into the low bits used for bucket selection. This does not eliminate collisions. OpenJDK HashMap uses bucket nodes and can convert heavily populated buckets to tree bins under specific conditions. It does not use the open-addressed teaching algorithms. Source: https://github.com/openjdk/jdk21u/blob/master/src/java.base/share/classes/java/util/HashMap.java</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40.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HashMixingExamples.java.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The API describes constant-time basic operations when keys disperse appropriately. Iteration cost also depends on table capacity, so excessive spare capacity has a cost. The load-factor setting controls growth, rather than promising a fixed current occupancy. Source: https://docs.oracle.com/en/java/javase/21/docs/api/java.base/java/util/HashMap.html</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41.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JavaHashMapDemo.java.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This is pseudocode, not a complete Java class. Assume non-null keys and a distinct MISSING result. Initialize an empty bucket when needed. get and remove search the same bucket with the same equality rule. Maintain invariants: size counts distinct live keys, every entry is in its current hash bucket, and rehash preserves mappings.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42.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The complete MyHashMap uses non-null keys and values, with null as MISSING. put returns the old value on replacement without changing size. It checks equality before head insertion, resizes when the configured load threshold is exceeded, and supports an explicit rehash for demonstrations. It is a basic linked-bucket teaching implementation, not OpenJDK HashMap.</a:t>
            </a:r>
          </a:p>
          <a:p>
            <a:pPr marL="0" indent="0">
              <a:buNone/>
              <a:defRPr sz="1150">
                <a:latin typeface="Arial"/>
                <a:ea typeface="Arial"/>
                <a:cs typeface="Arial"/>
              </a:defRPr>
              <a:lnSpc>
                <a:spcPct val="115000"/>
              </a:lnSpc>
            </a:pPr>
            <a:r>
              <a:rPr sz="1200">
                <a:latin typeface="Arial"/>
                <a:ea typeface="Arial"/>
                <a:cs typeface="Arial"/>
                <a:latin typeface="Arial"/>
              </a:rPr>
              <a:t>Local Java: MyHashMap.java, RehashingDemo.java.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This simple pseudocode may perform two lookups per update. A custom map can return explicit insertion/removal status to avoid the extra lookup. The marker is not user data. Set size equals map size. Use the same equality and hash-code rules for both abstractions.</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43.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MyHashSet follows the displayed two-lookup outline with one shared PRESENT object. It inherits the non-null-key rule from MyHashMap. MyHashSetDemo checks duplicate add, content equality, successful removal, and repeated removal.</a:t>
            </a:r>
          </a:p>
          <a:p>
            <a:pPr marL="0" indent="0">
              <a:buNone/>
              <a:defRPr sz="1150">
                <a:latin typeface="Arial"/>
                <a:ea typeface="Arial"/>
                <a:cs typeface="Arial"/>
              </a:defRPr>
              <a:lnSpc>
                <a:spcPct val="115000"/>
              </a:lnSpc>
            </a:pPr>
            <a:r>
              <a:rPr sz="1200">
                <a:latin typeface="Arial"/>
                <a:ea typeface="Arial"/>
                <a:cs typeface="Arial"/>
                <a:latin typeface="Arial"/>
              </a:rPr>
              <a:t>Local Java: MyHashSet.java, MyHashSetDemo.java.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Answers: a finite code or index range maps many possible keys together. A displaced entry can lie beyond a deleted slot. Step 5 is not coprime to 10, so its sequence covers only two slots. Changing capacity changes compression and usually changes collision paths. Also ask which representation allows alpha greater than one: separate chaining.</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44. Adapted from the supplied COMP 182 lecture.</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a:xfrm>
            <a:off x="594360" y="594360"/>
            <a:ext cx="6583680" cy="3703320"/>
          </a:xfrm>
        </p:spPr>
      </p:sp>
      <p:sp>
        <p:nvSpPr>
          <p:cNvPr id="3" name="Notes Placeholder 2"/>
          <p:cNvSpPr>
            <a:spLocks noGrp="1"/>
          </p:cNvSpPr>
          <p:nvPr>
            <p:ph type="body" idx="1"/>
          </p:nvPr>
        </p:nvSpPr>
        <p:spPr>
          <a:xfrm>
            <a:off x="594360" y="4617720"/>
            <a:ext cx="6583680" cy="4480560"/>
          </a:xfrm>
        </p:spPr>
        <p:txBody>
          <a:bodyPr lIns="0" tIns="0" rIns="0" bIns="0" wrap="square" anchor="t"/>
          <a:lstStyle/>
          <a:p>
            <a:pPr marL="0" indent="0">
              <a:buNone/>
              <a:defRPr sz="1150">
                <a:latin typeface="Arial"/>
                <a:ea typeface="Arial"/>
                <a:cs typeface="Arial"/>
              </a:defRPr>
              <a:lnSpc>
                <a:spcPct val="115000"/>
              </a:lnSpc>
            </a:pPr>
            <a:r>
              <a:rPr sz="1200">
                <a:latin typeface="Arial"/>
                <a:ea typeface="Arial"/>
                <a:cs typeface="Arial"/>
                <a:latin typeface="Arial"/>
              </a:rPr>
              <a:t>Optional source animations: https://liveexample.pearsoncmg.com/dsanimation/DoubleHashingeBook.html and https://liveexample.pearsoncmg.com/dsanimation/SeparateChainingeBook.html. Core reading: https://algs4.cs.princeton.edu/34hash/ and the Java API pages cited in the relevant notes. </a:t>
            </a:r>
          </a:p>
          <a:p>
            <a:pPr marL="0" indent="0">
              <a:buNone/>
              <a:defRPr sz="1150">
                <a:latin typeface="Arial"/>
                <a:ea typeface="Arial"/>
                <a:cs typeface="Arial"/>
              </a:defRPr>
              <a:lnSpc>
                <a:spcPct val="115000"/>
              </a:lnSpc>
            </a:pPr>
            <a:r>
              <a:rPr sz="1200">
                <a:latin typeface="Arial"/>
                <a:ea typeface="Arial"/>
                <a:cs typeface="Arial"/>
                <a:latin typeface="Arial"/>
              </a:rPr>
              <a:t/>
            </a:r>
          </a:p>
          <a:p>
            <a:pPr marL="0" indent="0">
              <a:buNone/>
              <a:defRPr sz="1150">
                <a:latin typeface="Arial"/>
                <a:ea typeface="Arial"/>
                <a:cs typeface="Arial"/>
              </a:defRPr>
              <a:lnSpc>
                <a:spcPct val="115000"/>
              </a:lnSpc>
            </a:pPr>
            <a:r>
              <a:rPr sz="1200">
                <a:latin typeface="Arial"/>
                <a:ea typeface="Arial"/>
                <a:cs typeface="Arial"/>
                <a:latin typeface="Arial"/>
              </a:rPr>
              <a:t>Lecture 12 Hashing, slide 45. Adapted from the supplied COMP 182 lecture.</a:t>
            </a:r>
          </a:p>
          <a:p>
            <a:pPr marL="0" indent="0">
              <a:buNone/>
              <a:defRPr sz="1150">
                <a:latin typeface="Arial"/>
                <a:ea typeface="Arial"/>
                <a:cs typeface="Arial"/>
              </a:defRPr>
              <a:lnSpc>
                <a:spcPct val="115000"/>
              </a:lnSpc>
            </a:pPr>
            <a:r>
              <a:rPr sz="1200">
                <a:latin typeface="Arial"/>
                <a:ea typeface="Arial"/>
                <a:cs typeface="Arial"/>
                <a:latin typeface="Arial"/>
              </a:rPr>
              <a:t>Local Java: ProbingPractice.java, TombstoneMapDemo.java, ChainingDemo.java.</a:t>
            </a:r>
          </a:p>
        </p:txBody>
      </p:sp>
      <p:sp>
        <p:nvSpPr>
          <p:cNvPr id="4" name="Slide Number Placeholder 3"/>
          <p:cNvSpPr>
            <a:spLocks noGrp="1"/>
          </p:cNvSpPr>
          <p:nvPr>
            <p:ph type="sldNum" idx="5"/>
          </p:nvPr>
        </p:nvSpPr>
        <p:spPr>
          <a:xfrm>
            <a:off x="6675120" y="9418320"/>
            <a:ext cx="502920" cy="274320"/>
          </a:xfrm>
        </p:spPr>
        <p:txBody>
          <a:bodyPr lIns="0" tIns="0" rIns="0" bIns="0" wrap="square" anchor="t"/>
          <a:lstStyle/>
          <a:p>
            <a:pPr>
              <a:lnSpc>
                <a:spcPct val="115000"/>
              </a:lnSpc>
            </a:pPr>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26e6dd872b4b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e56ebe15a649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2f7897a19646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432d76eaa140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7f2a111ab041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54cf2f3ccb54b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A41BCB-ED17-441B-B338-1C9114B17D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EF6B75-4692-4239-9BB7-6B1B145B27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2B4C13-4E8A-44A5-B1A8-5EEF2D6E2F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D7BB97-ED4D-4AE9-A9A9-DD8BC19E24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070CADA-B482-4926-B041-AD657BBB1D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4DD3CC-8C6F-4453-BFA4-2928049A62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78D783-B2C9-4A2E-B323-CB9974923A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92D1D3-B0CE-47B8-B6A2-56B46ABA60C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DBED0F-1DDD-4E46-BD13-E9AB5AD8BF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541D6E-E3F9-4F3F-BE0D-1921099532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ed424c42b04941" /><Relationship Type="http://schemas.openxmlformats.org/officeDocument/2006/relationships/slideLayout" Target="/ppt/slideLayouts/slideLayout1.xml" Id="Rdd8f4eb6128349e4" /><Relationship Type="http://schemas.openxmlformats.org/officeDocument/2006/relationships/slideLayout" Target="/ppt/slideLayouts/slideLayout2.xml" Id="R771362a04c4f4608" /><Relationship Type="http://schemas.openxmlformats.org/officeDocument/2006/relationships/slideLayout" Target="/ppt/slideLayouts/slideLayout3.xml" Id="R7092b1c20a494900" /><Relationship Type="http://schemas.openxmlformats.org/officeDocument/2006/relationships/slideLayout" Target="/ppt/slideLayouts/slideLayout4.xml" Id="Rf456823e025a42fc" /><Relationship Type="http://schemas.openxmlformats.org/officeDocument/2006/relationships/slideLayout" Target="/ppt/slideLayouts/slideLayout5.xml" Id="R14e51a7b231845d3" /><Relationship Type="http://schemas.openxmlformats.org/officeDocument/2006/relationships/slideLayout" Target="/ppt/slideLayouts/slideLayout6.xml" Id="Ra94ffb4b95d54e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8f4eb6128349e4"/>
    <p:sldLayoutId xmlns:r="http://schemas.openxmlformats.org/officeDocument/2006/relationships" id="2147483650" r:id="R771362a04c4f4608"/>
    <p:sldLayoutId xmlns:r="http://schemas.openxmlformats.org/officeDocument/2006/relationships" id="2147483651" r:id="R7092b1c20a494900"/>
    <p:sldLayoutId xmlns:r="http://schemas.openxmlformats.org/officeDocument/2006/relationships" id="2147483652" r:id="Rf456823e025a42fc"/>
    <p:sldLayoutId xmlns:r="http://schemas.openxmlformats.org/officeDocument/2006/relationships" id="2147483653" r:id="R14e51a7b231845d3"/>
    <p:sldLayoutId xmlns:r="http://schemas.openxmlformats.org/officeDocument/2006/relationships" id="2147483654" r:id="Ra94ffb4b95d54e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4ace362a874bfc" /><Relationship Type="http://schemas.openxmlformats.org/officeDocument/2006/relationships/notesSlide" Target="/ppt/notesSlides/notesSlide1.xml" Id="Re1d0c9ea9e924d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40612039d34927" /><Relationship Type="http://schemas.openxmlformats.org/officeDocument/2006/relationships/notesSlide" Target="/ppt/notesSlides/notesSlide2.xml" Id="Rcab1ddbeebd448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827b5594d548d5" /><Relationship Type="http://schemas.openxmlformats.org/officeDocument/2006/relationships/notesSlide" Target="/ppt/notesSlides/notesSlide3.xml" Id="R5e6659afb7f643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9e691712e44582" /><Relationship Type="http://schemas.openxmlformats.org/officeDocument/2006/relationships/notesSlide" Target="/ppt/notesSlides/notesSlide4.xml" Id="Ra34a3b29de8b47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de57e4fc974e89" /><Relationship Type="http://schemas.openxmlformats.org/officeDocument/2006/relationships/hyperlink" Target="Lecture12_Hashing_Java_Examples/JavaHashMapDemo.java" TargetMode="External" Id="R0171dde774c04aba" /><Relationship Type="http://schemas.openxmlformats.org/officeDocument/2006/relationships/notesSlide" Target="/ppt/notesSlides/notesSlide5.xml" Id="R5d9feecf3afc4f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327a17a577d4765" /><Relationship Type="http://schemas.openxmlformats.org/officeDocument/2006/relationships/hyperlink" Target="Lecture12_Hashing_Java_Examples/JavaHashMapDemo.java" TargetMode="External" Id="R162caa3b2b4844e7" /><Relationship Type="http://schemas.openxmlformats.org/officeDocument/2006/relationships/notesSlide" Target="/ppt/notesSlides/notesSlide6.xml" Id="R4ab8d009c27948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28e8ad277e482a" /><Relationship Type="http://schemas.openxmlformats.org/officeDocument/2006/relationships/hyperlink" Target="Lecture12_Hashing_Java_Examples/HashCodeExamples.java" TargetMode="External" Id="Rd68629f5b7a94cab" /><Relationship Type="http://schemas.openxmlformats.org/officeDocument/2006/relationships/notesSlide" Target="/ppt/notesSlides/notesSlide7.xml" Id="Rb68350ffe6a547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16df31559b5414b" /><Relationship Type="http://schemas.openxmlformats.org/officeDocument/2006/relationships/hyperlink" Target="Lecture12_Hashing_Java_Examples/HashCodeExamples.java" TargetMode="External" Id="Rf6446e39464540f3" /><Relationship Type="http://schemas.openxmlformats.org/officeDocument/2006/relationships/notesSlide" Target="/ppt/notesSlides/notesSlide8.xml" Id="R90c7b252314f49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ac845e868d48f6" /><Relationship Type="http://schemas.openxmlformats.org/officeDocument/2006/relationships/hyperlink" Target="Lecture12_Hashing_Java_Examples/PersonKey.java" TargetMode="External" Id="R4b105b1537194e11" /><Relationship Type="http://schemas.openxmlformats.org/officeDocument/2006/relationships/hyperlink" Target="Lecture12_Hashing_Java_Examples/PersonKeyDemo.java" TargetMode="External" Id="R6144937d8b064a86" /><Relationship Type="http://schemas.openxmlformats.org/officeDocument/2006/relationships/notesSlide" Target="/ppt/notesSlides/notesSlide9.xml" Id="Ra114c20b73f644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d7afb9cad742c4" /><Relationship Type="http://schemas.openxmlformats.org/officeDocument/2006/relationships/hyperlink" Target="Lecture12_Hashing_Java_Examples/HashCodeExamples.java" TargetMode="External" Id="Rc654ceb5fd6e43ce" /><Relationship Type="http://schemas.openxmlformats.org/officeDocument/2006/relationships/notesSlide" Target="/ppt/notesSlides/notesSlide10.xml" Id="R913b9dda89f24c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f1ef9acf504a7c" /><Relationship Type="http://schemas.openxmlformats.org/officeDocument/2006/relationships/hyperlink" Target="Lecture12_Hashing_Java_Examples/HashCodeExamples.java" TargetMode="External" Id="R426fe9eefdc94d13" /><Relationship Type="http://schemas.openxmlformats.org/officeDocument/2006/relationships/notesSlide" Target="/ppt/notesSlides/notesSlide11.xml" Id="R1f0f5905556343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afa40dee9044303" /><Relationship Type="http://schemas.openxmlformats.org/officeDocument/2006/relationships/hyperlink" Target="Lecture12_Hashing_Java_Examples/HashCodeExamples.java" TargetMode="External" Id="Rb014994c57094274" /><Relationship Type="http://schemas.openxmlformats.org/officeDocument/2006/relationships/notesSlide" Target="/ppt/notesSlides/notesSlide12.xml" Id="Ra2889db2f0da4c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f3d2e667c7434d" /><Relationship Type="http://schemas.openxmlformats.org/officeDocument/2006/relationships/hyperlink" Target="Lecture12_Hashing_Java_Examples/PersonKey.java" TargetMode="External" Id="R9bf120dabdcb42a3" /><Relationship Type="http://schemas.openxmlformats.org/officeDocument/2006/relationships/hyperlink" Target="Lecture12_Hashing_Java_Examples/PersonKeyDemo.java" TargetMode="External" Id="R7e555a82da7241a7" /><Relationship Type="http://schemas.openxmlformats.org/officeDocument/2006/relationships/notesSlide" Target="/ppt/notesSlides/notesSlide13.xml" Id="Rcc041430e51b4d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3502d288c94abd" /><Relationship Type="http://schemas.openxmlformats.org/officeDocument/2006/relationships/hyperlink" Target="Lecture12_Hashing_Java_Examples/HashCodeExamples.java" TargetMode="External" Id="R6553150190d04edd" /><Relationship Type="http://schemas.openxmlformats.org/officeDocument/2006/relationships/notesSlide" Target="/ppt/notesSlides/notesSlide14.xml" Id="Rf65a66f420974c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902930597449b2" /><Relationship Type="http://schemas.openxmlformats.org/officeDocument/2006/relationships/hyperlink" Target="Lecture12_Hashing_Java_Examples/ProbeTable.java" TargetMode="External" Id="R118ad285cf0f4bd3" /><Relationship Type="http://schemas.openxmlformats.org/officeDocument/2006/relationships/hyperlink" Target="Lecture12_Hashing_Java_Examples/MyHashMap.java" TargetMode="External" Id="Rdba01e69e4f64b1c" /><Relationship Type="http://schemas.openxmlformats.org/officeDocument/2006/relationships/notesSlide" Target="/ppt/notesSlides/notesSlide15.xml" Id="R2dc7f919e4f549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04aac6cd9e84d2b" /><Relationship Type="http://schemas.openxmlformats.org/officeDocument/2006/relationships/hyperlink" Target="Lecture12_Hashing_Java_Examples/ProbeTable.java" TargetMode="External" Id="R2e22a0bce10c43ec" /><Relationship Type="http://schemas.openxmlformats.org/officeDocument/2006/relationships/notesSlide" Target="/ppt/notesSlides/notesSlide16.xml" Id="R4912cafdc9a64ab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506bb835b3a46f7" /><Relationship Type="http://schemas.openxmlformats.org/officeDocument/2006/relationships/hyperlink" Target="Lecture12_Hashing_Java_Examples/LinearProbingDemo.java" TargetMode="External" Id="R364d00c15c504652" /><Relationship Type="http://schemas.openxmlformats.org/officeDocument/2006/relationships/notesSlide" Target="/ppt/notesSlides/notesSlide17.xml" Id="Rf3f9f29783dd449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c43ca2fef7f466e" /><Relationship Type="http://schemas.openxmlformats.org/officeDocument/2006/relationships/hyperlink" Target="Lecture12_Hashing_Java_Examples/LinearProbingDemo.java" TargetMode="External" Id="R3a7cdd664be34f01" /><Relationship Type="http://schemas.openxmlformats.org/officeDocument/2006/relationships/notesSlide" Target="/ppt/notesSlides/notesSlide18.xml" Id="R5314ee2a555e48f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19550d9515e4d75" /><Relationship Type="http://schemas.openxmlformats.org/officeDocument/2006/relationships/hyperlink" Target="Lecture12_Hashing_Java_Examples/LinearProbingMap.java" TargetMode="External" Id="Rbd997990d14a40e2" /><Relationship Type="http://schemas.openxmlformats.org/officeDocument/2006/relationships/hyperlink" Target="Lecture12_Hashing_Java_Examples/TombstoneMapDemo.java" TargetMode="External" Id="R4c8fcc0c800e473c" /><Relationship Type="http://schemas.openxmlformats.org/officeDocument/2006/relationships/notesSlide" Target="/ppt/notesSlides/notesSlide19.xml" Id="Ree51425fbd6c419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dcf0d1a4efe433d" /><Relationship Type="http://schemas.openxmlformats.org/officeDocument/2006/relationships/hyperlink" Target="Lecture12_Hashing_Java_Examples/LinearProbingMap.java" TargetMode="External" Id="Rc86c3132451f4deb" /><Relationship Type="http://schemas.openxmlformats.org/officeDocument/2006/relationships/hyperlink" Target="Lecture12_Hashing_Java_Examples/TombstoneMapDemo.java" TargetMode="External" Id="R6dfc0157d01444bb" /><Relationship Type="http://schemas.openxmlformats.org/officeDocument/2006/relationships/notesSlide" Target="/ppt/notesSlides/notesSlide20.xml" Id="R41057e9e1ea1441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4562778a8b84099" /><Relationship Type="http://schemas.openxmlformats.org/officeDocument/2006/relationships/hyperlink" Target="Lecture12_Hashing_Java_Examples/ProbingPractice.java" TargetMode="External" Id="R2c53bd539231491e" /><Relationship Type="http://schemas.openxmlformats.org/officeDocument/2006/relationships/notesSlide" Target="/ppt/notesSlides/notesSlide21.xml" Id="Rb5e3c718abb3477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d809a8cbc4d43bb" /><Relationship Type="http://schemas.openxmlformats.org/officeDocument/2006/relationships/hyperlink" Target="Lecture12_Hashing_Java_Examples/ProbingPractice.java" TargetMode="External" Id="R2d0d37ea66df4b3c" /><Relationship Type="http://schemas.openxmlformats.org/officeDocument/2006/relationships/notesSlide" Target="/ppt/notesSlides/notesSlide22.xml" Id="R1469bcced76e49a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4e2e748ee864e19" /><Relationship Type="http://schemas.openxmlformats.org/officeDocument/2006/relationships/hyperlink" Target="Lecture12_Hashing_Java_Examples/ProbingPractice.java" TargetMode="External" Id="R08542530f30844e7" /><Relationship Type="http://schemas.openxmlformats.org/officeDocument/2006/relationships/notesSlide" Target="/ppt/notesSlides/notesSlide23.xml" Id="R34fbbb8427994ce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757a8e8a28145c9" /><Relationship Type="http://schemas.openxmlformats.org/officeDocument/2006/relationships/hyperlink" Target="Lecture12_Hashing_Java_Examples/ProbingPractice.java" TargetMode="External" Id="Rf05114b2e4a640b5" /><Relationship Type="http://schemas.openxmlformats.org/officeDocument/2006/relationships/notesSlide" Target="/ppt/notesSlides/notesSlide24.xml" Id="R71c23fbd805749d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403d9e9518a40b8" /><Relationship Type="http://schemas.openxmlformats.org/officeDocument/2006/relationships/hyperlink" Target="Lecture12_Hashing_Java_Examples/ProbeTable.java" TargetMode="External" Id="R1da76fa78bfa4fb0" /><Relationship Type="http://schemas.openxmlformats.org/officeDocument/2006/relationships/hyperlink" Target="Lecture12_Hashing_Java_Examples/QuadraticProbingDemo.java" TargetMode="External" Id="Ra0ee91563fd3424f" /><Relationship Type="http://schemas.openxmlformats.org/officeDocument/2006/relationships/notesSlide" Target="/ppt/notesSlides/notesSlide25.xml" Id="R824cf80134694b9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22c2b8a92a7413a" /><Relationship Type="http://schemas.openxmlformats.org/officeDocument/2006/relationships/hyperlink" Target="Lecture12_Hashing_Java_Examples/QuadraticProbingDemo.java" TargetMode="External" Id="R594867e3ba2749bd" /><Relationship Type="http://schemas.openxmlformats.org/officeDocument/2006/relationships/notesSlide" Target="/ppt/notesSlides/notesSlide26.xml" Id="R05d13263e62d4eb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9ea94c727754a19" /><Relationship Type="http://schemas.openxmlformats.org/officeDocument/2006/relationships/hyperlink" Target="Lecture12_Hashing_Java_Examples/QuadraticProbingDemo.java" TargetMode="External" Id="R2f24bc8de5ef426c" /><Relationship Type="http://schemas.openxmlformats.org/officeDocument/2006/relationships/notesSlide" Target="/ppt/notesSlides/notesSlide27.xml" Id="R605e5023eef44d7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5b8d231a5ce47c7" /><Relationship Type="http://schemas.openxmlformats.org/officeDocument/2006/relationships/hyperlink" Target="Lecture12_Hashing_Java_Examples/ProbeTable.java" TargetMode="External" Id="Redb183eaf5fc4464" /><Relationship Type="http://schemas.openxmlformats.org/officeDocument/2006/relationships/hyperlink" Target="Lecture12_Hashing_Java_Examples/DoubleHashingDemo.java" TargetMode="External" Id="R70199483f23e403c" /><Relationship Type="http://schemas.openxmlformats.org/officeDocument/2006/relationships/notesSlide" Target="/ppt/notesSlides/notesSlide28.xml" Id="Re478df5f489a490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68c48e429d42fe" /><Relationship Type="http://schemas.openxmlformats.org/officeDocument/2006/relationships/hyperlink" Target="Lecture12_Hashing_Java_Examples/DoubleHashingDemo.java" TargetMode="External" Id="R3ba445f4cdf546eb" /><Relationship Type="http://schemas.openxmlformats.org/officeDocument/2006/relationships/notesSlide" Target="/ppt/notesSlides/notesSlide29.xml" Id="R451565b08e26476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a09e3418d2f458b" /><Relationship Type="http://schemas.openxmlformats.org/officeDocument/2006/relationships/hyperlink" Target="Lecture12_Hashing_Java_Examples/DoubleHashingDemo.java" TargetMode="External" Id="Rd87c5b07b6ac4585" /><Relationship Type="http://schemas.openxmlformats.org/officeDocument/2006/relationships/notesSlide" Target="/ppt/notesSlides/notesSlide30.xml" Id="R5a542aa92ef54d6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ec4814ea93a4861" /><Relationship Type="http://schemas.openxmlformats.org/officeDocument/2006/relationships/hyperlink" Target="Lecture12_Hashing_Java_Examples/MyHashMap.java" TargetMode="External" Id="Re18aadd0dc7945d3" /><Relationship Type="http://schemas.openxmlformats.org/officeDocument/2006/relationships/hyperlink" Target="Lecture12_Hashing_Java_Examples/ChainingDemo.java" TargetMode="External" Id="R445e6c7e73154e8a" /><Relationship Type="http://schemas.openxmlformats.org/officeDocument/2006/relationships/notesSlide" Target="/ppt/notesSlides/notesSlide31.xml" Id="R82a67b1753be4ca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d053af3a17a4897" /><Relationship Type="http://schemas.openxmlformats.org/officeDocument/2006/relationships/hyperlink" Target="Lecture12_Hashing_Java_Examples/ChainingDemo.java" TargetMode="External" Id="R2308ffe047634ffa" /><Relationship Type="http://schemas.openxmlformats.org/officeDocument/2006/relationships/notesSlide" Target="/ppt/notesSlides/notesSlide32.xml" Id="Rd7372fe1f9354a8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d9c50054a30455b" /><Relationship Type="http://schemas.openxmlformats.org/officeDocument/2006/relationships/hyperlink" Target="Lecture12_Hashing_Java_Examples/ChainingDemo.java" TargetMode="External" Id="R7a8a8aeceb184d40" /><Relationship Type="http://schemas.openxmlformats.org/officeDocument/2006/relationships/hyperlink" Target="Lecture12_Hashing_Java_Examples/HashAnalysisExamples.java" TargetMode="External" Id="R13d6407bac53495e" /><Relationship Type="http://schemas.openxmlformats.org/officeDocument/2006/relationships/notesSlide" Target="/ppt/notesSlides/notesSlide33.xml" Id="R8d7ea8d56b61450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d950223c8bc409b" /><Relationship Type="http://schemas.openxmlformats.org/officeDocument/2006/relationships/hyperlink" Target="Lecture12_Hashing_Java_Examples/ChainingDemo.java" TargetMode="External" Id="R8255a402203743e3" /><Relationship Type="http://schemas.openxmlformats.org/officeDocument/2006/relationships/notesSlide" Target="/ppt/notesSlides/notesSlide34.xml" Id="Rd223b4642e0e498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f14c2d8e949494e" /><Relationship Type="http://schemas.openxmlformats.org/officeDocument/2006/relationships/hyperlink" Target="Lecture12_Hashing_Java_Examples/RehashingDemo.java" TargetMode="External" Id="Rfb2103613793414a" /><Relationship Type="http://schemas.openxmlformats.org/officeDocument/2006/relationships/hyperlink" Target="Lecture12_Hashing_Java_Examples/TombstoneMapDemo.java" TargetMode="External" Id="R1ac2980689924450" /><Relationship Type="http://schemas.openxmlformats.org/officeDocument/2006/relationships/notesSlide" Target="/ppt/notesSlides/notesSlide35.xml" Id="R45f06a5483864a0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3e7a4363a504123" /><Relationship Type="http://schemas.openxmlformats.org/officeDocument/2006/relationships/hyperlink" Target="Lecture12_Hashing_Java_Examples/HashAnalysisExamples.java" TargetMode="External" Id="R57eb1d0bf20b4e75" /><Relationship Type="http://schemas.openxmlformats.org/officeDocument/2006/relationships/notesSlide" Target="/ppt/notesSlides/notesSlide36.xml" Id="Ra2305893a85541a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1dfe4ef702f4f30" /><Relationship Type="http://schemas.openxmlformats.org/officeDocument/2006/relationships/hyperlink" Target="Lecture12_Hashing_Java_Examples/ProbeTable.java" TargetMode="External" Id="R793bbfd3e3ad4925" /><Relationship Type="http://schemas.openxmlformats.org/officeDocument/2006/relationships/hyperlink" Target="Lecture12_Hashing_Java_Examples/MyHashMap.java" TargetMode="External" Id="Re34177c8b67a478c" /><Relationship Type="http://schemas.openxmlformats.org/officeDocument/2006/relationships/notesSlide" Target="/ppt/notesSlides/notesSlide37.xml" Id="R152866829571464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54dc2b54f564882" /><Relationship Type="http://schemas.openxmlformats.org/officeDocument/2006/relationships/hyperlink" Target="Lecture12_Hashing_Java_Examples/HashAnalysisExamples.java" TargetMode="External" Id="Rcc7e93dee8bc458b" /><Relationship Type="http://schemas.openxmlformats.org/officeDocument/2006/relationships/notesSlide" Target="/ppt/notesSlides/notesSlide38.xml" Id="R5e7b714657054ba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944eaf565874a1e" /><Relationship Type="http://schemas.openxmlformats.org/officeDocument/2006/relationships/hyperlink" Target="Lecture12_Hashing_Java_Examples/HashMixingExamples.java" TargetMode="External" Id="Re1627d34b3c143bb" /><Relationship Type="http://schemas.openxmlformats.org/officeDocument/2006/relationships/notesSlide" Target="/ppt/notesSlides/notesSlide39.xml" Id="R93817e2626d34c8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be72c1c7cb34bbb" /><Relationship Type="http://schemas.openxmlformats.org/officeDocument/2006/relationships/hyperlink" Target="Lecture12_Hashing_Java_Examples/HashMixingExamples.java" TargetMode="External" Id="R540b21291d9a4fd4" /><Relationship Type="http://schemas.openxmlformats.org/officeDocument/2006/relationships/notesSlide" Target="/ppt/notesSlides/notesSlide40.xml" Id="R142860f0a98a423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54db001831e49e8" /><Relationship Type="http://schemas.openxmlformats.org/officeDocument/2006/relationships/hyperlink" Target="Lecture12_Hashing_Java_Examples/JavaHashMapDemo.java" TargetMode="External" Id="R01f7ac222b19425c" /><Relationship Type="http://schemas.openxmlformats.org/officeDocument/2006/relationships/notesSlide" Target="/ppt/notesSlides/notesSlide41.xml" Id="Re3518058bf634d3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554700ce6df4523" /><Relationship Type="http://schemas.openxmlformats.org/officeDocument/2006/relationships/hyperlink" Target="Lecture12_Hashing_Java_Examples/MyHashMap.java" TargetMode="External" Id="R1a94920cf29744f7" /><Relationship Type="http://schemas.openxmlformats.org/officeDocument/2006/relationships/hyperlink" Target="Lecture12_Hashing_Java_Examples/RehashingDemo.java" TargetMode="External" Id="Rc1145e084a234423" /><Relationship Type="http://schemas.openxmlformats.org/officeDocument/2006/relationships/notesSlide" Target="/ppt/notesSlides/notesSlide42.xml" Id="Rd860ee7e190c492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93f7f26dc084047" /><Relationship Type="http://schemas.openxmlformats.org/officeDocument/2006/relationships/hyperlink" Target="Lecture12_Hashing_Java_Examples/MyHashSet.java" TargetMode="External" Id="Re739b16e5f054372" /><Relationship Type="http://schemas.openxmlformats.org/officeDocument/2006/relationships/hyperlink" Target="Lecture12_Hashing_Java_Examples/MyHashSetDemo.java" TargetMode="External" Id="R7107a51ffdd74589" /><Relationship Type="http://schemas.openxmlformats.org/officeDocument/2006/relationships/notesSlide" Target="/ppt/notesSlides/notesSlide43.xml" Id="R9a00f48c8d3546b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f327e37396546d6" /><Relationship Type="http://schemas.openxmlformats.org/officeDocument/2006/relationships/notesSlide" Target="/ppt/notesSlides/notesSlide44.xml" Id="Ra536ce25e113477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412e8d0d98049b3" /><Relationship Type="http://schemas.openxmlformats.org/officeDocument/2006/relationships/hyperlink" Target="Lecture12_Hashing_Java_Examples/ProbingPractice.java" TargetMode="External" Id="R83747331b3194172" /><Relationship Type="http://schemas.openxmlformats.org/officeDocument/2006/relationships/hyperlink" Target="Lecture12_Hashing_Java_Examples/TombstoneMapDemo.java" TargetMode="External" Id="R0dcc8ce244ec497c" /><Relationship Type="http://schemas.openxmlformats.org/officeDocument/2006/relationships/hyperlink" Target="Lecture12_Hashing_Java_Examples/ChainingDemo.java" TargetMode="External" Id="R3a6904aed44b4e25" /><Relationship Type="http://schemas.openxmlformats.org/officeDocument/2006/relationships/notesSlide" Target="/ppt/notesSlides/notesSlide45.xml" Id="Radd9d06494fe4dc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7A0006-910D-4DAE-9787-2DF7D72ADFC3}"/>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Hashing</a:t>
            </a:r>
          </a:p>
        </p:txBody>
      </p:sp>
      <p:sp>
        <p:nvSpPr>
          <p:cNvPr id="2" name="">
            <a:extLst xmlns:a="http://schemas.openxmlformats.org/drawingml/2006/main">
              <a:ext uri="{FF2B5EF4-FFF2-40B4-BE49-F238E27FC236}">
                <a16:creationId xmlns:a16="http://schemas.microsoft.com/office/drawing/2014/main" id="{44199856-BEE4-47DF-8147-EA98FA5B59EB}"/>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997B83D2-6391-412F-B38D-569DB14F8E44}"/>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0CC9782D-BC97-45C1-84C1-7C2DA92EE977}"/>
              </a:ext>
            </a:extLst>
          </p:cNvPr>
          <p:cNvSpPr>
            <a:spLocks xmlns:a="http://schemas.openxmlformats.org/drawingml/2006/main" noGrp="1"/>
          </p:cNvSpPr>
          <p:nvPr/>
        </p:nvSpPr>
        <p:spPr>
          <a:xfrm xmlns:a="http://schemas.openxmlformats.org/drawingml/2006/main">
            <a:off x="571500" y="1857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03040"/>
                </a:solidFill>
                <a:latin typeface="Arial"/>
                <a:ea typeface="Arial"/>
                <a:cs typeface="Arial"/>
              </a:defRPr>
            </a:defPPr>
            <a:lvl1pPr>
              <a:buNone/>
              <a:defRPr sz="2250" b="0">
                <a:solidFill>
                  <a:srgbClr val="203040"/>
                </a:solidFill>
                <a:latin typeface="Arial"/>
                <a:ea typeface="Arial"/>
                <a:cs typeface="Arial"/>
              </a:defRPr>
            </a:lvl1pPr>
            <a:lvl2pPr>
              <a:buNone/>
              <a:defRPr sz="2250" b="0">
                <a:solidFill>
                  <a:srgbClr val="203040"/>
                </a:solidFill>
                <a:latin typeface="Arial"/>
                <a:ea typeface="Arial"/>
                <a:cs typeface="Arial"/>
              </a:defRPr>
            </a:lvl2pPr>
            <a:lvl3pPr>
              <a:buNone/>
              <a:defRPr sz="2250" b="0">
                <a:solidFill>
                  <a:srgbClr val="203040"/>
                </a:solidFill>
                <a:latin typeface="Arial"/>
                <a:ea typeface="Arial"/>
                <a:cs typeface="Arial"/>
              </a:defRPr>
            </a:lvl3pPr>
            <a:lvl4pPr>
              <a:buNone/>
              <a:defRPr sz="2250" b="0">
                <a:solidFill>
                  <a:srgbClr val="203040"/>
                </a:solidFill>
                <a:latin typeface="Arial"/>
                <a:ea typeface="Arial"/>
                <a:cs typeface="Arial"/>
              </a:defRPr>
            </a:lvl4pPr>
            <a:lvl5pPr>
              <a:buNone/>
              <a:defRPr sz="2250" b="0">
                <a:solidFill>
                  <a:srgbClr val="203040"/>
                </a:solidFill>
                <a:latin typeface="Arial"/>
                <a:ea typeface="Arial"/>
                <a:cs typeface="Arial"/>
              </a:defRPr>
            </a:lvl5pPr>
            <a:lvl6pPr>
              <a:buNone/>
              <a:defRPr sz="2250" b="0">
                <a:solidFill>
                  <a:srgbClr val="203040"/>
                </a:solidFill>
                <a:latin typeface="Arial"/>
                <a:ea typeface="Arial"/>
                <a:cs typeface="Arial"/>
              </a:defRPr>
            </a:lvl6pPr>
            <a:lvl7pPr>
              <a:buNone/>
              <a:defRPr sz="2250" b="0">
                <a:solidFill>
                  <a:srgbClr val="203040"/>
                </a:solidFill>
                <a:latin typeface="Arial"/>
                <a:ea typeface="Arial"/>
                <a:cs typeface="Arial"/>
              </a:defRPr>
            </a:lvl7pPr>
            <a:lvl8pPr>
              <a:buNone/>
              <a:defRPr sz="2250" b="0">
                <a:solidFill>
                  <a:srgbClr val="203040"/>
                </a:solidFill>
                <a:latin typeface="Arial"/>
                <a:ea typeface="Arial"/>
                <a:cs typeface="Arial"/>
              </a:defRPr>
            </a:lvl8pPr>
            <a:lvl9pPr>
              <a:buNone/>
              <a:defRPr sz="2250" b="0">
                <a:solidFill>
                  <a:srgbClr val="203040"/>
                </a:solidFill>
                <a:latin typeface="Arial"/>
                <a:ea typeface="Arial"/>
                <a:cs typeface="Arial"/>
              </a:defRPr>
            </a:lvl9pPr>
          </a:lstStyle>
          <a:p xmlns:a="http://schemas.openxmlformats.org/drawingml/2006/main">
            <a:pPr>
              <a:buNone/>
              <a:defRPr sz="2250" b="0">
                <a:solidFill>
                  <a:srgbClr val="203040"/>
                </a:solidFill>
                <a:latin typeface="Arial"/>
                <a:ea typeface="Arial"/>
                <a:cs typeface="Arial"/>
              </a:defRPr>
            </a:pPr>
            <a:r>
              <a:rPr sz="2250" b="0">
                <a:solidFill>
                  <a:srgbClr val="203040"/>
                </a:solidFill>
                <a:latin typeface="Arial"/>
                <a:ea typeface="Arial"/>
                <a:cs typeface="Arial"/>
              </a:rPr>
              <a:t>COMP 182 • Lecture 12</a:t>
            </a:r>
          </a:p>
        </p:txBody>
      </p:sp>
      <p:sp>
        <p:nvSpPr>
          <p:cNvPr id="5" name="">
            <a:extLst xmlns:a="http://schemas.openxmlformats.org/drawingml/2006/main">
              <a:ext uri="{FF2B5EF4-FFF2-40B4-BE49-F238E27FC236}">
                <a16:creationId xmlns:a16="http://schemas.microsoft.com/office/drawing/2014/main" id="{C4C0681C-C0D8-4BB2-B37E-6156E931B5FC}"/>
              </a:ext>
            </a:extLst>
          </p:cNvPr>
          <p:cNvSpPr>
            <a:spLocks xmlns:a="http://schemas.openxmlformats.org/drawingml/2006/main" noGrp="1"/>
          </p:cNvSpPr>
          <p:nvPr/>
        </p:nvSpPr>
        <p:spPr>
          <a:xfrm xmlns:a="http://schemas.openxmlformats.org/drawingml/2006/main">
            <a:off x="571500" y="29527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0">
                <a:solidFill>
                  <a:srgbClr val="203040"/>
                </a:solidFill>
                <a:latin typeface="Arial"/>
                <a:ea typeface="Arial"/>
                <a:cs typeface="Arial"/>
              </a:defRPr>
            </a:defPPr>
            <a:lvl1pPr>
              <a:buNone/>
              <a:defRPr sz="3450" b="0">
                <a:solidFill>
                  <a:srgbClr val="203040"/>
                </a:solidFill>
                <a:latin typeface="Arial"/>
                <a:ea typeface="Arial"/>
                <a:cs typeface="Arial"/>
              </a:defRPr>
            </a:lvl1pPr>
            <a:lvl2pPr>
              <a:buNone/>
              <a:defRPr sz="3450" b="0">
                <a:solidFill>
                  <a:srgbClr val="203040"/>
                </a:solidFill>
                <a:latin typeface="Arial"/>
                <a:ea typeface="Arial"/>
                <a:cs typeface="Arial"/>
              </a:defRPr>
            </a:lvl2pPr>
            <a:lvl3pPr>
              <a:buNone/>
              <a:defRPr sz="3450" b="0">
                <a:solidFill>
                  <a:srgbClr val="203040"/>
                </a:solidFill>
                <a:latin typeface="Arial"/>
                <a:ea typeface="Arial"/>
                <a:cs typeface="Arial"/>
              </a:defRPr>
            </a:lvl3pPr>
            <a:lvl4pPr>
              <a:buNone/>
              <a:defRPr sz="3450" b="0">
                <a:solidFill>
                  <a:srgbClr val="203040"/>
                </a:solidFill>
                <a:latin typeface="Arial"/>
                <a:ea typeface="Arial"/>
                <a:cs typeface="Arial"/>
              </a:defRPr>
            </a:lvl4pPr>
            <a:lvl5pPr>
              <a:buNone/>
              <a:defRPr sz="3450" b="0">
                <a:solidFill>
                  <a:srgbClr val="203040"/>
                </a:solidFill>
                <a:latin typeface="Arial"/>
                <a:ea typeface="Arial"/>
                <a:cs typeface="Arial"/>
              </a:defRPr>
            </a:lvl5pPr>
            <a:lvl6pPr>
              <a:buNone/>
              <a:defRPr sz="3450" b="0">
                <a:solidFill>
                  <a:srgbClr val="203040"/>
                </a:solidFill>
                <a:latin typeface="Arial"/>
                <a:ea typeface="Arial"/>
                <a:cs typeface="Arial"/>
              </a:defRPr>
            </a:lvl6pPr>
            <a:lvl7pPr>
              <a:buNone/>
              <a:defRPr sz="3450" b="0">
                <a:solidFill>
                  <a:srgbClr val="203040"/>
                </a:solidFill>
                <a:latin typeface="Arial"/>
                <a:ea typeface="Arial"/>
                <a:cs typeface="Arial"/>
              </a:defRPr>
            </a:lvl7pPr>
            <a:lvl8pPr>
              <a:buNone/>
              <a:defRPr sz="3450" b="0">
                <a:solidFill>
                  <a:srgbClr val="203040"/>
                </a:solidFill>
                <a:latin typeface="Arial"/>
                <a:ea typeface="Arial"/>
                <a:cs typeface="Arial"/>
              </a:defRPr>
            </a:lvl8pPr>
            <a:lvl9pPr>
              <a:buNone/>
              <a:defRPr sz="3450" b="0">
                <a:solidFill>
                  <a:srgbClr val="203040"/>
                </a:solidFill>
                <a:latin typeface="Arial"/>
                <a:ea typeface="Arial"/>
                <a:cs typeface="Arial"/>
              </a:defRPr>
            </a:lvl9pPr>
          </a:lstStyle>
          <a:p xmlns:a="http://schemas.openxmlformats.org/drawingml/2006/main">
            <a:pPr>
              <a:buNone/>
              <a:defRPr sz="3450" b="0">
                <a:solidFill>
                  <a:srgbClr val="203040"/>
                </a:solidFill>
                <a:latin typeface="Arial"/>
                <a:ea typeface="Arial"/>
                <a:cs typeface="Arial"/>
              </a:defRPr>
            </a:pPr>
            <a:r>
              <a:rPr sz="3450" b="0">
                <a:solidFill>
                  <a:srgbClr val="203040"/>
                </a:solidFill>
                <a:latin typeface="Arial"/>
                <a:ea typeface="Arial"/>
                <a:cs typeface="Arial"/>
              </a:rPr>
              <a:t>Keys, collisions, and efficient lookup</a:t>
            </a:r>
          </a:p>
        </p:txBody>
      </p:sp>
      <p:sp>
        <p:nvSpPr>
          <p:cNvPr id="6" name="">
            <a:extLst xmlns:a="http://schemas.openxmlformats.org/drawingml/2006/main">
              <a:ext uri="{FF2B5EF4-FFF2-40B4-BE49-F238E27FC236}">
                <a16:creationId xmlns:a16="http://schemas.microsoft.com/office/drawing/2014/main" id="{407E02C8-2CC3-4C3E-BC7C-E7220528CAC2}"/>
              </a:ext>
            </a:extLst>
          </p:cNvPr>
          <p:cNvSpPr>
            <a:spLocks xmlns:a="http://schemas.openxmlformats.org/drawingml/2006/main" noGrp="1"/>
          </p:cNvSpPr>
          <p:nvPr/>
        </p:nvSpPr>
        <p:spPr>
          <a:xfrm xmlns:a="http://schemas.openxmlformats.org/drawingml/2006/main">
            <a:off x="571500" y="423862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203040"/>
                </a:solidFill>
                <a:latin typeface="Arial"/>
                <a:ea typeface="Arial"/>
                <a:cs typeface="Arial"/>
              </a:defRPr>
            </a:defPPr>
            <a:lvl1pPr>
              <a:buNone/>
              <a:defRPr sz="2400" b="0">
                <a:solidFill>
                  <a:srgbClr val="203040"/>
                </a:solidFill>
                <a:latin typeface="Arial"/>
                <a:ea typeface="Arial"/>
                <a:cs typeface="Arial"/>
              </a:defRPr>
            </a:lvl1pPr>
            <a:lvl2pPr>
              <a:buNone/>
              <a:defRPr sz="2400" b="0">
                <a:solidFill>
                  <a:srgbClr val="203040"/>
                </a:solidFill>
                <a:latin typeface="Arial"/>
                <a:ea typeface="Arial"/>
                <a:cs typeface="Arial"/>
              </a:defRPr>
            </a:lvl2pPr>
            <a:lvl3pPr>
              <a:buNone/>
              <a:defRPr sz="2400" b="0">
                <a:solidFill>
                  <a:srgbClr val="203040"/>
                </a:solidFill>
                <a:latin typeface="Arial"/>
                <a:ea typeface="Arial"/>
                <a:cs typeface="Arial"/>
              </a:defRPr>
            </a:lvl3pPr>
            <a:lvl4pPr>
              <a:buNone/>
              <a:defRPr sz="2400" b="0">
                <a:solidFill>
                  <a:srgbClr val="203040"/>
                </a:solidFill>
                <a:latin typeface="Arial"/>
                <a:ea typeface="Arial"/>
                <a:cs typeface="Arial"/>
              </a:defRPr>
            </a:lvl4pPr>
            <a:lvl5pPr>
              <a:buNone/>
              <a:defRPr sz="2400" b="0">
                <a:solidFill>
                  <a:srgbClr val="203040"/>
                </a:solidFill>
                <a:latin typeface="Arial"/>
                <a:ea typeface="Arial"/>
                <a:cs typeface="Arial"/>
              </a:defRPr>
            </a:lvl5pPr>
            <a:lvl6pPr>
              <a:buNone/>
              <a:defRPr sz="2400" b="0">
                <a:solidFill>
                  <a:srgbClr val="203040"/>
                </a:solidFill>
                <a:latin typeface="Arial"/>
                <a:ea typeface="Arial"/>
                <a:cs typeface="Arial"/>
              </a:defRPr>
            </a:lvl6pPr>
            <a:lvl7pPr>
              <a:buNone/>
              <a:defRPr sz="2400" b="0">
                <a:solidFill>
                  <a:srgbClr val="203040"/>
                </a:solidFill>
                <a:latin typeface="Arial"/>
                <a:ea typeface="Arial"/>
                <a:cs typeface="Arial"/>
              </a:defRPr>
            </a:lvl7pPr>
            <a:lvl8pPr>
              <a:buNone/>
              <a:defRPr sz="2400" b="0">
                <a:solidFill>
                  <a:srgbClr val="203040"/>
                </a:solidFill>
                <a:latin typeface="Arial"/>
                <a:ea typeface="Arial"/>
                <a:cs typeface="Arial"/>
              </a:defRPr>
            </a:lvl8pPr>
            <a:lvl9pPr>
              <a:buNone/>
              <a:defRPr sz="2400" b="0">
                <a:solidFill>
                  <a:srgbClr val="203040"/>
                </a:solidFill>
                <a:latin typeface="Arial"/>
                <a:ea typeface="Arial"/>
                <a:cs typeface="Arial"/>
              </a:defRPr>
            </a:lvl9pPr>
          </a:lstStyle>
          <a:p xmlns:a="http://schemas.openxmlformats.org/drawingml/2006/main">
            <a:pPr>
              <a:buNone/>
              <a:defRPr sz="2400" b="0">
                <a:solidFill>
                  <a:srgbClr val="203040"/>
                </a:solidFill>
                <a:latin typeface="Arial"/>
                <a:ea typeface="Arial"/>
                <a:cs typeface="Arial"/>
              </a:defRPr>
            </a:pPr>
            <a:r>
              <a:rPr sz="2400" b="0">
                <a:solidFill>
                  <a:srgbClr val="203040"/>
                </a:solidFill>
                <a:latin typeface="Arial"/>
                <a:ea typeface="Arial"/>
                <a:cs typeface="Arial"/>
              </a:rPr>
              <a:t>Open addressing • Separate chaining • Rehashing</a:t>
            </a:r>
          </a:p>
        </p:txBody>
      </p:sp>
    </p:spTree>
    <p:extLst>
      <p:ext uri="{BB962C8B-B14F-4D97-AF65-F5344CB8AC3E}">
        <p14:creationId xmlns:p14="http://schemas.microsoft.com/office/powerpoint/2010/main" val="8415528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C84407-7C94-4484-BB8D-4CC19391BDB9}"/>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Learning objectives</a:t>
            </a:r>
          </a:p>
        </p:txBody>
      </p:sp>
      <p:sp>
        <p:nvSpPr>
          <p:cNvPr id="2" name="">
            <a:extLst xmlns:a="http://schemas.openxmlformats.org/drawingml/2006/main">
              <a:ext uri="{FF2B5EF4-FFF2-40B4-BE49-F238E27FC236}">
                <a16:creationId xmlns:a16="http://schemas.microsoft.com/office/drawing/2014/main" id="{3F127AD2-908C-42BC-8766-DE8B91C34147}"/>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119A4D93-829F-4BF9-B2C8-844F4DBD2F26}"/>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73A450A7-E85D-409E-96AE-8E38CB1310B0}"/>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Compute hash codes and compress them into valid array indices.</a:t>
            </a:r>
          </a:p>
        </p:txBody>
      </p:sp>
      <p:sp>
        <p:nvSpPr>
          <p:cNvPr id="5" name="">
            <a:extLst xmlns:a="http://schemas.openxmlformats.org/drawingml/2006/main">
              <a:ext uri="{FF2B5EF4-FFF2-40B4-BE49-F238E27FC236}">
                <a16:creationId xmlns:a16="http://schemas.microsoft.com/office/drawing/2014/main" id="{6922DDAF-E910-4269-9865-48395B7EE563}"/>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Trace linear probing, quadratic probing, and double hashing.</a:t>
            </a:r>
          </a:p>
        </p:txBody>
      </p:sp>
      <p:sp>
        <p:nvSpPr>
          <p:cNvPr id="6" name="">
            <a:extLst xmlns:a="http://schemas.openxmlformats.org/drawingml/2006/main">
              <a:ext uri="{FF2B5EF4-FFF2-40B4-BE49-F238E27FC236}">
                <a16:creationId xmlns:a16="http://schemas.microsoft.com/office/drawing/2014/main" id="{027B6E33-56AC-4ED8-A46C-EA1C6EEF6175}"/>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Explain chaining, load factor, deletion, and rehashing.</a:t>
            </a:r>
          </a:p>
        </p:txBody>
      </p:sp>
      <p:sp>
        <p:nvSpPr>
          <p:cNvPr id="7" name="">
            <a:extLst xmlns:a="http://schemas.openxmlformats.org/drawingml/2006/main">
              <a:ext uri="{FF2B5EF4-FFF2-40B4-BE49-F238E27FC236}">
                <a16:creationId xmlns:a16="http://schemas.microsoft.com/office/drawing/2014/main" id="{71DB8738-F33B-4379-AB76-28841873B61D}"/>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Outline MyHashMap and MyHashSet implementations.</a:t>
            </a:r>
          </a:p>
        </p:txBody>
      </p:sp>
    </p:spTree>
    <p:extLst>
      <p:ext uri="{BB962C8B-B14F-4D97-AF65-F5344CB8AC3E}">
        <p14:creationId xmlns:p14="http://schemas.microsoft.com/office/powerpoint/2010/main" val="7448486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6352AC-39EC-47F2-947B-408BF658D43B}"/>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Why hashing?</a:t>
            </a:r>
          </a:p>
        </p:txBody>
      </p:sp>
      <p:sp>
        <p:nvSpPr>
          <p:cNvPr id="2" name="">
            <a:extLst xmlns:a="http://schemas.openxmlformats.org/drawingml/2006/main">
              <a:ext uri="{FF2B5EF4-FFF2-40B4-BE49-F238E27FC236}">
                <a16:creationId xmlns:a16="http://schemas.microsoft.com/office/drawing/2014/main" id="{D5A9E38E-69DC-4872-AC8D-0DBE4BC542EA}"/>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B179A5DD-C959-4593-92BE-5B94A9A009B0}"/>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a:t>
            </a:r>
          </a:p>
        </p:txBody>
      </p:sp>
      <p:graphicFrame>
        <p:nvGraphicFramePr>
          <p:cNvPr id="4" name="">
            <a:extLst xmlns:a="http://schemas.openxmlformats.org/drawingml/2006/main">
              <a:ext uri="{FF2B5EF4-FFF2-40B4-BE49-F238E27FC236}">
                <a16:creationId xmlns:a16="http://schemas.microsoft.com/office/drawing/2014/main" id="{1AB36039-6350-4007-BE95-7195E50E5AFC}"/>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3905250"/>
                <a:gridCol w="3143250"/>
                <a:gridCol w="4000500"/>
              </a:tblGrid>
              <a:tr h="800100">
                <a:tc>
                  <a:txBody>
                    <a:bodyPr/>
                    <a:lstStyle/>
                    <a:p>
                      <a:r>
                        <a:rPr sz="1875" b="1">
                          <a:solidFill>
                            <a:srgbClr val="FFFFFF"/>
                          </a:solidFill>
                          <a:latin typeface="Arial"/>
                          <a:ea typeface="Arial"/>
                          <a:cs typeface="Arial"/>
                        </a:rPr>
                        <a:t>Structure</a:t>
                      </a:r>
                    </a:p>
                  </a:txBody>
                  <a:tcPr marL="91440" marR="91440" marT="45720" marB="45720">
                    <a:solidFill>
                      <a:srgbClr val="24583E"/>
                    </a:solidFill>
                  </a:tcPr>
                </a:tc>
                <a:tc>
                  <a:txBody>
                    <a:bodyPr/>
                    <a:lstStyle/>
                    <a:p>
                      <a:r>
                        <a:rPr sz="1875" b="1">
                          <a:solidFill>
                            <a:srgbClr val="FFFFFF"/>
                          </a:solidFill>
                          <a:latin typeface="Arial"/>
                          <a:ea typeface="Arial"/>
                          <a:cs typeface="Arial"/>
                        </a:rPr>
                        <a:t>Lookup</a:t>
                      </a:r>
                    </a:p>
                  </a:txBody>
                  <a:tcPr marL="91440" marR="91440" marT="45720" marB="45720">
                    <a:solidFill>
                      <a:srgbClr val="24583E"/>
                    </a:solidFill>
                  </a:tcPr>
                </a:tc>
                <a:tc>
                  <a:txBody>
                    <a:bodyPr/>
                    <a:lstStyle/>
                    <a:p>
                      <a:r>
                        <a:rPr sz="1875" b="1">
                          <a:solidFill>
                            <a:srgbClr val="FFFFFF"/>
                          </a:solidFill>
                          <a:latin typeface="Arial"/>
                          <a:ea typeface="Arial"/>
                          <a:cs typeface="Arial"/>
                        </a:rPr>
                        <a:t>Insert / delete</a:t>
                      </a:r>
                    </a:p>
                  </a:txBody>
                  <a:tcPr marL="91440" marR="91440" marT="45720" marB="45720">
                    <a:solidFill>
                      <a:srgbClr val="24583E"/>
                    </a:solidFill>
                  </a:tcPr>
                </a:tc>
              </a:tr>
              <a:tr h="800100">
                <a:tc>
                  <a:txBody>
                    <a:bodyPr/>
                    <a:lstStyle/>
                    <a:p>
                      <a:r>
                        <a:rPr sz="1875" b="0">
                          <a:solidFill>
                            <a:srgbClr val="203040"/>
                          </a:solidFill>
                          <a:latin typeface="Arial"/>
                          <a:ea typeface="Arial"/>
                          <a:cs typeface="Arial"/>
                        </a:rPr>
                        <a:t>Unsorted array</a:t>
                      </a:r>
                    </a:p>
                  </a:txBody>
                  <a:tcPr marL="91440" marR="91440" marT="45720" marB="45720">
                    <a:solidFill>
                      <a:srgbClr val="F0F3F1"/>
                    </a:solidFill>
                  </a:tcPr>
                </a:tc>
                <a:tc>
                  <a:txBody>
                    <a:bodyPr/>
                    <a:lstStyle/>
                    <a:p>
                      <a:r>
                        <a:rPr sz="1875" b="0">
                          <a:solidFill>
                            <a:srgbClr val="203040"/>
                          </a:solidFill>
                          <a:latin typeface="Arial"/>
                          <a:ea typeface="Arial"/>
                          <a:cs typeface="Arial"/>
                        </a:rPr>
                        <a:t>O(n)</a:t>
                      </a:r>
                    </a:p>
                  </a:txBody>
                  <a:tcPr marL="91440" marR="91440" marT="45720" marB="45720">
                    <a:solidFill>
                      <a:srgbClr val="F0F3F1"/>
                    </a:solidFill>
                  </a:tcPr>
                </a:tc>
                <a:tc>
                  <a:txBody>
                    <a:bodyPr/>
                    <a:lstStyle/>
                    <a:p>
                      <a:r>
                        <a:rPr sz="1875" b="0">
                          <a:solidFill>
                            <a:srgbClr val="203040"/>
                          </a:solidFill>
                          <a:latin typeface="Arial"/>
                          <a:ea typeface="Arial"/>
                          <a:cs typeface="Arial"/>
                        </a:rPr>
                        <a:t>Append O(1)* / O(n)</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Sorted array</a:t>
                      </a:r>
                    </a:p>
                  </a:txBody>
                  <a:tcPr marL="91440" marR="91440" marT="45720" marB="45720">
                    <a:solidFill>
                      <a:srgbClr val="FFFFFF"/>
                    </a:solidFill>
                  </a:tcPr>
                </a:tc>
                <a:tc>
                  <a:txBody>
                    <a:bodyPr/>
                    <a:lstStyle/>
                    <a:p>
                      <a:r>
                        <a:rPr sz="1875" b="0">
                          <a:solidFill>
                            <a:srgbClr val="203040"/>
                          </a:solidFill>
                          <a:latin typeface="Arial"/>
                          <a:ea typeface="Arial"/>
                          <a:cs typeface="Arial"/>
                        </a:rPr>
                        <a:t>O(log2(n))</a:t>
                      </a:r>
                    </a:p>
                  </a:txBody>
                  <a:tcPr marL="91440" marR="91440" marT="45720" marB="45720">
                    <a:solidFill>
                      <a:srgbClr val="FFFFFF"/>
                    </a:solidFill>
                  </a:tcPr>
                </a:tc>
                <a:tc>
                  <a:txBody>
                    <a:bodyPr/>
                    <a:lstStyle/>
                    <a:p>
                      <a:r>
                        <a:rPr sz="1875" b="0">
                          <a:solidFill>
                            <a:srgbClr val="203040"/>
                          </a:solidFill>
                          <a:latin typeface="Arial"/>
                          <a:ea typeface="Arial"/>
                          <a:cs typeface="Arial"/>
                        </a:rPr>
                        <a:t>O(n) / O(n)</a:t>
                      </a:r>
                    </a:p>
                  </a:txBody>
                  <a:tcPr marL="91440" marR="91440" marT="45720" marB="45720">
                    <a:solidFill>
                      <a:srgbClr val="FFFFFF"/>
                    </a:solidFill>
                  </a:tcPr>
                </a:tc>
              </a:tr>
              <a:tr h="800100">
                <a:tc>
                  <a:txBody>
                    <a:bodyPr/>
                    <a:lstStyle/>
                    <a:p>
                      <a:r>
                        <a:rPr sz="1875" b="0">
                          <a:solidFill>
                            <a:srgbClr val="203040"/>
                          </a:solidFill>
                          <a:latin typeface="Arial"/>
                          <a:ea typeface="Arial"/>
                          <a:cs typeface="Arial"/>
                        </a:rPr>
                        <a:t>Balanced search tree</a:t>
                      </a:r>
                    </a:p>
                  </a:txBody>
                  <a:tcPr marL="91440" marR="91440" marT="45720" marB="45720">
                    <a:solidFill>
                      <a:srgbClr val="F0F3F1"/>
                    </a:solidFill>
                  </a:tcPr>
                </a:tc>
                <a:tc>
                  <a:txBody>
                    <a:bodyPr/>
                    <a:lstStyle/>
                    <a:p>
                      <a:r>
                        <a:rPr sz="1875" b="0">
                          <a:solidFill>
                            <a:srgbClr val="203040"/>
                          </a:solidFill>
                          <a:latin typeface="Arial"/>
                          <a:ea typeface="Arial"/>
                          <a:cs typeface="Arial"/>
                        </a:rPr>
                        <a:t>O(log2(n))</a:t>
                      </a:r>
                    </a:p>
                  </a:txBody>
                  <a:tcPr marL="91440" marR="91440" marT="45720" marB="45720">
                    <a:solidFill>
                      <a:srgbClr val="F0F3F1"/>
                    </a:solidFill>
                  </a:tcPr>
                </a:tc>
                <a:tc>
                  <a:txBody>
                    <a:bodyPr/>
                    <a:lstStyle/>
                    <a:p>
                      <a:r>
                        <a:rPr sz="1875" b="0">
                          <a:solidFill>
                            <a:srgbClr val="203040"/>
                          </a:solidFill>
                          <a:latin typeface="Arial"/>
                          <a:ea typeface="Arial"/>
                          <a:cs typeface="Arial"/>
                        </a:rPr>
                        <a:t>O(log2(n))</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Hash table</a:t>
                      </a:r>
                    </a:p>
                  </a:txBody>
                  <a:tcPr marL="91440" marR="91440" marT="45720" marB="45720">
                    <a:solidFill>
                      <a:srgbClr val="FFFFFF"/>
                    </a:solidFill>
                  </a:tcPr>
                </a:tc>
                <a:tc>
                  <a:txBody>
                    <a:bodyPr/>
                    <a:lstStyle/>
                    <a:p>
                      <a:r>
                        <a:rPr sz="1875" b="0">
                          <a:solidFill>
                            <a:srgbClr val="203040"/>
                          </a:solidFill>
                          <a:latin typeface="Arial"/>
                          <a:ea typeface="Arial"/>
                          <a:cs typeface="Arial"/>
                        </a:rPr>
                        <a:t>Expected O(1)</a:t>
                      </a:r>
                    </a:p>
                  </a:txBody>
                  <a:tcPr marL="91440" marR="91440" marT="45720" marB="45720">
                    <a:solidFill>
                      <a:srgbClr val="FFFFFF"/>
                    </a:solidFill>
                  </a:tcPr>
                </a:tc>
                <a:tc>
                  <a:txBody>
                    <a:bodyPr/>
                    <a:lstStyle/>
                    <a:p>
                      <a:r>
                        <a:rPr sz="1875" b="0">
                          <a:solidFill>
                            <a:srgbClr val="203040"/>
                          </a:solidFill>
                          <a:latin typeface="Arial"/>
                          <a:ea typeface="Arial"/>
                          <a:cs typeface="Arial"/>
                        </a:rPr>
                        <a:t>Expected amortized O(1)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523DC1F-CC19-4145-B348-F9F713808FE7}"/>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*Append assumes spare capacity. Hashing needs good distribution and load control.</a:t>
            </a:r>
          </a:p>
        </p:txBody>
      </p:sp>
    </p:spTree>
    <p:extLst>
      <p:ext uri="{BB962C8B-B14F-4D97-AF65-F5344CB8AC3E}">
        <p14:creationId xmlns:p14="http://schemas.microsoft.com/office/powerpoint/2010/main" val="17560708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1DAADC-5A9A-4F29-849E-C0846F0DED77}"/>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A small stored set in a large universe</a:t>
            </a:r>
          </a:p>
        </p:txBody>
      </p:sp>
      <p:sp>
        <p:nvSpPr>
          <p:cNvPr id="2" name="">
            <a:extLst xmlns:a="http://schemas.openxmlformats.org/drawingml/2006/main">
              <a:ext uri="{FF2B5EF4-FFF2-40B4-BE49-F238E27FC236}">
                <a16:creationId xmlns:a16="http://schemas.microsoft.com/office/drawing/2014/main" id="{EE0C2620-77D8-4B1A-B4FF-A69D5E0F486E}"/>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194FEFDC-B3AE-49D2-866A-619D9816B825}"/>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73FD41E9-46BB-4FF1-B479-C37EB79521B5}"/>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U is the universe of possible keys. D is the subset currently stored.</a:t>
            </a:r>
          </a:p>
        </p:txBody>
      </p:sp>
      <p:sp>
        <p:nvSpPr>
          <p:cNvPr id="5" name="">
            <a:extLst xmlns:a="http://schemas.openxmlformats.org/drawingml/2006/main">
              <a:ext uri="{FF2B5EF4-FFF2-40B4-BE49-F238E27FC236}">
                <a16:creationId xmlns:a16="http://schemas.microsoft.com/office/drawing/2014/main" id="{14C28785-41FA-4145-A588-5CC5B54296FF}"/>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Usually n = |D| is far smaller than |U|.</a:t>
            </a:r>
          </a:p>
        </p:txBody>
      </p:sp>
      <p:sp>
        <p:nvSpPr>
          <p:cNvPr id="6" name="">
            <a:extLst xmlns:a="http://schemas.openxmlformats.org/drawingml/2006/main">
              <a:ext uri="{FF2B5EF4-FFF2-40B4-BE49-F238E27FC236}">
                <a16:creationId xmlns:a16="http://schemas.microsoft.com/office/drawing/2014/main" id="{9B92D484-1770-4C2C-A761-0552B2354E0F}"/>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Direct addressing reserves one slot for every possible key.</a:t>
            </a:r>
          </a:p>
        </p:txBody>
      </p:sp>
      <p:sp>
        <p:nvSpPr>
          <p:cNvPr id="7" name="">
            <a:extLst xmlns:a="http://schemas.openxmlformats.org/drawingml/2006/main">
              <a:ext uri="{FF2B5EF4-FFF2-40B4-BE49-F238E27FC236}">
                <a16:creationId xmlns:a16="http://schemas.microsoft.com/office/drawing/2014/main" id="{AA7B8398-8F8F-4954-A1C9-170398D91B5C}"/>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Hashing uses m buckets or slots, typically proportional to n.</a:t>
            </a:r>
          </a:p>
        </p:txBody>
      </p:sp>
    </p:spTree>
    <p:extLst>
      <p:ext uri="{BB962C8B-B14F-4D97-AF65-F5344CB8AC3E}">
        <p14:creationId xmlns:p14="http://schemas.microsoft.com/office/powerpoint/2010/main" val="8648563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348BB3-0360-4990-BD4C-CFE7DD13C68D}"/>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A map and its implementation</a:t>
            </a:r>
          </a:p>
        </p:txBody>
      </p:sp>
      <p:sp>
        <p:nvSpPr>
          <p:cNvPr id="2" name="">
            <a:extLst xmlns:a="http://schemas.openxmlformats.org/drawingml/2006/main">
              <a:ext uri="{FF2B5EF4-FFF2-40B4-BE49-F238E27FC236}">
                <a16:creationId xmlns:a16="http://schemas.microsoft.com/office/drawing/2014/main" id="{EB10B32B-BE06-4AEE-8260-99FB88C65159}"/>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EA26FFAE-193D-45D9-B469-DC9F7A582EB4}"/>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7E956C10-A662-4A2D-9550-00E7ECF0D299}"/>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 map stores one value for each distinct key.</a:t>
            </a:r>
          </a:p>
        </p:txBody>
      </p:sp>
      <p:sp>
        <p:nvSpPr>
          <p:cNvPr id="5" name="">
            <a:extLst xmlns:a="http://schemas.openxmlformats.org/drawingml/2006/main">
              <a:ext uri="{FF2B5EF4-FFF2-40B4-BE49-F238E27FC236}">
                <a16:creationId xmlns:a16="http://schemas.microsoft.com/office/drawing/2014/main" id="{028520F8-C233-455C-B1C6-6C79AA8EF11F}"/>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 set stores distinct keys and supports membership tests.</a:t>
            </a:r>
          </a:p>
        </p:txBody>
      </p:sp>
      <p:sp>
        <p:nvSpPr>
          <p:cNvPr id="6" name="">
            <a:extLst xmlns:a="http://schemas.openxmlformats.org/drawingml/2006/main">
              <a:ext uri="{FF2B5EF4-FFF2-40B4-BE49-F238E27FC236}">
                <a16:creationId xmlns:a16="http://schemas.microsoft.com/office/drawing/2014/main" id="{8D520B7A-50C9-4C97-B6DA-BE0D7910B794}"/>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 hash table is one possible implementation of either ADT.</a:t>
            </a:r>
          </a:p>
        </p:txBody>
      </p:sp>
      <p:sp>
        <p:nvSpPr>
          <p:cNvPr id="7" name="">
            <a:extLst xmlns:a="http://schemas.openxmlformats.org/drawingml/2006/main">
              <a:ext uri="{FF2B5EF4-FFF2-40B4-BE49-F238E27FC236}">
                <a16:creationId xmlns:a16="http://schemas.microsoft.com/office/drawing/2014/main" id="{FBFCE9A9-54D5-49D0-9083-C4B0FA5144D8}"/>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 hash function deterministically selects a home bucket or slot.</a:t>
            </a:r>
          </a:p>
        </p:txBody>
      </p:sp>
      <p:sp>
        <p:nvSpPr>
          <p:cNvPr id="9" name="local-java-JavaHashMapDemo">
            <a:extLst xmlns:a="http://schemas.openxmlformats.org/drawingml/2006/main">
              <a:ext uri="{FF2B5EF4-FFF2-40B4-BE49-F238E27FC236}">
                <a16:creationId xmlns:a16="http://schemas.microsoft.com/office/drawing/2014/main" id="{EFE8BA1D-B637-4213-AE14-F7E64B2CA4D7}"/>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0171dde774c04aba"/>
              </a:rPr>
              <a:t>Java: JavaHashMapDemo.java</a:t>
            </a:r>
          </a:p>
        </p:txBody>
      </p:sp>
    </p:spTree>
    <p:extLst>
      <p:ext uri="{BB962C8B-B14F-4D97-AF65-F5344CB8AC3E}">
        <p14:creationId xmlns:p14="http://schemas.microsoft.com/office/powerpoint/2010/main" val="4857944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7AAE1D-682E-4937-A051-8DB49518DE6A}"/>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Map operations and replacement</a:t>
            </a:r>
          </a:p>
        </p:txBody>
      </p:sp>
      <p:sp>
        <p:nvSpPr>
          <p:cNvPr id="2" name="">
            <a:extLst xmlns:a="http://schemas.openxmlformats.org/drawingml/2006/main">
              <a:ext uri="{FF2B5EF4-FFF2-40B4-BE49-F238E27FC236}">
                <a16:creationId xmlns:a16="http://schemas.microsoft.com/office/drawing/2014/main" id="{F0363810-0F1E-4EAC-BCC7-7EF7AFE28E2C}"/>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1A1C46F9-15DD-44F5-8E44-CD7251C62836}"/>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6</a:t>
            </a:r>
          </a:p>
        </p:txBody>
      </p:sp>
      <p:graphicFrame>
        <p:nvGraphicFramePr>
          <p:cNvPr id="4" name="">
            <a:extLst xmlns:a="http://schemas.openxmlformats.org/drawingml/2006/main">
              <a:ext uri="{FF2B5EF4-FFF2-40B4-BE49-F238E27FC236}">
                <a16:creationId xmlns:a16="http://schemas.microsoft.com/office/drawing/2014/main" id="{3C0DE4E8-A986-4E11-A831-97FC779257BD}"/>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3048000"/>
                <a:gridCol w="8001000"/>
              </a:tblGrid>
              <a:tr h="800100">
                <a:tc>
                  <a:txBody>
                    <a:bodyPr/>
                    <a:lstStyle/>
                    <a:p>
                      <a:r>
                        <a:rPr sz="1875" b="1">
                          <a:solidFill>
                            <a:srgbClr val="FFFFFF"/>
                          </a:solidFill>
                          <a:latin typeface="Arial"/>
                          <a:ea typeface="Arial"/>
                          <a:cs typeface="Arial"/>
                        </a:rPr>
                        <a:t>Operation</a:t>
                      </a:r>
                    </a:p>
                  </a:txBody>
                  <a:tcPr marL="91440" marR="91440" marT="45720" marB="45720">
                    <a:solidFill>
                      <a:srgbClr val="24583E"/>
                    </a:solidFill>
                  </a:tcPr>
                </a:tc>
                <a:tc>
                  <a:txBody>
                    <a:bodyPr/>
                    <a:lstStyle/>
                    <a:p>
                      <a:r>
                        <a:rPr sz="1875" b="1">
                          <a:solidFill>
                            <a:srgbClr val="FFFFFF"/>
                          </a:solidFill>
                          <a:latin typeface="Arial"/>
                          <a:ea typeface="Arial"/>
                          <a:cs typeface="Arial"/>
                        </a:rPr>
                        <a:t>Effect</a:t>
                      </a:r>
                    </a:p>
                  </a:txBody>
                  <a:tcPr marL="91440" marR="91440" marT="45720" marB="45720">
                    <a:solidFill>
                      <a:srgbClr val="24583E"/>
                    </a:solidFill>
                  </a:tcPr>
                </a:tc>
              </a:tr>
              <a:tr h="800100">
                <a:tc>
                  <a:txBody>
                    <a:bodyPr/>
                    <a:lstStyle/>
                    <a:p>
                      <a:r>
                        <a:rPr sz="1875" b="0">
                          <a:solidFill>
                            <a:srgbClr val="203040"/>
                          </a:solidFill>
                          <a:latin typeface="Arial"/>
                          <a:ea typeface="Arial"/>
                          <a:cs typeface="Arial"/>
                        </a:rPr>
                        <a:t>put(k, v)</a:t>
                      </a:r>
                    </a:p>
                  </a:txBody>
                  <a:tcPr marL="91440" marR="91440" marT="45720" marB="45720">
                    <a:solidFill>
                      <a:srgbClr val="F0F3F1"/>
                    </a:solidFill>
                  </a:tcPr>
                </a:tc>
                <a:tc>
                  <a:txBody>
                    <a:bodyPr/>
                    <a:lstStyle/>
                    <a:p>
                      <a:r>
                        <a:rPr sz="1875" b="0">
                          <a:solidFill>
                            <a:srgbClr val="203040"/>
                          </a:solidFill>
                          <a:latin typeface="Arial"/>
                          <a:ea typeface="Arial"/>
                          <a:cs typeface="Arial"/>
                        </a:rPr>
                        <a:t>Add k, or replace the value for an equal key</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get(k)</a:t>
                      </a:r>
                    </a:p>
                  </a:txBody>
                  <a:tcPr marL="91440" marR="91440" marT="45720" marB="45720">
                    <a:solidFill>
                      <a:srgbClr val="FFFFFF"/>
                    </a:solidFill>
                  </a:tcPr>
                </a:tc>
                <a:tc>
                  <a:txBody>
                    <a:bodyPr/>
                    <a:lstStyle/>
                    <a:p>
                      <a:r>
                        <a:rPr sz="1875" b="0">
                          <a:solidFill>
                            <a:srgbClr val="203040"/>
                          </a:solidFill>
                          <a:latin typeface="Arial"/>
                          <a:ea typeface="Arial"/>
                          <a:cs typeface="Arial"/>
                        </a:rPr>
                        <a:t>Return the value associated with k</a:t>
                      </a:r>
                    </a:p>
                  </a:txBody>
                  <a:tcPr marL="91440" marR="91440" marT="45720" marB="45720">
                    <a:solidFill>
                      <a:srgbClr val="FFFFFF"/>
                    </a:solidFill>
                  </a:tcPr>
                </a:tc>
              </a:tr>
              <a:tr h="800100">
                <a:tc>
                  <a:txBody>
                    <a:bodyPr/>
                    <a:lstStyle/>
                    <a:p>
                      <a:r>
                        <a:rPr sz="1875" b="0">
                          <a:solidFill>
                            <a:srgbClr val="203040"/>
                          </a:solidFill>
                          <a:latin typeface="Arial"/>
                          <a:ea typeface="Arial"/>
                          <a:cs typeface="Arial"/>
                        </a:rPr>
                        <a:t>containsKey(k)</a:t>
                      </a:r>
                    </a:p>
                  </a:txBody>
                  <a:tcPr marL="91440" marR="91440" marT="45720" marB="45720">
                    <a:solidFill>
                      <a:srgbClr val="F0F3F1"/>
                    </a:solidFill>
                  </a:tcPr>
                </a:tc>
                <a:tc>
                  <a:txBody>
                    <a:bodyPr/>
                    <a:lstStyle/>
                    <a:p>
                      <a:r>
                        <a:rPr sz="1875" b="0">
                          <a:solidFill>
                            <a:srgbClr val="203040"/>
                          </a:solidFill>
                          <a:latin typeface="Arial"/>
                          <a:ea typeface="Arial"/>
                          <a:cs typeface="Arial"/>
                        </a:rPr>
                        <a:t>Report whether the key is present</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remove(k)</a:t>
                      </a:r>
                    </a:p>
                  </a:txBody>
                  <a:tcPr marL="91440" marR="91440" marT="45720" marB="45720">
                    <a:solidFill>
                      <a:srgbClr val="FFFFFF"/>
                    </a:solidFill>
                  </a:tcPr>
                </a:tc>
                <a:tc>
                  <a:txBody>
                    <a:bodyPr/>
                    <a:lstStyle/>
                    <a:p>
                      <a:r>
                        <a:rPr sz="1875" b="0">
                          <a:solidFill>
                            <a:srgbClr val="203040"/>
                          </a:solidFill>
                          <a:latin typeface="Arial"/>
                          <a:ea typeface="Arial"/>
                          <a:cs typeface="Arial"/>
                        </a:rPr>
                        <a:t>Remove the mapping for k</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15DD221-7E30-484A-B31D-AB52B50B7CA0}"/>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Java HashMap permits null values. get(k) == null alone cannot prove absence.</a:t>
            </a:r>
          </a:p>
        </p:txBody>
      </p:sp>
      <p:sp>
        <p:nvSpPr>
          <p:cNvPr id="7" name="local-java-JavaHashMapDemo">
            <a:extLst xmlns:a="http://schemas.openxmlformats.org/drawingml/2006/main">
              <a:ext uri="{FF2B5EF4-FFF2-40B4-BE49-F238E27FC236}">
                <a16:creationId xmlns:a16="http://schemas.microsoft.com/office/drawing/2014/main" id="{4FC1D4EA-3164-4796-AC39-2282282AC87D}"/>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162caa3b2b4844e7"/>
              </a:rPr>
              <a:t>Java: JavaHashMapDemo.java</a:t>
            </a:r>
          </a:p>
        </p:txBody>
      </p:sp>
    </p:spTree>
    <p:extLst>
      <p:ext uri="{BB962C8B-B14F-4D97-AF65-F5344CB8AC3E}">
        <p14:creationId xmlns:p14="http://schemas.microsoft.com/office/powerpoint/2010/main" val="4925970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4E7A3B-C7E3-4A73-9734-76076DACDC3C}"/>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From a key to a table index</a:t>
            </a:r>
          </a:p>
        </p:txBody>
      </p:sp>
      <p:sp>
        <p:nvSpPr>
          <p:cNvPr id="2" name="">
            <a:extLst xmlns:a="http://schemas.openxmlformats.org/drawingml/2006/main">
              <a:ext uri="{FF2B5EF4-FFF2-40B4-BE49-F238E27FC236}">
                <a16:creationId xmlns:a16="http://schemas.microsoft.com/office/drawing/2014/main" id="{71D3FBBF-7322-47F5-AA56-391F71B931E7}"/>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11BB1FE0-D43E-44A3-88A6-616B86864CA2}"/>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1DD0BC0E-D392-478D-AD7D-7BAF8AEF7F1D}"/>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Step 1: compute an integer hash code from the key.</a:t>
            </a:r>
          </a:p>
        </p:txBody>
      </p:sp>
      <p:sp>
        <p:nvSpPr>
          <p:cNvPr id="5" name="">
            <a:extLst xmlns:a="http://schemas.openxmlformats.org/drawingml/2006/main">
              <a:ext uri="{FF2B5EF4-FFF2-40B4-BE49-F238E27FC236}">
                <a16:creationId xmlns:a16="http://schemas.microsoft.com/office/drawing/2014/main" id="{EEB05389-A34A-483F-AAB9-DB6DB8D21F7E}"/>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Step 2: compress the code into the interval 0 through m - 1.</a:t>
            </a:r>
          </a:p>
        </p:txBody>
      </p:sp>
      <p:sp>
        <p:nvSpPr>
          <p:cNvPr id="6" name="">
            <a:extLst xmlns:a="http://schemas.openxmlformats.org/drawingml/2006/main">
              <a:ext uri="{FF2B5EF4-FFF2-40B4-BE49-F238E27FC236}">
                <a16:creationId xmlns:a16="http://schemas.microsoft.com/office/drawing/2014/main" id="{B07FB6CD-6968-4FDF-8C32-737C46DF7254}"/>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Example: the last four digits 1234 give 1234 mod 10 = 4.</a:t>
            </a:r>
          </a:p>
        </p:txBody>
      </p:sp>
      <p:sp>
        <p:nvSpPr>
          <p:cNvPr id="7" name="">
            <a:extLst xmlns:a="http://schemas.openxmlformats.org/drawingml/2006/main">
              <a:ext uri="{FF2B5EF4-FFF2-40B4-BE49-F238E27FC236}">
                <a16:creationId xmlns:a16="http://schemas.microsoft.com/office/drawing/2014/main" id="{A2ABE836-865F-47FF-A8D1-EC2EB0F0B424}"/>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Collisions require key comparisons and a resolution strategy.</a:t>
            </a:r>
          </a:p>
        </p:txBody>
      </p:sp>
      <p:sp>
        <p:nvSpPr>
          <p:cNvPr id="9" name="local-java-HashCodeExamples">
            <a:extLst xmlns:a="http://schemas.openxmlformats.org/drawingml/2006/main">
              <a:ext uri="{FF2B5EF4-FFF2-40B4-BE49-F238E27FC236}">
                <a16:creationId xmlns:a16="http://schemas.microsoft.com/office/drawing/2014/main" id="{FD4E3A6D-745F-4D1C-950C-51F030862891}"/>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d68629f5b7a94cab"/>
              </a:rPr>
              <a:t>Java: HashCodeExamples.java</a:t>
            </a:r>
          </a:p>
        </p:txBody>
      </p:sp>
    </p:spTree>
    <p:extLst>
      <p:ext uri="{BB962C8B-B14F-4D97-AF65-F5344CB8AC3E}">
        <p14:creationId xmlns:p14="http://schemas.microsoft.com/office/powerpoint/2010/main" val="6488290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0CAF31-2740-478D-AA0E-C4D4828EB2C3}"/>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Modulo hashing and the first collision</a:t>
            </a:r>
          </a:p>
        </p:txBody>
      </p:sp>
      <p:sp>
        <p:nvSpPr>
          <p:cNvPr id="2" name="">
            <a:extLst xmlns:a="http://schemas.openxmlformats.org/drawingml/2006/main">
              <a:ext uri="{FF2B5EF4-FFF2-40B4-BE49-F238E27FC236}">
                <a16:creationId xmlns:a16="http://schemas.microsoft.com/office/drawing/2014/main" id="{CB2BE07A-1A6A-4BA7-8F4E-3746E0D5B31D}"/>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F7BED129-7EFF-43F4-B890-B0BFF5850158}"/>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8</a:t>
            </a:r>
          </a:p>
        </p:txBody>
      </p:sp>
      <p:graphicFrame>
        <p:nvGraphicFramePr>
          <p:cNvPr id="4" name="">
            <a:extLst xmlns:a="http://schemas.openxmlformats.org/drawingml/2006/main">
              <a:ext uri="{FF2B5EF4-FFF2-40B4-BE49-F238E27FC236}">
                <a16:creationId xmlns:a16="http://schemas.microsoft.com/office/drawing/2014/main" id="{20DB1DA2-B88A-4034-8FC2-7224BC530852}"/>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2190750"/>
                <a:gridCol w="4095750"/>
                <a:gridCol w="4762500"/>
              </a:tblGrid>
              <a:tr h="800100">
                <a:tc>
                  <a:txBody>
                    <a:bodyPr/>
                    <a:lstStyle/>
                    <a:p>
                      <a:r>
                        <a:rPr sz="1875" b="1">
                          <a:solidFill>
                            <a:srgbClr val="FFFFFF"/>
                          </a:solidFill>
                          <a:latin typeface="Arial"/>
                          <a:ea typeface="Arial"/>
                          <a:cs typeface="Arial"/>
                        </a:rPr>
                        <a:t>Key</a:t>
                      </a:r>
                    </a:p>
                  </a:txBody>
                  <a:tcPr marL="91440" marR="91440" marT="45720" marB="45720">
                    <a:solidFill>
                      <a:srgbClr val="24583E"/>
                    </a:solidFill>
                  </a:tcPr>
                </a:tc>
                <a:tc>
                  <a:txBody>
                    <a:bodyPr/>
                    <a:lstStyle/>
                    <a:p>
                      <a:r>
                        <a:rPr sz="1875" b="1">
                          <a:solidFill>
                            <a:srgbClr val="FFFFFF"/>
                          </a:solidFill>
                          <a:latin typeface="Arial"/>
                          <a:ea typeface="Arial"/>
                          <a:cs typeface="Arial"/>
                        </a:rPr>
                        <a:t>Home index: key mod 10</a:t>
                      </a:r>
                    </a:p>
                  </a:txBody>
                  <a:tcPr marL="91440" marR="91440" marT="45720" marB="45720">
                    <a:solidFill>
                      <a:srgbClr val="24583E"/>
                    </a:solidFill>
                  </a:tcPr>
                </a:tc>
                <a:tc>
                  <a:txBody>
                    <a:bodyPr/>
                    <a:lstStyle/>
                    <a:p>
                      <a:r>
                        <a:rPr sz="1875" b="1">
                          <a:solidFill>
                            <a:srgbClr val="FFFFFF"/>
                          </a:solidFill>
                          <a:latin typeface="Arial"/>
                          <a:ea typeface="Arial"/>
                          <a:cs typeface="Arial"/>
                        </a:rPr>
                        <a:t>Result</a:t>
                      </a:r>
                    </a:p>
                  </a:txBody>
                  <a:tcPr marL="91440" marR="91440" marT="45720" marB="45720">
                    <a:solidFill>
                      <a:srgbClr val="24583E"/>
                    </a:solidFill>
                  </a:tcPr>
                </a:tc>
              </a:tr>
              <a:tr h="800100">
                <a:tc>
                  <a:txBody>
                    <a:bodyPr/>
                    <a:lstStyle/>
                    <a:p>
                      <a:r>
                        <a:rPr sz="1875" b="0">
                          <a:solidFill>
                            <a:srgbClr val="203040"/>
                          </a:solidFill>
                          <a:latin typeface="Arial"/>
                          <a:ea typeface="Arial"/>
                          <a:cs typeface="Arial"/>
                        </a:rPr>
                        <a:t>519</a:t>
                      </a:r>
                    </a:p>
                  </a:txBody>
                  <a:tcPr marL="91440" marR="91440" marT="45720" marB="45720">
                    <a:solidFill>
                      <a:srgbClr val="F0F3F1"/>
                    </a:solidFill>
                  </a:tcPr>
                </a:tc>
                <a:tc>
                  <a:txBody>
                    <a:bodyPr/>
                    <a:lstStyle/>
                    <a:p>
                      <a:r>
                        <a:rPr sz="1875" b="0">
                          <a:solidFill>
                            <a:srgbClr val="203040"/>
                          </a:solidFill>
                          <a:latin typeface="Arial"/>
                          <a:ea typeface="Arial"/>
                          <a:cs typeface="Arial"/>
                        </a:rPr>
                        <a:t>9</a:t>
                      </a:r>
                    </a:p>
                  </a:txBody>
                  <a:tcPr marL="91440" marR="91440" marT="45720" marB="45720">
                    <a:solidFill>
                      <a:srgbClr val="F0F3F1"/>
                    </a:solidFill>
                  </a:tcPr>
                </a:tc>
                <a:tc>
                  <a:txBody>
                    <a:bodyPr/>
                    <a:lstStyle/>
                    <a:p>
                      <a:r>
                        <a:rPr sz="1875" b="0">
                          <a:solidFill>
                            <a:srgbClr val="203040"/>
                          </a:solidFill>
                          <a:latin typeface="Arial"/>
                          <a:ea typeface="Arial"/>
                          <a:cs typeface="Arial"/>
                        </a:rPr>
                        <a:t>Store in slot 9</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214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Store in slot 4</a:t>
                      </a:r>
                    </a:p>
                  </a:txBody>
                  <a:tcPr marL="91440" marR="91440" marT="45720" marB="45720">
                    <a:solidFill>
                      <a:srgbClr val="FFFFFF"/>
                    </a:solidFill>
                  </a:tcPr>
                </a:tc>
              </a:tr>
              <a:tr h="800100">
                <a:tc>
                  <a:txBody>
                    <a:bodyPr/>
                    <a:lstStyle/>
                    <a:p>
                      <a:r>
                        <a:rPr sz="1875" b="0">
                          <a:solidFill>
                            <a:srgbClr val="203040"/>
                          </a:solidFill>
                          <a:latin typeface="Arial"/>
                          <a:ea typeface="Arial"/>
                          <a:cs typeface="Arial"/>
                        </a:rPr>
                        <a:t>1001</a:t>
                      </a:r>
                    </a:p>
                  </a:txBody>
                  <a:tcPr marL="91440" marR="91440" marT="45720" marB="45720">
                    <a:solidFill>
                      <a:srgbClr val="F0F3F1"/>
                    </a:solidFill>
                  </a:tcPr>
                </a:tc>
                <a:tc>
                  <a:txBody>
                    <a:bodyPr/>
                    <a:lstStyle/>
                    <a:p>
                      <a:r>
                        <a:rPr sz="1875" b="0">
                          <a:solidFill>
                            <a:srgbClr val="203040"/>
                          </a:solidFill>
                          <a:latin typeface="Arial"/>
                          <a:ea typeface="Arial"/>
                          <a:cs typeface="Arial"/>
                        </a:rPr>
                        <a:t>1</a:t>
                      </a:r>
                    </a:p>
                  </a:txBody>
                  <a:tcPr marL="91440" marR="91440" marT="45720" marB="45720">
                    <a:solidFill>
                      <a:srgbClr val="F0F3F1"/>
                    </a:solidFill>
                  </a:tcPr>
                </a:tc>
                <a:tc>
                  <a:txBody>
                    <a:bodyPr/>
                    <a:lstStyle/>
                    <a:p>
                      <a:r>
                        <a:rPr sz="1875" b="0">
                          <a:solidFill>
                            <a:srgbClr val="203040"/>
                          </a:solidFill>
                          <a:latin typeface="Arial"/>
                          <a:ea typeface="Arial"/>
                          <a:cs typeface="Arial"/>
                        </a:rPr>
                        <a:t>Store in slot 1</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3744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Collision with 214</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D4D51EB-7F0E-4AD8-B8E6-913F7DDBC81A}"/>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Different keys can share a home index. A collision does not mean the keys are equal.</a:t>
            </a:r>
          </a:p>
        </p:txBody>
      </p:sp>
      <p:sp>
        <p:nvSpPr>
          <p:cNvPr id="7" name="local-java-HashCodeExamples">
            <a:extLst xmlns:a="http://schemas.openxmlformats.org/drawingml/2006/main">
              <a:ext uri="{FF2B5EF4-FFF2-40B4-BE49-F238E27FC236}">
                <a16:creationId xmlns:a16="http://schemas.microsoft.com/office/drawing/2014/main" id="{06621C7A-2125-4D89-A0C9-A15E5671E002}"/>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f6446e39464540f3"/>
              </a:rPr>
              <a:t>Java: HashCodeExamples.java</a:t>
            </a:r>
          </a:p>
        </p:txBody>
      </p:sp>
    </p:spTree>
    <p:extLst>
      <p:ext uri="{BB962C8B-B14F-4D97-AF65-F5344CB8AC3E}">
        <p14:creationId xmlns:p14="http://schemas.microsoft.com/office/powerpoint/2010/main" val="12309096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4B537D-75F7-44F0-8622-2268D068BA67}"/>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Java hashCode and equals</a:t>
            </a:r>
          </a:p>
        </p:txBody>
      </p:sp>
      <p:sp>
        <p:nvSpPr>
          <p:cNvPr id="2" name="">
            <a:extLst xmlns:a="http://schemas.openxmlformats.org/drawingml/2006/main">
              <a:ext uri="{FF2B5EF4-FFF2-40B4-BE49-F238E27FC236}">
                <a16:creationId xmlns:a16="http://schemas.microsoft.com/office/drawing/2014/main" id="{F306118F-BBC2-4ED8-BEB2-8A8B68B36F04}"/>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BF220D97-3E29-4C63-87B8-D26632A5CD7E}"/>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35F7739F-CA12-4B3B-A0D8-C8BA4907E684}"/>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Equal objects must return equal hash codes.</a:t>
            </a:r>
          </a:p>
        </p:txBody>
      </p:sp>
      <p:sp>
        <p:nvSpPr>
          <p:cNvPr id="5" name="">
            <a:extLst xmlns:a="http://schemas.openxmlformats.org/drawingml/2006/main">
              <a:ext uri="{FF2B5EF4-FFF2-40B4-BE49-F238E27FC236}">
                <a16:creationId xmlns:a16="http://schemas.microsoft.com/office/drawing/2014/main" id="{7C767E57-7743-4A8C-AA3D-82A1E4B0EB2E}"/>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Unequal objects may still return the same hash code.</a:t>
            </a:r>
          </a:p>
        </p:txBody>
      </p:sp>
      <p:sp>
        <p:nvSpPr>
          <p:cNvPr id="6" name="">
            <a:extLst xmlns:a="http://schemas.openxmlformats.org/drawingml/2006/main">
              <a:ext uri="{FF2B5EF4-FFF2-40B4-BE49-F238E27FC236}">
                <a16:creationId xmlns:a16="http://schemas.microsoft.com/office/drawing/2014/main" id="{D195D00B-BCB0-4B06-9562-2CFA09FE8AFE}"/>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Override hashCode when defining value-based equals.</a:t>
            </a:r>
          </a:p>
        </p:txBody>
      </p:sp>
      <p:sp>
        <p:nvSpPr>
          <p:cNvPr id="7" name="">
            <a:extLst xmlns:a="http://schemas.openxmlformats.org/drawingml/2006/main">
              <a:ext uri="{FF2B5EF4-FFF2-40B4-BE49-F238E27FC236}">
                <a16:creationId xmlns:a16="http://schemas.microsoft.com/office/drawing/2014/main" id="{06960B86-F63D-414D-B55D-76E407E19EC6}"/>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Keep equality-relevant key fields stable while stored.</a:t>
            </a:r>
          </a:p>
        </p:txBody>
      </p:sp>
      <p:sp>
        <p:nvSpPr>
          <p:cNvPr id="9" name="local-java-PersonKey">
            <a:extLst xmlns:a="http://schemas.openxmlformats.org/drawingml/2006/main">
              <a:ext uri="{FF2B5EF4-FFF2-40B4-BE49-F238E27FC236}">
                <a16:creationId xmlns:a16="http://schemas.microsoft.com/office/drawing/2014/main" id="{6743D8CB-8B36-4B5D-B6C8-05E52CFBAFD5}"/>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4b105b1537194e11"/>
              </a:rPr>
              <a:t>Java: PersonKey.java</a:t>
            </a:r>
          </a:p>
        </p:txBody>
      </p:sp>
      <p:sp>
        <p:nvSpPr>
          <p:cNvPr id="10" name="local-java-PersonKeyDemo">
            <a:extLst xmlns:a="http://schemas.openxmlformats.org/drawingml/2006/main">
              <a:ext uri="{FF2B5EF4-FFF2-40B4-BE49-F238E27FC236}">
                <a16:creationId xmlns:a16="http://schemas.microsoft.com/office/drawing/2014/main" id="{75CB054D-79EC-48A0-AB88-1EA97CB611D1}"/>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6144937d8b064a86"/>
              </a:rPr>
              <a:t>Java: PersonKeyDemo.java</a:t>
            </a:r>
          </a:p>
        </p:txBody>
      </p:sp>
    </p:spTree>
    <p:extLst>
      <p:ext uri="{BB962C8B-B14F-4D97-AF65-F5344CB8AC3E}">
        <p14:creationId xmlns:p14="http://schemas.microsoft.com/office/powerpoint/2010/main" val="16135634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570EC7-B788-4AA2-A1F5-5E150AA66340}"/>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Hash codes for integral values</a:t>
            </a:r>
          </a:p>
        </p:txBody>
      </p:sp>
      <p:sp>
        <p:nvSpPr>
          <p:cNvPr id="2" name="">
            <a:extLst xmlns:a="http://schemas.openxmlformats.org/drawingml/2006/main">
              <a:ext uri="{FF2B5EF4-FFF2-40B4-BE49-F238E27FC236}">
                <a16:creationId xmlns:a16="http://schemas.microsoft.com/office/drawing/2014/main" id="{557EE77D-90A7-4A83-BFCB-A9704404E520}"/>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DBDE710D-0CE2-4433-A6A1-64FBCAD18768}"/>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C9310A46-0B01-44FD-A487-A8B35CB0B220}"/>
              </a:ext>
            </a:extLst>
          </p:cNvPr>
          <p:cNvGraphicFramePr/>
          <p:nvPr/>
        </p:nvGraphicFramePr>
        <p:xfrm>
          <a:off xmlns:a="http://schemas.openxmlformats.org/drawingml/2006/main" x="571500" y="1428750"/>
          <a:ext xmlns:a="http://schemas.openxmlformats.org/drawingml/2006/main" cx="11049000" cy="2857500"/>
        </p:xfrm>
        <a:graphic xmlns:a="http://schemas.openxmlformats.org/drawingml/2006/main">
          <a:graphicData uri="http://schemas.openxmlformats.org/drawingml/2006/table">
            <a:tbl>
              <a:tblPr/>
              <a:tblGrid>
                <a:gridCol w="3333750"/>
                <a:gridCol w="7715250"/>
              </a:tblGrid>
              <a:tr h="714375">
                <a:tc>
                  <a:txBody>
                    <a:bodyPr/>
                    <a:lstStyle/>
                    <a:p>
                      <a:r>
                        <a:rPr sz="1875" b="1">
                          <a:solidFill>
                            <a:srgbClr val="FFFFFF"/>
                          </a:solidFill>
                          <a:latin typeface="Arial"/>
                          <a:ea typeface="Arial"/>
                          <a:cs typeface="Arial"/>
                        </a:rPr>
                        <a:t>Type</a:t>
                      </a:r>
                    </a:p>
                  </a:txBody>
                  <a:tcPr marL="91440" marR="91440" marT="45720" marB="45720">
                    <a:solidFill>
                      <a:srgbClr val="24583E"/>
                    </a:solidFill>
                  </a:tcPr>
                </a:tc>
                <a:tc>
                  <a:txBody>
                    <a:bodyPr/>
                    <a:lstStyle/>
                    <a:p>
                      <a:r>
                        <a:rPr sz="1875" b="1">
                          <a:solidFill>
                            <a:srgbClr val="FFFFFF"/>
                          </a:solidFill>
                          <a:latin typeface="Arial"/>
                          <a:ea typeface="Arial"/>
                          <a:cs typeface="Arial"/>
                        </a:rPr>
                        <a:t>Typical Java computation</a:t>
                      </a:r>
                    </a:p>
                  </a:txBody>
                  <a:tcPr marL="91440" marR="91440" marT="45720" marB="45720">
                    <a:solidFill>
                      <a:srgbClr val="24583E"/>
                    </a:solidFill>
                  </a:tcPr>
                </a:tc>
              </a:tr>
              <a:tr h="714375">
                <a:tc>
                  <a:txBody>
                    <a:bodyPr/>
                    <a:lstStyle/>
                    <a:p>
                      <a:r>
                        <a:rPr sz="1875" b="0">
                          <a:solidFill>
                            <a:srgbClr val="203040"/>
                          </a:solidFill>
                          <a:latin typeface="Arial"/>
                          <a:ea typeface="Arial"/>
                          <a:cs typeface="Arial"/>
                        </a:rPr>
                        <a:t>byte, short, char</a:t>
                      </a:r>
                    </a:p>
                  </a:txBody>
                  <a:tcPr marL="91440" marR="91440" marT="45720" marB="45720">
                    <a:solidFill>
                      <a:srgbClr val="F0F3F1"/>
                    </a:solidFill>
                  </a:tcPr>
                </a:tc>
                <a:tc>
                  <a:txBody>
                    <a:bodyPr/>
                    <a:lstStyle/>
                    <a:p>
                      <a:r>
                        <a:rPr sz="1875" b="0">
                          <a:solidFill>
                            <a:srgbClr val="203040"/>
                          </a:solidFill>
                          <a:latin typeface="Arial"/>
                          <a:ea typeface="Arial"/>
                          <a:cs typeface="Arial"/>
                        </a:rPr>
                        <a:t>Use the numeric value as an int</a:t>
                      </a:r>
                    </a:p>
                  </a:txBody>
                  <a:tcPr marL="91440" marR="91440" marT="45720" marB="45720">
                    <a:solidFill>
                      <a:srgbClr val="F0F3F1"/>
                    </a:solidFill>
                  </a:tcPr>
                </a:tc>
              </a:tr>
              <a:tr h="714375">
                <a:tc>
                  <a:txBody>
                    <a:bodyPr/>
                    <a:lstStyle/>
                    <a:p>
                      <a:r>
                        <a:rPr sz="1875" b="0">
                          <a:solidFill>
                            <a:srgbClr val="203040"/>
                          </a:solidFill>
                          <a:latin typeface="Arial"/>
                          <a:ea typeface="Arial"/>
                          <a:cs typeface="Arial"/>
                        </a:rPr>
                        <a:t>int</a:t>
                      </a:r>
                    </a:p>
                  </a:txBody>
                  <a:tcPr marL="91440" marR="91440" marT="45720" marB="45720">
                    <a:solidFill>
                      <a:srgbClr val="FFFFFF"/>
                    </a:solidFill>
                  </a:tcPr>
                </a:tc>
                <a:tc>
                  <a:txBody>
                    <a:bodyPr/>
                    <a:lstStyle/>
                    <a:p>
                      <a:r>
                        <a:rPr sz="1875" b="0">
                          <a:solidFill>
                            <a:srgbClr val="203040"/>
                          </a:solidFill>
                          <a:latin typeface="Arial"/>
                          <a:ea typeface="Arial"/>
                          <a:cs typeface="Arial"/>
                        </a:rPr>
                        <a:t>Integer.hashCode(key) returns key</a:t>
                      </a:r>
                    </a:p>
                  </a:txBody>
                  <a:tcPr marL="91440" marR="91440" marT="45720" marB="45720">
                    <a:solidFill>
                      <a:srgbClr val="FFFFFF"/>
                    </a:solidFill>
                  </a:tcPr>
                </a:tc>
              </a:tr>
              <a:tr h="714375">
                <a:tc>
                  <a:txBody>
                    <a:bodyPr/>
                    <a:lstStyle/>
                    <a:p>
                      <a:r>
                        <a:rPr sz="1875" b="0">
                          <a:solidFill>
                            <a:srgbClr val="203040"/>
                          </a:solidFill>
                          <a:latin typeface="Arial"/>
                          <a:ea typeface="Arial"/>
                          <a:cs typeface="Arial"/>
                        </a:rPr>
                        <a:t>long</a:t>
                      </a:r>
                    </a:p>
                  </a:txBody>
                  <a:tcPr marL="91440" marR="91440" marT="45720" marB="45720">
                    <a:solidFill>
                      <a:srgbClr val="F0F3F1"/>
                    </a:solidFill>
                  </a:tcPr>
                </a:tc>
                <a:tc>
                  <a:txBody>
                    <a:bodyPr/>
                    <a:lstStyle/>
                    <a:p>
                      <a:r>
                        <a:rPr sz="1875" b="0">
                          <a:solidFill>
                            <a:srgbClr val="203040"/>
                          </a:solidFill>
                          <a:latin typeface="Arial"/>
                          <a:ea typeface="Arial"/>
                          <a:cs typeface="Arial"/>
                        </a:rPr>
                        <a:t>Long.hashCode(key) combines both halves</a:t>
                      </a:r>
                    </a:p>
                  </a:txBody>
                  <a:tcPr marL="91440" marR="91440" marT="45720" marB="45720">
                    <a:solidFill>
                      <a:srgbClr val="F0F3F1"/>
                    </a:solidFill>
                  </a:tcPr>
                </a:tc>
              </a:tr>
            </a:tbl>
          </a:graphicData>
        </a:graphic>
      </p:graphicFrame>
      <p:sp>
        <p:nvSpPr>
          <p:cNvPr id="5" name="">
            <a:extLst xmlns:a="http://schemas.openxmlformats.org/drawingml/2006/main">
              <a:ext uri="{FF2B5EF4-FFF2-40B4-BE49-F238E27FC236}">
                <a16:creationId xmlns:a16="http://schemas.microsoft.com/office/drawing/2014/main" id="{5014684B-AD61-4D60-BAE5-AD74944DAC25}"/>
              </a:ext>
            </a:extLst>
          </p:cNvPr>
          <p:cNvSpPr>
            <a:spLocks xmlns:a="http://schemas.openxmlformats.org/drawingml/2006/main" noGrp="1"/>
          </p:cNvSpPr>
          <p:nvPr/>
        </p:nvSpPr>
        <p:spPr>
          <a:xfrm xmlns:a="http://schemas.openxmlformats.org/drawingml/2006/main">
            <a:off x="571500" y="4457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For long: (int) (key ^ (key &gt;&gt;&gt; 32))</a:t>
            </a:r>
          </a:p>
        </p:txBody>
      </p:sp>
      <p:sp>
        <p:nvSpPr>
          <p:cNvPr id="7" name="local-java-HashCodeExamples">
            <a:extLst xmlns:a="http://schemas.openxmlformats.org/drawingml/2006/main">
              <a:ext uri="{FF2B5EF4-FFF2-40B4-BE49-F238E27FC236}">
                <a16:creationId xmlns:a16="http://schemas.microsoft.com/office/drawing/2014/main" id="{3BABB4B1-0918-4F5B-88B1-6B9E864A0DA9}"/>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c654ceb5fd6e43ce"/>
              </a:rPr>
              <a:t>Java: HashCodeExamples.java</a:t>
            </a:r>
          </a:p>
        </p:txBody>
      </p:sp>
    </p:spTree>
    <p:extLst>
      <p:ext uri="{BB962C8B-B14F-4D97-AF65-F5344CB8AC3E}">
        <p14:creationId xmlns:p14="http://schemas.microsoft.com/office/powerpoint/2010/main" val="9847416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AFF404-2824-4922-9685-285719F9EBAF}"/>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Hash codes for floating-point values</a:t>
            </a:r>
          </a:p>
        </p:txBody>
      </p:sp>
      <p:sp>
        <p:nvSpPr>
          <p:cNvPr id="2" name="">
            <a:extLst xmlns:a="http://schemas.openxmlformats.org/drawingml/2006/main">
              <a:ext uri="{FF2B5EF4-FFF2-40B4-BE49-F238E27FC236}">
                <a16:creationId xmlns:a16="http://schemas.microsoft.com/office/drawing/2014/main" id="{DE51EDF1-92B7-416D-A354-B748208847DE}"/>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2DCA7BBD-AD3D-411A-9F48-567A75907939}"/>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0FC444D9-050B-4B45-AC7E-528868EDE463}"/>
              </a:ext>
            </a:extLst>
          </p:cNvPr>
          <p:cNvSpPr>
            <a:spLocks xmlns:a="http://schemas.openxmlformats.org/drawingml/2006/main" noGrp="1"/>
          </p:cNvSpPr>
          <p:nvPr/>
        </p:nvSpPr>
        <p:spPr>
          <a:xfrm xmlns:a="http://schemas.openxmlformats.org/drawingml/2006/main">
            <a:off x="571500" y="1476375"/>
            <a:ext cx="11049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2B4D"/>
                </a:solidFill>
                <a:latin typeface="Consolas"/>
                <a:ea typeface="Consolas"/>
                <a:cs typeface="Consolas"/>
              </a:defRPr>
            </a:defPPr>
            <a:lvl1pPr>
              <a:buNone/>
              <a:defRPr sz="1875" b="0">
                <a:solidFill>
                  <a:srgbClr val="172B4D"/>
                </a:solidFill>
                <a:latin typeface="Consolas"/>
                <a:ea typeface="Consolas"/>
                <a:cs typeface="Consolas"/>
              </a:defRPr>
            </a:lvl1pPr>
            <a:lvl2pPr>
              <a:buNone/>
              <a:defRPr sz="1875" b="0">
                <a:solidFill>
                  <a:srgbClr val="172B4D"/>
                </a:solidFill>
                <a:latin typeface="Consolas"/>
                <a:ea typeface="Consolas"/>
                <a:cs typeface="Consolas"/>
              </a:defRPr>
            </a:lvl2pPr>
            <a:lvl3pPr>
              <a:buNone/>
              <a:defRPr sz="1875" b="0">
                <a:solidFill>
                  <a:srgbClr val="172B4D"/>
                </a:solidFill>
                <a:latin typeface="Consolas"/>
                <a:ea typeface="Consolas"/>
                <a:cs typeface="Consolas"/>
              </a:defRPr>
            </a:lvl3pPr>
            <a:lvl4pPr>
              <a:buNone/>
              <a:defRPr sz="1875" b="0">
                <a:solidFill>
                  <a:srgbClr val="172B4D"/>
                </a:solidFill>
                <a:latin typeface="Consolas"/>
                <a:ea typeface="Consolas"/>
                <a:cs typeface="Consolas"/>
              </a:defRPr>
            </a:lvl4pPr>
            <a:lvl5pPr>
              <a:buNone/>
              <a:defRPr sz="1875" b="0">
                <a:solidFill>
                  <a:srgbClr val="172B4D"/>
                </a:solidFill>
                <a:latin typeface="Consolas"/>
                <a:ea typeface="Consolas"/>
                <a:cs typeface="Consolas"/>
              </a:defRPr>
            </a:lvl5pPr>
            <a:lvl6pPr>
              <a:buNone/>
              <a:defRPr sz="1875" b="0">
                <a:solidFill>
                  <a:srgbClr val="172B4D"/>
                </a:solidFill>
                <a:latin typeface="Consolas"/>
                <a:ea typeface="Consolas"/>
                <a:cs typeface="Consolas"/>
              </a:defRPr>
            </a:lvl6pPr>
            <a:lvl7pPr>
              <a:buNone/>
              <a:defRPr sz="1875" b="0">
                <a:solidFill>
                  <a:srgbClr val="172B4D"/>
                </a:solidFill>
                <a:latin typeface="Consolas"/>
                <a:ea typeface="Consolas"/>
                <a:cs typeface="Consolas"/>
              </a:defRPr>
            </a:lvl7pPr>
            <a:lvl8pPr>
              <a:buNone/>
              <a:defRPr sz="1875" b="0">
                <a:solidFill>
                  <a:srgbClr val="172B4D"/>
                </a:solidFill>
                <a:latin typeface="Consolas"/>
                <a:ea typeface="Consolas"/>
                <a:cs typeface="Consolas"/>
              </a:defRPr>
            </a:lvl8pPr>
            <a:lvl9pPr>
              <a:buNone/>
              <a:defRPr sz="1875" b="0">
                <a:solidFill>
                  <a:srgbClr val="172B4D"/>
                </a:solidFill>
                <a:latin typeface="Consolas"/>
                <a:ea typeface="Consolas"/>
                <a:cs typeface="Consolas"/>
              </a:defRPr>
            </a:lvl9pPr>
          </a:lstStyle>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int a = Float.hashCode(value);</a:t>
            </a:r>
          </a:p>
          <a:p xmlns:a="http://schemas.openxmlformats.org/drawingml/2006/main">
            <a:r>
              <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Equivalent double hashing steps</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long bits = Double.doubleToLongBits(key);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int b = (int) (bits ^ (bits &gt;&gt;&gt; 32));</a:t>
            </a:r>
          </a:p>
        </p:txBody>
      </p:sp>
      <p:sp>
        <p:nvSpPr>
          <p:cNvPr id="5" name="">
            <a:extLst xmlns:a="http://schemas.openxmlformats.org/drawingml/2006/main">
              <a:ext uri="{FF2B5EF4-FFF2-40B4-BE49-F238E27FC236}">
                <a16:creationId xmlns:a16="http://schemas.microsoft.com/office/drawing/2014/main" id="{53B4D3A7-E8D5-482C-8C35-A053D728BC97}"/>
              </a:ext>
            </a:extLst>
          </p:cNvPr>
          <p:cNvSpPr>
            <a:spLocks xmlns:a="http://schemas.openxmlformats.org/drawingml/2006/main" noGrp="1"/>
          </p:cNvSpPr>
          <p:nvPr/>
        </p:nvSpPr>
        <p:spPr>
          <a:xfrm xmlns:a="http://schemas.openxmlformats.org/drawingml/2006/main">
            <a:off x="571500" y="53340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Hash the bit representation rather than casting to an integer.</a:t>
            </a:r>
          </a:p>
        </p:txBody>
      </p:sp>
      <p:sp>
        <p:nvSpPr>
          <p:cNvPr id="6" name="">
            <a:extLst xmlns:a="http://schemas.openxmlformats.org/drawingml/2006/main">
              <a:ext uri="{FF2B5EF4-FFF2-40B4-BE49-F238E27FC236}">
                <a16:creationId xmlns:a16="http://schemas.microsoft.com/office/drawing/2014/main" id="{24E385F9-BF67-4AD1-87EA-22743959021B}"/>
              </a:ext>
            </a:extLst>
          </p:cNvPr>
          <p:cNvSpPr>
            <a:spLocks xmlns:a="http://schemas.openxmlformats.org/drawingml/2006/main" noGrp="1"/>
          </p:cNvSpPr>
          <p:nvPr/>
        </p:nvSpPr>
        <p:spPr>
          <a:xfrm xmlns:a="http://schemas.openxmlformats.org/drawingml/2006/main">
            <a:off x="571500" y="58102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Wrapper hash methods follow wrapper equality rules.</a:t>
            </a:r>
          </a:p>
        </p:txBody>
      </p:sp>
      <p:sp>
        <p:nvSpPr>
          <p:cNvPr id="8" name="local-java-HashCodeExamples">
            <a:extLst xmlns:a="http://schemas.openxmlformats.org/drawingml/2006/main">
              <a:ext uri="{FF2B5EF4-FFF2-40B4-BE49-F238E27FC236}">
                <a16:creationId xmlns:a16="http://schemas.microsoft.com/office/drawing/2014/main" id="{B2645342-5B9D-42DB-8FE3-F20BFDC62D6D}"/>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426fe9eefdc94d13"/>
              </a:rPr>
              <a:t>Java: HashCodeExamples.java</a:t>
            </a:r>
          </a:p>
        </p:txBody>
      </p:sp>
    </p:spTree>
    <p:extLst>
      <p:ext uri="{BB962C8B-B14F-4D97-AF65-F5344CB8AC3E}">
        <p14:creationId xmlns:p14="http://schemas.microsoft.com/office/powerpoint/2010/main" val="4364985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686B40-8DBF-4B9C-AFD5-622B683D4380}"/>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String hashing includes character position</a:t>
            </a:r>
          </a:p>
        </p:txBody>
      </p:sp>
      <p:sp>
        <p:nvSpPr>
          <p:cNvPr id="2" name="">
            <a:extLst xmlns:a="http://schemas.openxmlformats.org/drawingml/2006/main">
              <a:ext uri="{FF2B5EF4-FFF2-40B4-BE49-F238E27FC236}">
                <a16:creationId xmlns:a16="http://schemas.microsoft.com/office/drawing/2014/main" id="{613CB268-19F7-4874-8009-122A69291FAF}"/>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CC99DC43-DD33-40BA-9045-250A2DBA9E65}"/>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358D776E-AB3E-45A9-B7BD-435D37AA33A5}"/>
              </a:ext>
            </a:extLst>
          </p:cNvPr>
          <p:cNvSpPr>
            <a:spLocks xmlns:a="http://schemas.openxmlformats.org/drawingml/2006/main" noGrp="1"/>
          </p:cNvSpPr>
          <p:nvPr/>
        </p:nvSpPr>
        <p:spPr>
          <a:xfrm xmlns:a="http://schemas.openxmlformats.org/drawingml/2006/main">
            <a:off x="571500" y="1476375"/>
            <a:ext cx="11049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2B4D"/>
                </a:solidFill>
                <a:latin typeface="Consolas"/>
                <a:ea typeface="Consolas"/>
                <a:cs typeface="Consolas"/>
              </a:defRPr>
            </a:defPPr>
            <a:lvl1pPr>
              <a:buNone/>
              <a:defRPr sz="1875" b="0">
                <a:solidFill>
                  <a:srgbClr val="172B4D"/>
                </a:solidFill>
                <a:latin typeface="Consolas"/>
                <a:ea typeface="Consolas"/>
                <a:cs typeface="Consolas"/>
              </a:defRPr>
            </a:lvl1pPr>
            <a:lvl2pPr>
              <a:buNone/>
              <a:defRPr sz="1875" b="0">
                <a:solidFill>
                  <a:srgbClr val="172B4D"/>
                </a:solidFill>
                <a:latin typeface="Consolas"/>
                <a:ea typeface="Consolas"/>
                <a:cs typeface="Consolas"/>
              </a:defRPr>
            </a:lvl2pPr>
            <a:lvl3pPr>
              <a:buNone/>
              <a:defRPr sz="1875" b="0">
                <a:solidFill>
                  <a:srgbClr val="172B4D"/>
                </a:solidFill>
                <a:latin typeface="Consolas"/>
                <a:ea typeface="Consolas"/>
                <a:cs typeface="Consolas"/>
              </a:defRPr>
            </a:lvl3pPr>
            <a:lvl4pPr>
              <a:buNone/>
              <a:defRPr sz="1875" b="0">
                <a:solidFill>
                  <a:srgbClr val="172B4D"/>
                </a:solidFill>
                <a:latin typeface="Consolas"/>
                <a:ea typeface="Consolas"/>
                <a:cs typeface="Consolas"/>
              </a:defRPr>
            </a:lvl4pPr>
            <a:lvl5pPr>
              <a:buNone/>
              <a:defRPr sz="1875" b="0">
                <a:solidFill>
                  <a:srgbClr val="172B4D"/>
                </a:solidFill>
                <a:latin typeface="Consolas"/>
                <a:ea typeface="Consolas"/>
                <a:cs typeface="Consolas"/>
              </a:defRPr>
            </a:lvl5pPr>
            <a:lvl6pPr>
              <a:buNone/>
              <a:defRPr sz="1875" b="0">
                <a:solidFill>
                  <a:srgbClr val="172B4D"/>
                </a:solidFill>
                <a:latin typeface="Consolas"/>
                <a:ea typeface="Consolas"/>
                <a:cs typeface="Consolas"/>
              </a:defRPr>
            </a:lvl6pPr>
            <a:lvl7pPr>
              <a:buNone/>
              <a:defRPr sz="1875" b="0">
                <a:solidFill>
                  <a:srgbClr val="172B4D"/>
                </a:solidFill>
                <a:latin typeface="Consolas"/>
                <a:ea typeface="Consolas"/>
                <a:cs typeface="Consolas"/>
              </a:defRPr>
            </a:lvl7pPr>
            <a:lvl8pPr>
              <a:buNone/>
              <a:defRPr sz="1875" b="0">
                <a:solidFill>
                  <a:srgbClr val="172B4D"/>
                </a:solidFill>
                <a:latin typeface="Consolas"/>
                <a:ea typeface="Consolas"/>
                <a:cs typeface="Consolas"/>
              </a:defRPr>
            </a:lvl8pPr>
            <a:lvl9pPr>
              <a:buNone/>
              <a:defRPr sz="1875" b="0">
                <a:solidFill>
                  <a:srgbClr val="172B4D"/>
                </a:solidFill>
                <a:latin typeface="Consolas"/>
                <a:ea typeface="Consolas"/>
                <a:cs typeface="Consolas"/>
              </a:defRPr>
            </a:lvl9pPr>
          </a:lstStyle>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int h = 0;</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for (int i = 0; i &lt; s.length(); i++) {</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h = 31 * h + s.charAt(i);</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8846F298-C1B6-4940-8AA8-A13C67D5BFAE}"/>
              </a:ext>
            </a:extLst>
          </p:cNvPr>
          <p:cNvSpPr>
            <a:spLocks xmlns:a="http://schemas.openxmlformats.org/drawingml/2006/main" noGrp="1"/>
          </p:cNvSpPr>
          <p:nvPr/>
        </p:nvSpPr>
        <p:spPr>
          <a:xfrm xmlns:a="http://schemas.openxmlformats.org/drawingml/2006/main">
            <a:off x="571500" y="53340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 character sum gives the same code for "ab" and "ba".</a:t>
            </a:r>
          </a:p>
        </p:txBody>
      </p:sp>
      <p:sp>
        <p:nvSpPr>
          <p:cNvPr id="6" name="">
            <a:extLst xmlns:a="http://schemas.openxmlformats.org/drawingml/2006/main">
              <a:ext uri="{FF2B5EF4-FFF2-40B4-BE49-F238E27FC236}">
                <a16:creationId xmlns:a16="http://schemas.microsoft.com/office/drawing/2014/main" id="{50F8D770-8138-489A-B340-3CBC277DE651}"/>
              </a:ext>
            </a:extLst>
          </p:cNvPr>
          <p:cNvSpPr>
            <a:spLocks xmlns:a="http://schemas.openxmlformats.org/drawingml/2006/main" noGrp="1"/>
          </p:cNvSpPr>
          <p:nvPr/>
        </p:nvSpPr>
        <p:spPr>
          <a:xfrm xmlns:a="http://schemas.openxmlformats.org/drawingml/2006/main">
            <a:off x="571500" y="58102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Polynomial hashing accounts for position. Collisions remain possible.</a:t>
            </a:r>
          </a:p>
        </p:txBody>
      </p:sp>
      <p:sp>
        <p:nvSpPr>
          <p:cNvPr id="8" name="local-java-HashCodeExamples">
            <a:extLst xmlns:a="http://schemas.openxmlformats.org/drawingml/2006/main">
              <a:ext uri="{FF2B5EF4-FFF2-40B4-BE49-F238E27FC236}">
                <a16:creationId xmlns:a16="http://schemas.microsoft.com/office/drawing/2014/main" id="{82CE265E-CBDC-4B2C-93A6-17DABE66EDA6}"/>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b014994c57094274"/>
              </a:rPr>
              <a:t>Java: HashCodeExamples.java</a:t>
            </a:r>
          </a:p>
        </p:txBody>
      </p:sp>
    </p:spTree>
    <p:extLst>
      <p:ext uri="{BB962C8B-B14F-4D97-AF65-F5344CB8AC3E}">
        <p14:creationId xmlns:p14="http://schemas.microsoft.com/office/powerpoint/2010/main" val="12164461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8CEDDA-8A85-40D8-9D1D-2391B48D2ED3}"/>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Hashing an object with several fields</a:t>
            </a:r>
          </a:p>
        </p:txBody>
      </p:sp>
      <p:sp>
        <p:nvSpPr>
          <p:cNvPr id="2" name="">
            <a:extLst xmlns:a="http://schemas.openxmlformats.org/drawingml/2006/main">
              <a:ext uri="{FF2B5EF4-FFF2-40B4-BE49-F238E27FC236}">
                <a16:creationId xmlns:a16="http://schemas.microsoft.com/office/drawing/2014/main" id="{4D1DE6D4-986E-41EC-8FA5-045D651FA52E}"/>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7BEDB9E6-D664-4652-B70C-10E88FECD4B5}"/>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11CEF32C-1040-4D04-B944-7297A848FB60}"/>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Choose the fields that determine equality.</a:t>
            </a:r>
          </a:p>
        </p:txBody>
      </p:sp>
      <p:sp>
        <p:nvSpPr>
          <p:cNvPr id="5" name="">
            <a:extLst xmlns:a="http://schemas.openxmlformats.org/drawingml/2006/main">
              <a:ext uri="{FF2B5EF4-FFF2-40B4-BE49-F238E27FC236}">
                <a16:creationId xmlns:a16="http://schemas.microsoft.com/office/drawing/2014/main" id="{D1CD4CE9-C2E2-4FF9-8C44-D2FD4AAAE143}"/>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Combine their hash codes so each can affect the result.</a:t>
            </a:r>
          </a:p>
        </p:txBody>
      </p:sp>
      <p:sp>
        <p:nvSpPr>
          <p:cNvPr id="6" name="">
            <a:extLst xmlns:a="http://schemas.openxmlformats.org/drawingml/2006/main">
              <a:ext uri="{FF2B5EF4-FFF2-40B4-BE49-F238E27FC236}">
                <a16:creationId xmlns:a16="http://schemas.microsoft.com/office/drawing/2014/main" id="{FC853DDD-3EF4-417A-BBE6-D3FC3EC7A61A}"/>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Exclude fields that vary independently of equality.</a:t>
            </a:r>
          </a:p>
        </p:txBody>
      </p:sp>
      <p:sp>
        <p:nvSpPr>
          <p:cNvPr id="7" name="">
            <a:extLst xmlns:a="http://schemas.openxmlformats.org/drawingml/2006/main">
              <a:ext uri="{FF2B5EF4-FFF2-40B4-BE49-F238E27FC236}">
                <a16:creationId xmlns:a16="http://schemas.microsoft.com/office/drawing/2014/main" id="{46387A3F-291F-443F-80BF-8F4AE6D4A806}"/>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Balance computation cost against collision frequency.</a:t>
            </a:r>
          </a:p>
        </p:txBody>
      </p:sp>
      <p:sp>
        <p:nvSpPr>
          <p:cNvPr id="9" name="local-java-PersonKey">
            <a:extLst xmlns:a="http://schemas.openxmlformats.org/drawingml/2006/main">
              <a:ext uri="{FF2B5EF4-FFF2-40B4-BE49-F238E27FC236}">
                <a16:creationId xmlns:a16="http://schemas.microsoft.com/office/drawing/2014/main" id="{8BEEC10E-6AB2-4F31-B280-A3DF99B6859B}"/>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9bf120dabdcb42a3"/>
              </a:rPr>
              <a:t>Java: PersonKey.java</a:t>
            </a:r>
          </a:p>
        </p:txBody>
      </p:sp>
      <p:sp>
        <p:nvSpPr>
          <p:cNvPr id="10" name="local-java-PersonKeyDemo">
            <a:extLst xmlns:a="http://schemas.openxmlformats.org/drawingml/2006/main">
              <a:ext uri="{FF2B5EF4-FFF2-40B4-BE49-F238E27FC236}">
                <a16:creationId xmlns:a16="http://schemas.microsoft.com/office/drawing/2014/main" id="{D5FAC07A-BADA-48A3-999F-6514CD73E75C}"/>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7e555a82da7241a7"/>
              </a:rPr>
              <a:t>Java: PersonKeyDemo.java</a:t>
            </a:r>
          </a:p>
        </p:txBody>
      </p:sp>
    </p:spTree>
    <p:extLst>
      <p:ext uri="{BB962C8B-B14F-4D97-AF65-F5344CB8AC3E}">
        <p14:creationId xmlns:p14="http://schemas.microsoft.com/office/powerpoint/2010/main" val="18069210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D25DF0-80A8-4683-97D6-ECE507D00DFA}"/>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Compression produces a valid index</a:t>
            </a:r>
          </a:p>
        </p:txBody>
      </p:sp>
      <p:sp>
        <p:nvSpPr>
          <p:cNvPr id="2" name="">
            <a:extLst xmlns:a="http://schemas.openxmlformats.org/drawingml/2006/main">
              <a:ext uri="{FF2B5EF4-FFF2-40B4-BE49-F238E27FC236}">
                <a16:creationId xmlns:a16="http://schemas.microsoft.com/office/drawing/2014/main" id="{8812ED5C-7A84-40CF-934B-5D520739B38F}"/>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60BDE809-D82E-4A11-994D-8DD0AD52B5A3}"/>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8C569543-52E5-48B0-A1C7-A02EFA0856BB}"/>
              </a:ext>
            </a:extLst>
          </p:cNvPr>
          <p:cNvSpPr>
            <a:spLocks xmlns:a="http://schemas.openxmlformats.org/drawingml/2006/main" noGrp="1"/>
          </p:cNvSpPr>
          <p:nvPr/>
        </p:nvSpPr>
        <p:spPr>
          <a:xfrm xmlns:a="http://schemas.openxmlformats.org/drawingml/2006/main">
            <a:off x="571500" y="1476375"/>
            <a:ext cx="11049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2B4D"/>
                </a:solidFill>
                <a:latin typeface="Consolas"/>
                <a:ea typeface="Consolas"/>
                <a:cs typeface="Consolas"/>
              </a:defRPr>
            </a:defPPr>
            <a:lvl1pPr>
              <a:buNone/>
              <a:defRPr sz="1875" b="0">
                <a:solidFill>
                  <a:srgbClr val="172B4D"/>
                </a:solidFill>
                <a:latin typeface="Consolas"/>
                <a:ea typeface="Consolas"/>
                <a:cs typeface="Consolas"/>
              </a:defRPr>
            </a:lvl1pPr>
            <a:lvl2pPr>
              <a:buNone/>
              <a:defRPr sz="1875" b="0">
                <a:solidFill>
                  <a:srgbClr val="172B4D"/>
                </a:solidFill>
                <a:latin typeface="Consolas"/>
                <a:ea typeface="Consolas"/>
                <a:cs typeface="Consolas"/>
              </a:defRPr>
            </a:lvl2pPr>
            <a:lvl3pPr>
              <a:buNone/>
              <a:defRPr sz="1875" b="0">
                <a:solidFill>
                  <a:srgbClr val="172B4D"/>
                </a:solidFill>
                <a:latin typeface="Consolas"/>
                <a:ea typeface="Consolas"/>
                <a:cs typeface="Consolas"/>
              </a:defRPr>
            </a:lvl3pPr>
            <a:lvl4pPr>
              <a:buNone/>
              <a:defRPr sz="1875" b="0">
                <a:solidFill>
                  <a:srgbClr val="172B4D"/>
                </a:solidFill>
                <a:latin typeface="Consolas"/>
                <a:ea typeface="Consolas"/>
                <a:cs typeface="Consolas"/>
              </a:defRPr>
            </a:lvl4pPr>
            <a:lvl5pPr>
              <a:buNone/>
              <a:defRPr sz="1875" b="0">
                <a:solidFill>
                  <a:srgbClr val="172B4D"/>
                </a:solidFill>
                <a:latin typeface="Consolas"/>
                <a:ea typeface="Consolas"/>
                <a:cs typeface="Consolas"/>
              </a:defRPr>
            </a:lvl5pPr>
            <a:lvl6pPr>
              <a:buNone/>
              <a:defRPr sz="1875" b="0">
                <a:solidFill>
                  <a:srgbClr val="172B4D"/>
                </a:solidFill>
                <a:latin typeface="Consolas"/>
                <a:ea typeface="Consolas"/>
                <a:cs typeface="Consolas"/>
              </a:defRPr>
            </a:lvl6pPr>
            <a:lvl7pPr>
              <a:buNone/>
              <a:defRPr sz="1875" b="0">
                <a:solidFill>
                  <a:srgbClr val="172B4D"/>
                </a:solidFill>
                <a:latin typeface="Consolas"/>
                <a:ea typeface="Consolas"/>
                <a:cs typeface="Consolas"/>
              </a:defRPr>
            </a:lvl7pPr>
            <a:lvl8pPr>
              <a:buNone/>
              <a:defRPr sz="1875" b="0">
                <a:solidFill>
                  <a:srgbClr val="172B4D"/>
                </a:solidFill>
                <a:latin typeface="Consolas"/>
                <a:ea typeface="Consolas"/>
                <a:cs typeface="Consolas"/>
              </a:defRPr>
            </a:lvl8pPr>
            <a:lvl9pPr>
              <a:buNone/>
              <a:defRPr sz="1875" b="0">
                <a:solidFill>
                  <a:srgbClr val="172B4D"/>
                </a:solidFill>
                <a:latin typeface="Consolas"/>
                <a:ea typeface="Consolas"/>
                <a:cs typeface="Consolas"/>
              </a:defRPr>
            </a:lvl9pPr>
          </a:lstStyle>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Any positive table capacity m</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int index = Math.floorMod(hashCode, m);</a:t>
            </a:r>
          </a:p>
          <a:p xmlns:a="http://schemas.openxmlformats.org/drawingml/2006/main">
            <a:r>
              <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Only when m is a power of two</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int index2 = mixedHash &amp; (m - 1);</a:t>
            </a:r>
          </a:p>
        </p:txBody>
      </p:sp>
      <p:sp>
        <p:nvSpPr>
          <p:cNvPr id="5" name="">
            <a:extLst xmlns:a="http://schemas.openxmlformats.org/drawingml/2006/main">
              <a:ext uri="{FF2B5EF4-FFF2-40B4-BE49-F238E27FC236}">
                <a16:creationId xmlns:a16="http://schemas.microsoft.com/office/drawing/2014/main" id="{D3E3A42F-36DC-41CD-8026-FD50B2CDB12C}"/>
              </a:ext>
            </a:extLst>
          </p:cNvPr>
          <p:cNvSpPr>
            <a:spLocks xmlns:a="http://schemas.openxmlformats.org/drawingml/2006/main" noGrp="1"/>
          </p:cNvSpPr>
          <p:nvPr/>
        </p:nvSpPr>
        <p:spPr>
          <a:xfrm xmlns:a="http://schemas.openxmlformats.org/drawingml/2006/main">
            <a:off x="571500" y="53340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Java % can return a negative result for a negative hash code.</a:t>
            </a:r>
          </a:p>
        </p:txBody>
      </p:sp>
      <p:sp>
        <p:nvSpPr>
          <p:cNvPr id="6" name="">
            <a:extLst xmlns:a="http://schemas.openxmlformats.org/drawingml/2006/main">
              <a:ext uri="{FF2B5EF4-FFF2-40B4-BE49-F238E27FC236}">
                <a16:creationId xmlns:a16="http://schemas.microsoft.com/office/drawing/2014/main" id="{8D6634ED-AD8B-4B29-B503-A5F405D02D61}"/>
              </a:ext>
            </a:extLst>
          </p:cNvPr>
          <p:cNvSpPr>
            <a:spLocks xmlns:a="http://schemas.openxmlformats.org/drawingml/2006/main" noGrp="1"/>
          </p:cNvSpPr>
          <p:nvPr/>
        </p:nvSpPr>
        <p:spPr>
          <a:xfrm xmlns:a="http://schemas.openxmlformats.org/drawingml/2006/main">
            <a:off x="571500" y="58102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Bit masking needs a power-of-two capacity and suitable bit mixing.</a:t>
            </a:r>
          </a:p>
        </p:txBody>
      </p:sp>
      <p:sp>
        <p:nvSpPr>
          <p:cNvPr id="8" name="local-java-HashCodeExamples">
            <a:extLst xmlns:a="http://schemas.openxmlformats.org/drawingml/2006/main">
              <a:ext uri="{FF2B5EF4-FFF2-40B4-BE49-F238E27FC236}">
                <a16:creationId xmlns:a16="http://schemas.microsoft.com/office/drawing/2014/main" id="{075D2247-681C-4E41-A0AC-B4FDCC43A576}"/>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6553150190d04edd"/>
              </a:rPr>
              <a:t>Java: HashCodeExamples.java</a:t>
            </a:r>
          </a:p>
        </p:txBody>
      </p:sp>
    </p:spTree>
    <p:extLst>
      <p:ext uri="{BB962C8B-B14F-4D97-AF65-F5344CB8AC3E}">
        <p14:creationId xmlns:p14="http://schemas.microsoft.com/office/powerpoint/2010/main" val="19708735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822C59-10F4-480A-AF89-8E8778AE69A6}"/>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Two families of collision resolution</a:t>
            </a:r>
          </a:p>
        </p:txBody>
      </p:sp>
      <p:sp>
        <p:nvSpPr>
          <p:cNvPr id="2" name="">
            <a:extLst xmlns:a="http://schemas.openxmlformats.org/drawingml/2006/main">
              <a:ext uri="{FF2B5EF4-FFF2-40B4-BE49-F238E27FC236}">
                <a16:creationId xmlns:a16="http://schemas.microsoft.com/office/drawing/2014/main" id="{174ADF36-9846-4824-88A0-42B6FBD625EB}"/>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F618701C-1B4E-4524-8FF8-1C4CBA5A5782}"/>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F01B0256-D649-47AA-9587-4FB15BC98F90}"/>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3619500"/>
                <a:gridCol w="7429500"/>
              </a:tblGrid>
              <a:tr h="1333500">
                <a:tc>
                  <a:txBody>
                    <a:bodyPr/>
                    <a:lstStyle/>
                    <a:p>
                      <a:r>
                        <a:rPr sz="1875" b="1">
                          <a:solidFill>
                            <a:srgbClr val="FFFFFF"/>
                          </a:solidFill>
                          <a:latin typeface="Arial"/>
                          <a:ea typeface="Arial"/>
                          <a:cs typeface="Arial"/>
                        </a:rPr>
                        <a:t>Method</a:t>
                      </a:r>
                    </a:p>
                  </a:txBody>
                  <a:tcPr marL="91440" marR="91440" marT="45720" marB="45720">
                    <a:solidFill>
                      <a:srgbClr val="24583E"/>
                    </a:solidFill>
                  </a:tcPr>
                </a:tc>
                <a:tc>
                  <a:txBody>
                    <a:bodyPr/>
                    <a:lstStyle/>
                    <a:p>
                      <a:r>
                        <a:rPr sz="1875" b="1">
                          <a:solidFill>
                            <a:srgbClr val="FFFFFF"/>
                          </a:solidFill>
                          <a:latin typeface="Arial"/>
                          <a:ea typeface="Arial"/>
                          <a:cs typeface="Arial"/>
                        </a:rPr>
                        <a:t>Where colliding entries go</a:t>
                      </a:r>
                    </a:p>
                  </a:txBody>
                  <a:tcPr marL="91440" marR="91440" marT="45720" marB="45720">
                    <a:solidFill>
                      <a:srgbClr val="24583E"/>
                    </a:solidFill>
                  </a:tcPr>
                </a:tc>
              </a:tr>
              <a:tr h="1333500">
                <a:tc>
                  <a:txBody>
                    <a:bodyPr/>
                    <a:lstStyle/>
                    <a:p>
                      <a:r>
                        <a:rPr sz="1875" b="0">
                          <a:solidFill>
                            <a:srgbClr val="203040"/>
                          </a:solidFill>
                          <a:latin typeface="Arial"/>
                          <a:ea typeface="Arial"/>
                          <a:cs typeface="Arial"/>
                        </a:rPr>
                        <a:t>Open addressing</a:t>
                      </a:r>
                    </a:p>
                  </a:txBody>
                  <a:tcPr marL="91440" marR="91440" marT="45720" marB="45720">
                    <a:solidFill>
                      <a:srgbClr val="F0F3F1"/>
                    </a:solidFill>
                  </a:tcPr>
                </a:tc>
                <a:tc>
                  <a:txBody>
                    <a:bodyPr/>
                    <a:lstStyle/>
                    <a:p>
                      <a:r>
                        <a:rPr sz="1875" b="0">
                          <a:solidFill>
                            <a:srgbClr val="203040"/>
                          </a:solidFill>
                          <a:latin typeface="Arial"/>
                          <a:ea typeface="Arial"/>
                          <a:cs typeface="Arial"/>
                        </a:rPr>
                        <a:t>Other slots in the same array, using a probe sequence</a:t>
                      </a:r>
                    </a:p>
                  </a:txBody>
                  <a:tcPr marL="91440" marR="91440" marT="45720" marB="45720">
                    <a:solidFill>
                      <a:srgbClr val="F0F3F1"/>
                    </a:solidFill>
                  </a:tcPr>
                </a:tc>
              </a:tr>
              <a:tr h="1333500">
                <a:tc>
                  <a:txBody>
                    <a:bodyPr/>
                    <a:lstStyle/>
                    <a:p>
                      <a:r>
                        <a:rPr sz="1875" b="0">
                          <a:solidFill>
                            <a:srgbClr val="203040"/>
                          </a:solidFill>
                          <a:latin typeface="Arial"/>
                          <a:ea typeface="Arial"/>
                          <a:cs typeface="Arial"/>
                        </a:rPr>
                        <a:t>Separate chaining</a:t>
                      </a:r>
                    </a:p>
                  </a:txBody>
                  <a:tcPr marL="91440" marR="91440" marT="45720" marB="45720">
                    <a:solidFill>
                      <a:srgbClr val="FFFFFF"/>
                    </a:solidFill>
                  </a:tcPr>
                </a:tc>
                <a:tc>
                  <a:txBody>
                    <a:bodyPr/>
                    <a:lstStyle/>
                    <a:p>
                      <a:r>
                        <a:rPr sz="1875" b="0">
                          <a:solidFill>
                            <a:srgbClr val="203040"/>
                          </a:solidFill>
                          <a:latin typeface="Arial"/>
                          <a:ea typeface="Arial"/>
                          <a:cs typeface="Arial"/>
                        </a:rPr>
                        <a:t>A collection of entries attached to the home bucket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E2BCFB4-DE79-488F-9903-D4EC142F9C05}"/>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Resizing changes capacity. Reinsert entries using the new indexing rule.</a:t>
            </a:r>
          </a:p>
        </p:txBody>
      </p:sp>
      <p:sp>
        <p:nvSpPr>
          <p:cNvPr id="7" name="local-java-ProbeTable">
            <a:extLst xmlns:a="http://schemas.openxmlformats.org/drawingml/2006/main">
              <a:ext uri="{FF2B5EF4-FFF2-40B4-BE49-F238E27FC236}">
                <a16:creationId xmlns:a16="http://schemas.microsoft.com/office/drawing/2014/main" id="{36277205-A7DA-4279-9D74-DE8DD038F775}"/>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118ad285cf0f4bd3"/>
              </a:rPr>
              <a:t>Java: ProbeTable.java</a:t>
            </a:r>
          </a:p>
        </p:txBody>
      </p:sp>
      <p:sp>
        <p:nvSpPr>
          <p:cNvPr id="8" name="local-java-MyHashMap">
            <a:extLst xmlns:a="http://schemas.openxmlformats.org/drawingml/2006/main">
              <a:ext uri="{FF2B5EF4-FFF2-40B4-BE49-F238E27FC236}">
                <a16:creationId xmlns:a16="http://schemas.microsoft.com/office/drawing/2014/main" id="{AE879CF5-BE35-473D-B90E-507BC7F68CCB}"/>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dba01e69e4f64b1c"/>
              </a:rPr>
              <a:t>Java: MyHashMap.java</a:t>
            </a:r>
          </a:p>
        </p:txBody>
      </p:sp>
    </p:spTree>
    <p:extLst>
      <p:ext uri="{BB962C8B-B14F-4D97-AF65-F5344CB8AC3E}">
        <p14:creationId xmlns:p14="http://schemas.microsoft.com/office/powerpoint/2010/main" val="6839437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5D520F-2E86-4389-B395-33C452EFC9FA}"/>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Linear probing</a:t>
            </a:r>
          </a:p>
        </p:txBody>
      </p:sp>
      <p:sp>
        <p:nvSpPr>
          <p:cNvPr id="2" name="">
            <a:extLst xmlns:a="http://schemas.openxmlformats.org/drawingml/2006/main">
              <a:ext uri="{FF2B5EF4-FFF2-40B4-BE49-F238E27FC236}">
                <a16:creationId xmlns:a16="http://schemas.microsoft.com/office/drawing/2014/main" id="{0565CB31-3D21-4B38-BF7E-F215DCDBC5CE}"/>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EB554957-56D6-47D1-9EBA-435905479283}"/>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C0C71BCF-BBA8-4701-827C-C8B146222EDF}"/>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Probe i uses (h(key) + i) mod m, starting with i = 0.</a:t>
            </a:r>
          </a:p>
        </p:txBody>
      </p:sp>
      <p:sp>
        <p:nvSpPr>
          <p:cNvPr id="5" name="">
            <a:extLst xmlns:a="http://schemas.openxmlformats.org/drawingml/2006/main">
              <a:ext uri="{FF2B5EF4-FFF2-40B4-BE49-F238E27FC236}">
                <a16:creationId xmlns:a16="http://schemas.microsoft.com/office/drawing/2014/main" id="{0CE7EC9C-7704-466F-8E05-46A056152A94}"/>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Inspect consecutive slots and wrap from m - 1 to 0.</a:t>
            </a:r>
          </a:p>
        </p:txBody>
      </p:sp>
      <p:sp>
        <p:nvSpPr>
          <p:cNvPr id="6" name="">
            <a:extLst xmlns:a="http://schemas.openxmlformats.org/drawingml/2006/main">
              <a:ext uri="{FF2B5EF4-FFF2-40B4-BE49-F238E27FC236}">
                <a16:creationId xmlns:a16="http://schemas.microsoft.com/office/drawing/2014/main" id="{F9628DEB-40C6-4336-9CC2-AF2893BB790E}"/>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Lookup follows the same sequence used by insertion.</a:t>
            </a:r>
          </a:p>
        </p:txBody>
      </p:sp>
      <p:sp>
        <p:nvSpPr>
          <p:cNvPr id="7" name="">
            <a:extLst xmlns:a="http://schemas.openxmlformats.org/drawingml/2006/main">
              <a:ext uri="{FF2B5EF4-FFF2-40B4-BE49-F238E27FC236}">
                <a16:creationId xmlns:a16="http://schemas.microsoft.com/office/drawing/2014/main" id="{84D69B5E-3687-4633-8459-07C9C9622A36}"/>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Bound a search by m probes if no never-used slot appears.</a:t>
            </a:r>
          </a:p>
        </p:txBody>
      </p:sp>
      <p:sp>
        <p:nvSpPr>
          <p:cNvPr id="9" name="local-java-ProbeTable">
            <a:extLst xmlns:a="http://schemas.openxmlformats.org/drawingml/2006/main">
              <a:ext uri="{FF2B5EF4-FFF2-40B4-BE49-F238E27FC236}">
                <a16:creationId xmlns:a16="http://schemas.microsoft.com/office/drawing/2014/main" id="{3D0D82E1-AC7B-490F-8A32-AD6E13F73564}"/>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2e22a0bce10c43ec"/>
              </a:rPr>
              <a:t>Java: ProbeTable.java</a:t>
            </a:r>
          </a:p>
        </p:txBody>
      </p:sp>
    </p:spTree>
    <p:extLst>
      <p:ext uri="{BB962C8B-B14F-4D97-AF65-F5344CB8AC3E}">
        <p14:creationId xmlns:p14="http://schemas.microsoft.com/office/powerpoint/2010/main" val="15536363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3D298E-A898-4B5C-847E-772EE1B35B8A}"/>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Linear probing: a complete insertion trace</a:t>
            </a:r>
          </a:p>
        </p:txBody>
      </p:sp>
      <p:sp>
        <p:nvSpPr>
          <p:cNvPr id="2" name="">
            <a:extLst xmlns:a="http://schemas.openxmlformats.org/drawingml/2006/main">
              <a:ext uri="{FF2B5EF4-FFF2-40B4-BE49-F238E27FC236}">
                <a16:creationId xmlns:a16="http://schemas.microsoft.com/office/drawing/2014/main" id="{FA955BDD-13F7-412D-9FF1-AE192EA2E553}"/>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DF83E730-1E75-48D2-949D-E98A98A43C34}"/>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BC728124-EE91-4742-8C5A-AC9894DD5965}"/>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1714500"/>
                <a:gridCol w="1714500"/>
                <a:gridCol w="5524500"/>
                <a:gridCol w="2095500"/>
              </a:tblGrid>
              <a:tr h="666750">
                <a:tc>
                  <a:txBody>
                    <a:bodyPr/>
                    <a:lstStyle/>
                    <a:p>
                      <a:r>
                        <a:rPr sz="1875" b="1">
                          <a:solidFill>
                            <a:srgbClr val="FFFFFF"/>
                          </a:solidFill>
                          <a:latin typeface="Arial"/>
                          <a:ea typeface="Arial"/>
                          <a:cs typeface="Arial"/>
                        </a:rPr>
                        <a:t>Key</a:t>
                      </a:r>
                    </a:p>
                  </a:txBody>
                  <a:tcPr marL="91440" marR="91440" marT="45720" marB="45720">
                    <a:solidFill>
                      <a:srgbClr val="24583E"/>
                    </a:solidFill>
                  </a:tcPr>
                </a:tc>
                <a:tc>
                  <a:txBody>
                    <a:bodyPr/>
                    <a:lstStyle/>
                    <a:p>
                      <a:r>
                        <a:rPr sz="1875" b="1">
                          <a:solidFill>
                            <a:srgbClr val="FFFFFF"/>
                          </a:solidFill>
                          <a:latin typeface="Arial"/>
                          <a:ea typeface="Arial"/>
                          <a:cs typeface="Arial"/>
                        </a:rPr>
                        <a:t>Home</a:t>
                      </a:r>
                    </a:p>
                  </a:txBody>
                  <a:tcPr marL="91440" marR="91440" marT="45720" marB="45720">
                    <a:solidFill>
                      <a:srgbClr val="24583E"/>
                    </a:solidFill>
                  </a:tcPr>
                </a:tc>
                <a:tc>
                  <a:txBody>
                    <a:bodyPr/>
                    <a:lstStyle/>
                    <a:p>
                      <a:r>
                        <a:rPr sz="1875" b="1">
                          <a:solidFill>
                            <a:srgbClr val="FFFFFF"/>
                          </a:solidFill>
                          <a:latin typeface="Arial"/>
                          <a:ea typeface="Arial"/>
                          <a:cs typeface="Arial"/>
                        </a:rPr>
                        <a:t>Slots inspected</a:t>
                      </a:r>
                    </a:p>
                  </a:txBody>
                  <a:tcPr marL="91440" marR="91440" marT="45720" marB="45720">
                    <a:solidFill>
                      <a:srgbClr val="24583E"/>
                    </a:solidFill>
                  </a:tcPr>
                </a:tc>
                <a:tc>
                  <a:txBody>
                    <a:bodyPr/>
                    <a:lstStyle/>
                    <a:p>
                      <a:r>
                        <a:rPr sz="1875" b="1">
                          <a:solidFill>
                            <a:srgbClr val="FFFFFF"/>
                          </a:solidFill>
                          <a:latin typeface="Arial"/>
                          <a:ea typeface="Arial"/>
                          <a:cs typeface="Arial"/>
                        </a:rPr>
                        <a:t>Stored at</a:t>
                      </a:r>
                    </a:p>
                  </a:txBody>
                  <a:tcPr marL="91440" marR="91440" marT="45720" marB="45720">
                    <a:solidFill>
                      <a:srgbClr val="24583E"/>
                    </a:solidFill>
                  </a:tcPr>
                </a:tc>
              </a:tr>
              <a:tr h="666750">
                <a:tc>
                  <a:txBody>
                    <a:bodyPr/>
                    <a:lstStyle/>
                    <a:p>
                      <a:r>
                        <a:rPr sz="1875" b="0">
                          <a:solidFill>
                            <a:srgbClr val="203040"/>
                          </a:solidFill>
                          <a:latin typeface="Arial"/>
                          <a:ea typeface="Arial"/>
                          <a:cs typeface="Arial"/>
                        </a:rPr>
                        <a:t>38</a:t>
                      </a:r>
                    </a:p>
                  </a:txBody>
                  <a:tcPr marL="91440" marR="91440" marT="45720" marB="45720">
                    <a:solidFill>
                      <a:srgbClr val="F0F3F1"/>
                    </a:solidFill>
                  </a:tcPr>
                </a:tc>
                <a:tc>
                  <a:txBody>
                    <a:bodyPr/>
                    <a:lstStyle/>
                    <a:p>
                      <a:r>
                        <a:rPr sz="1875" b="0">
                          <a:solidFill>
                            <a:srgbClr val="203040"/>
                          </a:solidFill>
                          <a:latin typeface="Arial"/>
                          <a:ea typeface="Arial"/>
                          <a:cs typeface="Arial"/>
                        </a:rPr>
                        <a:t>8</a:t>
                      </a:r>
                    </a:p>
                  </a:txBody>
                  <a:tcPr marL="91440" marR="91440" marT="45720" marB="45720">
                    <a:solidFill>
                      <a:srgbClr val="F0F3F1"/>
                    </a:solidFill>
                  </a:tcPr>
                </a:tc>
                <a:tc>
                  <a:txBody>
                    <a:bodyPr/>
                    <a:lstStyle/>
                    <a:p>
                      <a:r>
                        <a:rPr sz="1875" b="0">
                          <a:solidFill>
                            <a:srgbClr val="203040"/>
                          </a:solidFill>
                          <a:latin typeface="Arial"/>
                          <a:ea typeface="Arial"/>
                          <a:cs typeface="Arial"/>
                        </a:rPr>
                        <a:t>8</a:t>
                      </a:r>
                    </a:p>
                  </a:txBody>
                  <a:tcPr marL="91440" marR="91440" marT="45720" marB="45720">
                    <a:solidFill>
                      <a:srgbClr val="F0F3F1"/>
                    </a:solidFill>
                  </a:tcPr>
                </a:tc>
                <a:tc>
                  <a:txBody>
                    <a:bodyPr/>
                    <a:lstStyle/>
                    <a:p>
                      <a:r>
                        <a:rPr sz="1875" b="0">
                          <a:solidFill>
                            <a:srgbClr val="203040"/>
                          </a:solidFill>
                          <a:latin typeface="Arial"/>
                          <a:ea typeface="Arial"/>
                          <a:cs typeface="Arial"/>
                        </a:rPr>
                        <a:t>8</a:t>
                      </a:r>
                    </a:p>
                  </a:txBody>
                  <a:tcPr marL="91440" marR="91440" marT="45720" marB="45720">
                    <a:solidFill>
                      <a:srgbClr val="F0F3F1"/>
                    </a:solidFill>
                  </a:tcPr>
                </a:tc>
              </a:tr>
              <a:tr h="666750">
                <a:tc>
                  <a:txBody>
                    <a:bodyPr/>
                    <a:lstStyle/>
                    <a:p>
                      <a:r>
                        <a:rPr sz="1875" b="0">
                          <a:solidFill>
                            <a:srgbClr val="203040"/>
                          </a:solidFill>
                          <a:latin typeface="Arial"/>
                          <a:ea typeface="Arial"/>
                          <a:cs typeface="Arial"/>
                        </a:rPr>
                        <a:t>19</a:t>
                      </a:r>
                    </a:p>
                  </a:txBody>
                  <a:tcPr marL="91440" marR="91440" marT="45720" marB="45720">
                    <a:solidFill>
                      <a:srgbClr val="FFFFFF"/>
                    </a:solidFill>
                  </a:tcPr>
                </a:tc>
                <a:tc>
                  <a:txBody>
                    <a:bodyPr/>
                    <a:lstStyle/>
                    <a:p>
                      <a:r>
                        <a:rPr sz="1875" b="0">
                          <a:solidFill>
                            <a:srgbClr val="203040"/>
                          </a:solidFill>
                          <a:latin typeface="Arial"/>
                          <a:ea typeface="Arial"/>
                          <a:cs typeface="Arial"/>
                        </a:rPr>
                        <a:t>9</a:t>
                      </a:r>
                    </a:p>
                  </a:txBody>
                  <a:tcPr marL="91440" marR="91440" marT="45720" marB="45720">
                    <a:solidFill>
                      <a:srgbClr val="FFFFFF"/>
                    </a:solidFill>
                  </a:tcPr>
                </a:tc>
                <a:tc>
                  <a:txBody>
                    <a:bodyPr/>
                    <a:lstStyle/>
                    <a:p>
                      <a:r>
                        <a:rPr sz="1875" b="0">
                          <a:solidFill>
                            <a:srgbClr val="203040"/>
                          </a:solidFill>
                          <a:latin typeface="Arial"/>
                          <a:ea typeface="Arial"/>
                          <a:cs typeface="Arial"/>
                        </a:rPr>
                        <a:t>9</a:t>
                      </a:r>
                    </a:p>
                  </a:txBody>
                  <a:tcPr marL="91440" marR="91440" marT="45720" marB="45720">
                    <a:solidFill>
                      <a:srgbClr val="FFFFFF"/>
                    </a:solidFill>
                  </a:tcPr>
                </a:tc>
                <a:tc>
                  <a:txBody>
                    <a:bodyPr/>
                    <a:lstStyle/>
                    <a:p>
                      <a:r>
                        <a:rPr sz="1875" b="0">
                          <a:solidFill>
                            <a:srgbClr val="203040"/>
                          </a:solidFill>
                          <a:latin typeface="Arial"/>
                          <a:ea typeface="Arial"/>
                          <a:cs typeface="Arial"/>
                        </a:rPr>
                        <a:t>9</a:t>
                      </a:r>
                    </a:p>
                  </a:txBody>
                  <a:tcPr marL="91440" marR="91440" marT="45720" marB="45720">
                    <a:solidFill>
                      <a:srgbClr val="FFFFFF"/>
                    </a:solidFill>
                  </a:tcPr>
                </a:tc>
              </a:tr>
              <a:tr h="666750">
                <a:tc>
                  <a:txBody>
                    <a:bodyPr/>
                    <a:lstStyle/>
                    <a:p>
                      <a:r>
                        <a:rPr sz="1875" b="0">
                          <a:solidFill>
                            <a:srgbClr val="203040"/>
                          </a:solidFill>
                          <a:latin typeface="Arial"/>
                          <a:ea typeface="Arial"/>
                          <a:cs typeface="Arial"/>
                        </a:rPr>
                        <a:t>8</a:t>
                      </a:r>
                    </a:p>
                  </a:txBody>
                  <a:tcPr marL="91440" marR="91440" marT="45720" marB="45720">
                    <a:solidFill>
                      <a:srgbClr val="F0F3F1"/>
                    </a:solidFill>
                  </a:tcPr>
                </a:tc>
                <a:tc>
                  <a:txBody>
                    <a:bodyPr/>
                    <a:lstStyle/>
                    <a:p>
                      <a:r>
                        <a:rPr sz="1875" b="0">
                          <a:solidFill>
                            <a:srgbClr val="203040"/>
                          </a:solidFill>
                          <a:latin typeface="Arial"/>
                          <a:ea typeface="Arial"/>
                          <a:cs typeface="Arial"/>
                        </a:rPr>
                        <a:t>8</a:t>
                      </a:r>
                    </a:p>
                  </a:txBody>
                  <a:tcPr marL="91440" marR="91440" marT="45720" marB="45720">
                    <a:solidFill>
                      <a:srgbClr val="F0F3F1"/>
                    </a:solidFill>
                  </a:tcPr>
                </a:tc>
                <a:tc>
                  <a:txBody>
                    <a:bodyPr/>
                    <a:lstStyle/>
                    <a:p>
                      <a:r>
                        <a:rPr sz="1875" b="0">
                          <a:solidFill>
                            <a:srgbClr val="203040"/>
                          </a:solidFill>
                          <a:latin typeface="Arial"/>
                          <a:ea typeface="Arial"/>
                          <a:cs typeface="Arial"/>
                        </a:rPr>
                        <a:t>8, 9, 0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r>
              <a:tr h="666750">
                <a:tc>
                  <a:txBody>
                    <a:bodyPr/>
                    <a:lstStyle/>
                    <a:p>
                      <a:r>
                        <a:rPr sz="1875" b="0">
                          <a:solidFill>
                            <a:srgbClr val="203040"/>
                          </a:solidFill>
                          <a:latin typeface="Arial"/>
                          <a:ea typeface="Arial"/>
                          <a:cs typeface="Arial"/>
                        </a:rPr>
                        <a:t>79</a:t>
                      </a:r>
                    </a:p>
                  </a:txBody>
                  <a:tcPr marL="91440" marR="91440" marT="45720" marB="45720">
                    <a:solidFill>
                      <a:srgbClr val="FFFFFF"/>
                    </a:solidFill>
                  </a:tcPr>
                </a:tc>
                <a:tc>
                  <a:txBody>
                    <a:bodyPr/>
                    <a:lstStyle/>
                    <a:p>
                      <a:r>
                        <a:rPr sz="1875" b="0">
                          <a:solidFill>
                            <a:srgbClr val="203040"/>
                          </a:solidFill>
                          <a:latin typeface="Arial"/>
                          <a:ea typeface="Arial"/>
                          <a:cs typeface="Arial"/>
                        </a:rPr>
                        <a:t>9</a:t>
                      </a:r>
                    </a:p>
                  </a:txBody>
                  <a:tcPr marL="91440" marR="91440" marT="45720" marB="45720">
                    <a:solidFill>
                      <a:srgbClr val="FFFFFF"/>
                    </a:solidFill>
                  </a:tcPr>
                </a:tc>
                <a:tc>
                  <a:txBody>
                    <a:bodyPr/>
                    <a:lstStyle/>
                    <a:p>
                      <a:r>
                        <a:rPr sz="1875" b="0">
                          <a:solidFill>
                            <a:srgbClr val="203040"/>
                          </a:solidFill>
                          <a:latin typeface="Arial"/>
                          <a:ea typeface="Arial"/>
                          <a:cs typeface="Arial"/>
                        </a:rPr>
                        <a:t>9, 0, 1</a:t>
                      </a:r>
                    </a:p>
                  </a:txBody>
                  <a:tcPr marL="91440" marR="91440" marT="45720" marB="45720">
                    <a:solidFill>
                      <a:srgbClr val="FFFFFF"/>
                    </a:solidFill>
                  </a:tcPr>
                </a:tc>
                <a:tc>
                  <a:txBody>
                    <a:bodyPr/>
                    <a:lstStyle/>
                    <a:p>
                      <a:r>
                        <a:rPr sz="1875" b="0">
                          <a:solidFill>
                            <a:srgbClr val="203040"/>
                          </a:solidFill>
                          <a:latin typeface="Arial"/>
                          <a:ea typeface="Arial"/>
                          <a:cs typeface="Arial"/>
                        </a:rPr>
                        <a:t>1</a:t>
                      </a:r>
                    </a:p>
                  </a:txBody>
                  <a:tcPr marL="91440" marR="91440" marT="45720" marB="45720">
                    <a:solidFill>
                      <a:srgbClr val="FFFFFF"/>
                    </a:solidFill>
                  </a:tcPr>
                </a:tc>
              </a:tr>
              <a:tr h="666750">
                <a:tc>
                  <a:txBody>
                    <a:bodyPr/>
                    <a:lstStyle/>
                    <a:p>
                      <a:r>
                        <a:rPr sz="1875" b="0">
                          <a:solidFill>
                            <a:srgbClr val="203040"/>
                          </a:solidFill>
                          <a:latin typeface="Arial"/>
                          <a:ea typeface="Arial"/>
                          <a:cs typeface="Arial"/>
                        </a:rPr>
                        <a:t>10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c>
                  <a:txBody>
                    <a:bodyPr/>
                    <a:lstStyle/>
                    <a:p>
                      <a:r>
                        <a:rPr sz="1875" b="0">
                          <a:solidFill>
                            <a:srgbClr val="203040"/>
                          </a:solidFill>
                          <a:latin typeface="Arial"/>
                          <a:ea typeface="Arial"/>
                          <a:cs typeface="Arial"/>
                        </a:rPr>
                        <a:t>0, 1, 2</a:t>
                      </a:r>
                    </a:p>
                  </a:txBody>
                  <a:tcPr marL="91440" marR="91440" marT="45720" marB="45720">
                    <a:solidFill>
                      <a:srgbClr val="F0F3F1"/>
                    </a:solidFill>
                  </a:tcPr>
                </a:tc>
                <a:tc>
                  <a:txBody>
                    <a:bodyPr/>
                    <a:lstStyle/>
                    <a:p>
                      <a:r>
                        <a:rPr sz="1875" b="0">
                          <a:solidFill>
                            <a:srgbClr val="203040"/>
                          </a:solidFill>
                          <a:latin typeface="Arial"/>
                          <a:ea typeface="Arial"/>
                          <a:cs typeface="Arial"/>
                        </a:rPr>
                        <a:t>2</a:t>
                      </a:r>
                    </a:p>
                  </a:txBody>
                  <a:tcPr marL="91440" marR="91440" marT="45720" marB="45720">
                    <a:solidFill>
                      <a:srgbClr val="F0F3F1"/>
                    </a:solidFill>
                  </a:tcPr>
                </a:tc>
              </a:tr>
            </a:tbl>
          </a:graphicData>
        </a:graphic>
      </p:graphicFrame>
      <p:sp>
        <p:nvSpPr>
          <p:cNvPr id="5" name="">
            <a:extLst xmlns:a="http://schemas.openxmlformats.org/drawingml/2006/main">
              <a:ext uri="{FF2B5EF4-FFF2-40B4-BE49-F238E27FC236}">
                <a16:creationId xmlns:a16="http://schemas.microsoft.com/office/drawing/2014/main" id="{2E444965-24D2-4366-A4C5-CE06587DCC41}"/>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Capacity 10. Final occupied slots: 0:8, 1:79, 2:10, 8:38, 9:19.</a:t>
            </a:r>
          </a:p>
        </p:txBody>
      </p:sp>
      <p:sp>
        <p:nvSpPr>
          <p:cNvPr id="7" name="local-java-LinearProbingDemo">
            <a:extLst xmlns:a="http://schemas.openxmlformats.org/drawingml/2006/main">
              <a:ext uri="{FF2B5EF4-FFF2-40B4-BE49-F238E27FC236}">
                <a16:creationId xmlns:a16="http://schemas.microsoft.com/office/drawing/2014/main" id="{1F9F863A-CD59-4626-9CAA-EDBF3EF45970}"/>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364d00c15c504652"/>
              </a:rPr>
              <a:t>Java: LinearProbingDemo.java</a:t>
            </a:r>
          </a:p>
        </p:txBody>
      </p:sp>
    </p:spTree>
    <p:extLst>
      <p:ext uri="{BB962C8B-B14F-4D97-AF65-F5344CB8AC3E}">
        <p14:creationId xmlns:p14="http://schemas.microsoft.com/office/powerpoint/2010/main" val="122455908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99C6B1-1DBA-4CF2-A89A-5A6544291744}"/>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Primary clustering</a:t>
            </a:r>
          </a:p>
        </p:txBody>
      </p:sp>
      <p:sp>
        <p:nvSpPr>
          <p:cNvPr id="2" name="">
            <a:extLst xmlns:a="http://schemas.openxmlformats.org/drawingml/2006/main">
              <a:ext uri="{FF2B5EF4-FFF2-40B4-BE49-F238E27FC236}">
                <a16:creationId xmlns:a16="http://schemas.microsoft.com/office/drawing/2014/main" id="{B8007FD3-A21B-49C0-9B96-13FBBA3981BB}"/>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62FB8B78-5E4B-417A-BB0D-74B43491562A}"/>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A58D3FDC-AB7F-4B8F-B3EC-CB88555780F1}"/>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The occupied run spans slots 8, 9, 0, 1, 2.</a:t>
            </a:r>
          </a:p>
        </p:txBody>
      </p:sp>
      <p:sp>
        <p:nvSpPr>
          <p:cNvPr id="5" name="">
            <a:extLst xmlns:a="http://schemas.openxmlformats.org/drawingml/2006/main">
              <a:ext uri="{FF2B5EF4-FFF2-40B4-BE49-F238E27FC236}">
                <a16:creationId xmlns:a16="http://schemas.microsoft.com/office/drawing/2014/main" id="{8A87CF3C-07BF-4636-9213-37C36FCB9A55}"/>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Inserting 18 probes 8, 9, 0, 1, 2, 3 and stores at 3.</a:t>
            </a:r>
          </a:p>
        </p:txBody>
      </p:sp>
      <p:sp>
        <p:nvSpPr>
          <p:cNvPr id="6" name="">
            <a:extLst xmlns:a="http://schemas.openxmlformats.org/drawingml/2006/main">
              <a:ext uri="{FF2B5EF4-FFF2-40B4-BE49-F238E27FC236}">
                <a16:creationId xmlns:a16="http://schemas.microsoft.com/office/drawing/2014/main" id="{8A42AA52-14F8-46E7-8385-29A543991AFA}"/>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Keys whose home slots fall in the run extend the same cluster.</a:t>
            </a:r>
          </a:p>
        </p:txBody>
      </p:sp>
      <p:sp>
        <p:nvSpPr>
          <p:cNvPr id="7" name="">
            <a:extLst xmlns:a="http://schemas.openxmlformats.org/drawingml/2006/main">
              <a:ext uri="{FF2B5EF4-FFF2-40B4-BE49-F238E27FC236}">
                <a16:creationId xmlns:a16="http://schemas.microsoft.com/office/drawing/2014/main" id="{7A60733B-4AFB-40F6-8128-183829FC6263}"/>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Long clusters increase both lookup and insertion work.</a:t>
            </a:r>
          </a:p>
        </p:txBody>
      </p:sp>
      <p:sp>
        <p:nvSpPr>
          <p:cNvPr id="9" name="local-java-LinearProbingDemo">
            <a:extLst xmlns:a="http://schemas.openxmlformats.org/drawingml/2006/main">
              <a:ext uri="{FF2B5EF4-FFF2-40B4-BE49-F238E27FC236}">
                <a16:creationId xmlns:a16="http://schemas.microsoft.com/office/drawing/2014/main" id="{117018EF-7A1C-4BB2-BB60-43C23ADAE8BE}"/>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3a7cdd664be34f01"/>
              </a:rPr>
              <a:t>Java: LinearProbingDemo.java</a:t>
            </a:r>
          </a:p>
        </p:txBody>
      </p:sp>
    </p:spTree>
    <p:extLst>
      <p:ext uri="{BB962C8B-B14F-4D97-AF65-F5344CB8AC3E}">
        <p14:creationId xmlns:p14="http://schemas.microsoft.com/office/powerpoint/2010/main" val="20258782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693E57-335B-48BF-8959-322830E84A8C}"/>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Open-addressed deletion preserves the trail</a:t>
            </a:r>
          </a:p>
        </p:txBody>
      </p:sp>
      <p:sp>
        <p:nvSpPr>
          <p:cNvPr id="2" name="">
            <a:extLst xmlns:a="http://schemas.openxmlformats.org/drawingml/2006/main">
              <a:ext uri="{FF2B5EF4-FFF2-40B4-BE49-F238E27FC236}">
                <a16:creationId xmlns:a16="http://schemas.microsoft.com/office/drawing/2014/main" id="{13FBD06B-955D-41E9-AD7D-EC2FB61349D6}"/>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8FBF7D31-7DA1-4FC9-97C6-58BCA73D5944}"/>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56A42109-6DDC-4A82-8CA4-51CB2954C912}"/>
              </a:ext>
            </a:extLst>
          </p:cNvPr>
          <p:cNvGraphicFramePr/>
          <p:nvPr/>
        </p:nvGraphicFramePr>
        <p:xfrm>
          <a:off xmlns:a="http://schemas.openxmlformats.org/drawingml/2006/main" x="571500" y="1428750"/>
          <a:ext xmlns:a="http://schemas.openxmlformats.org/drawingml/2006/main" cx="11049000" cy="3143250"/>
        </p:xfrm>
        <a:graphic xmlns:a="http://schemas.openxmlformats.org/drawingml/2006/main">
          <a:graphicData uri="http://schemas.openxmlformats.org/drawingml/2006/table">
            <a:tbl>
              <a:tblPr/>
              <a:tblGrid>
                <a:gridCol w="2476500"/>
                <a:gridCol w="4286250"/>
                <a:gridCol w="4286250"/>
              </a:tblGrid>
              <a:tr h="785813">
                <a:tc>
                  <a:txBody>
                    <a:bodyPr/>
                    <a:lstStyle/>
                    <a:p>
                      <a:r>
                        <a:rPr sz="1800" b="1">
                          <a:solidFill>
                            <a:srgbClr val="FFFFFF"/>
                          </a:solidFill>
                          <a:latin typeface="Arial"/>
                          <a:ea typeface="Arial"/>
                          <a:cs typeface="Arial"/>
                        </a:rPr>
                        <a:t>Slot state</a:t>
                      </a:r>
                    </a:p>
                  </a:txBody>
                  <a:tcPr marL="91440" marR="91440" marT="45720" marB="45720">
                    <a:solidFill>
                      <a:srgbClr val="24583E"/>
                    </a:solidFill>
                  </a:tcPr>
                </a:tc>
                <a:tc>
                  <a:txBody>
                    <a:bodyPr/>
                    <a:lstStyle/>
                    <a:p>
                      <a:r>
                        <a:rPr sz="1800" b="1">
                          <a:solidFill>
                            <a:srgbClr val="FFFFFF"/>
                          </a:solidFill>
                          <a:latin typeface="Arial"/>
                          <a:ea typeface="Arial"/>
                          <a:cs typeface="Arial"/>
                        </a:rPr>
                        <a:t>Lookup action</a:t>
                      </a:r>
                    </a:p>
                  </a:txBody>
                  <a:tcPr marL="91440" marR="91440" marT="45720" marB="45720">
                    <a:solidFill>
                      <a:srgbClr val="24583E"/>
                    </a:solidFill>
                  </a:tcPr>
                </a:tc>
                <a:tc>
                  <a:txBody>
                    <a:bodyPr/>
                    <a:lstStyle/>
                    <a:p>
                      <a:r>
                        <a:rPr sz="1800" b="1">
                          <a:solidFill>
                            <a:srgbClr val="FFFFFF"/>
                          </a:solidFill>
                          <a:latin typeface="Arial"/>
                          <a:ea typeface="Arial"/>
                          <a:cs typeface="Arial"/>
                        </a:rPr>
                        <a:t>Insertion action</a:t>
                      </a:r>
                    </a:p>
                  </a:txBody>
                  <a:tcPr marL="91440" marR="91440" marT="45720" marB="45720">
                    <a:solidFill>
                      <a:srgbClr val="24583E"/>
                    </a:solidFill>
                  </a:tcPr>
                </a:tc>
              </a:tr>
              <a:tr h="785813">
                <a:tc>
                  <a:txBody>
                    <a:bodyPr/>
                    <a:lstStyle/>
                    <a:p>
                      <a:r>
                        <a:rPr sz="1800" b="0">
                          <a:solidFill>
                            <a:srgbClr val="203040"/>
                          </a:solidFill>
                          <a:latin typeface="Arial"/>
                          <a:ea typeface="Arial"/>
                          <a:cs typeface="Arial"/>
                        </a:rPr>
                        <a:t>LIVE</a:t>
                      </a:r>
                    </a:p>
                  </a:txBody>
                  <a:tcPr marL="91440" marR="91440" marT="45720" marB="45720">
                    <a:solidFill>
                      <a:srgbClr val="F0F3F1"/>
                    </a:solidFill>
                  </a:tcPr>
                </a:tc>
                <a:tc>
                  <a:txBody>
                    <a:bodyPr/>
                    <a:lstStyle/>
                    <a:p>
                      <a:r>
                        <a:rPr sz="1800" b="0">
                          <a:solidFill>
                            <a:srgbClr val="203040"/>
                          </a:solidFill>
                          <a:latin typeface="Arial"/>
                          <a:ea typeface="Arial"/>
                          <a:cs typeface="Arial"/>
                        </a:rPr>
                        <a:t>Compare key, then continue if unequal</a:t>
                      </a:r>
                    </a:p>
                  </a:txBody>
                  <a:tcPr marL="91440" marR="91440" marT="45720" marB="45720">
                    <a:solidFill>
                      <a:srgbClr val="F0F3F1"/>
                    </a:solidFill>
                  </a:tcPr>
                </a:tc>
                <a:tc>
                  <a:txBody>
                    <a:bodyPr/>
                    <a:lstStyle/>
                    <a:p>
                      <a:r>
                        <a:rPr sz="1800" b="0">
                          <a:solidFill>
                            <a:srgbClr val="203040"/>
                          </a:solidFill>
                          <a:latin typeface="Arial"/>
                          <a:ea typeface="Arial"/>
                          <a:cs typeface="Arial"/>
                        </a:rPr>
                        <a:t>Update equal key</a:t>
                      </a:r>
                    </a:p>
                  </a:txBody>
                  <a:tcPr marL="91440" marR="91440" marT="45720" marB="45720">
                    <a:solidFill>
                      <a:srgbClr val="F0F3F1"/>
                    </a:solidFill>
                  </a:tcPr>
                </a:tc>
              </a:tr>
              <a:tr h="785813">
                <a:tc>
                  <a:txBody>
                    <a:bodyPr/>
                    <a:lstStyle/>
                    <a:p>
                      <a:r>
                        <a:rPr sz="1800" b="0">
                          <a:solidFill>
                            <a:srgbClr val="203040"/>
                          </a:solidFill>
                          <a:latin typeface="Arial"/>
                          <a:ea typeface="Arial"/>
                          <a:cs typeface="Arial"/>
                        </a:rPr>
                        <a:t>DELETED</a:t>
                      </a:r>
                    </a:p>
                  </a:txBody>
                  <a:tcPr marL="91440" marR="91440" marT="45720" marB="45720">
                    <a:solidFill>
                      <a:srgbClr val="FFFFFF"/>
                    </a:solidFill>
                  </a:tcPr>
                </a:tc>
                <a:tc>
                  <a:txBody>
                    <a:bodyPr/>
                    <a:lstStyle/>
                    <a:p>
                      <a:r>
                        <a:rPr sz="1800" b="0">
                          <a:solidFill>
                            <a:srgbClr val="203040"/>
                          </a:solidFill>
                          <a:latin typeface="Arial"/>
                          <a:ea typeface="Arial"/>
                          <a:cs typeface="Arial"/>
                        </a:rPr>
                        <a:t>Continue probing</a:t>
                      </a:r>
                    </a:p>
                  </a:txBody>
                  <a:tcPr marL="91440" marR="91440" marT="45720" marB="45720">
                    <a:solidFill>
                      <a:srgbClr val="FFFFFF"/>
                    </a:solidFill>
                  </a:tcPr>
                </a:tc>
                <a:tc>
                  <a:txBody>
                    <a:bodyPr/>
                    <a:lstStyle/>
                    <a:p>
                      <a:r>
                        <a:rPr sz="1800" b="0">
                          <a:solidFill>
                            <a:srgbClr val="203040"/>
                          </a:solidFill>
                          <a:latin typeface="Arial"/>
                          <a:ea typeface="Arial"/>
                          <a:cs typeface="Arial"/>
                        </a:rPr>
                        <a:t>Remember as a reusable position</a:t>
                      </a:r>
                    </a:p>
                  </a:txBody>
                  <a:tcPr marL="91440" marR="91440" marT="45720" marB="45720">
                    <a:solidFill>
                      <a:srgbClr val="FFFFFF"/>
                    </a:solidFill>
                  </a:tcPr>
                </a:tc>
              </a:tr>
              <a:tr h="785813">
                <a:tc>
                  <a:txBody>
                    <a:bodyPr/>
                    <a:lstStyle/>
                    <a:p>
                      <a:r>
                        <a:rPr sz="1800" b="0">
                          <a:solidFill>
                            <a:srgbClr val="203040"/>
                          </a:solidFill>
                          <a:latin typeface="Arial"/>
                          <a:ea typeface="Arial"/>
                          <a:cs typeface="Arial"/>
                        </a:rPr>
                        <a:t>EMPTY</a:t>
                      </a:r>
                    </a:p>
                  </a:txBody>
                  <a:tcPr marL="91440" marR="91440" marT="45720" marB="45720">
                    <a:solidFill>
                      <a:srgbClr val="F0F3F1"/>
                    </a:solidFill>
                  </a:tcPr>
                </a:tc>
                <a:tc>
                  <a:txBody>
                    <a:bodyPr/>
                    <a:lstStyle/>
                    <a:p>
                      <a:r>
                        <a:rPr sz="1800" b="0">
                          <a:solidFill>
                            <a:srgbClr val="203040"/>
                          </a:solidFill>
                          <a:latin typeface="Arial"/>
                          <a:ea typeface="Arial"/>
                          <a:cs typeface="Arial"/>
                        </a:rPr>
                        <a:t>Stop: key is absent</a:t>
                      </a:r>
                    </a:p>
                  </a:txBody>
                  <a:tcPr marL="91440" marR="91440" marT="45720" marB="45720">
                    <a:solidFill>
                      <a:srgbClr val="F0F3F1"/>
                    </a:solidFill>
                  </a:tcPr>
                </a:tc>
                <a:tc>
                  <a:txBody>
                    <a:bodyPr/>
                    <a:lstStyle/>
                    <a:p>
                      <a:r>
                        <a:rPr sz="1800" b="0">
                          <a:solidFill>
                            <a:srgbClr val="203040"/>
                          </a:solidFill>
                          <a:latin typeface="Arial"/>
                          <a:ea typeface="Arial"/>
                          <a:cs typeface="Arial"/>
                        </a:rPr>
                        <a:t>Insert, using an earlier tombstone if any</a:t>
                      </a:r>
                    </a:p>
                  </a:txBody>
                  <a:tcPr marL="91440" marR="91440" marT="45720" marB="45720">
                    <a:solidFill>
                      <a:srgbClr val="F0F3F1"/>
                    </a:solidFill>
                  </a:tcPr>
                </a:tc>
              </a:tr>
            </a:tbl>
          </a:graphicData>
        </a:graphic>
      </p:graphicFrame>
      <p:sp>
        <p:nvSpPr>
          <p:cNvPr id="5" name="">
            <a:extLst xmlns:a="http://schemas.openxmlformats.org/drawingml/2006/main">
              <a:ext uri="{FF2B5EF4-FFF2-40B4-BE49-F238E27FC236}">
                <a16:creationId xmlns:a16="http://schemas.microsoft.com/office/drawing/2014/main" id="{408B8BF3-D85F-4008-AB6C-B0B8151A7D3B}"/>
              </a:ext>
            </a:extLst>
          </p:cNvPr>
          <p:cNvSpPr>
            <a:spLocks xmlns:a="http://schemas.openxmlformats.org/drawingml/2006/main" noGrp="1"/>
          </p:cNvSpPr>
          <p:nvPr/>
        </p:nvSpPr>
        <p:spPr>
          <a:xfrm xmlns:a="http://schemas.openxmlformats.org/drawingml/2006/main">
            <a:off x="571500" y="47434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Example: delete 38 from slot 8. Lookup for 8 must still reach slot 0.</a:t>
            </a:r>
          </a:p>
        </p:txBody>
      </p:sp>
      <p:sp>
        <p:nvSpPr>
          <p:cNvPr id="7" name="local-java-LinearProbingMap">
            <a:extLst xmlns:a="http://schemas.openxmlformats.org/drawingml/2006/main">
              <a:ext uri="{FF2B5EF4-FFF2-40B4-BE49-F238E27FC236}">
                <a16:creationId xmlns:a16="http://schemas.microsoft.com/office/drawing/2014/main" id="{FDD2D30D-4FF9-4BC2-8A08-733D5D00D1A9}"/>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bd997990d14a40e2"/>
              </a:rPr>
              <a:t>Java: LinearProbingMap.java</a:t>
            </a:r>
          </a:p>
        </p:txBody>
      </p:sp>
      <p:sp>
        <p:nvSpPr>
          <p:cNvPr id="8" name="local-java-TombstoneMapDemo">
            <a:extLst xmlns:a="http://schemas.openxmlformats.org/drawingml/2006/main">
              <a:ext uri="{FF2B5EF4-FFF2-40B4-BE49-F238E27FC236}">
                <a16:creationId xmlns:a16="http://schemas.microsoft.com/office/drawing/2014/main" id="{662AB831-82AF-41D6-9A81-1EBCB3D4A450}"/>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4c8fcc0c800e473c"/>
              </a:rPr>
              <a:t>Java: TombstoneMapDemo.java</a:t>
            </a:r>
          </a:p>
        </p:txBody>
      </p:sp>
    </p:spTree>
    <p:extLst>
      <p:ext uri="{BB962C8B-B14F-4D97-AF65-F5344CB8AC3E}">
        <p14:creationId xmlns:p14="http://schemas.microsoft.com/office/powerpoint/2010/main" val="136030867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86240C-8EB7-4E4B-AB85-6AE1F2192F85}"/>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Bounded lookup with tombstones</a:t>
            </a:r>
          </a:p>
        </p:txBody>
      </p:sp>
      <p:sp>
        <p:nvSpPr>
          <p:cNvPr id="2" name="">
            <a:extLst xmlns:a="http://schemas.openxmlformats.org/drawingml/2006/main">
              <a:ext uri="{FF2B5EF4-FFF2-40B4-BE49-F238E27FC236}">
                <a16:creationId xmlns:a16="http://schemas.microsoft.com/office/drawing/2014/main" id="{823453D0-2238-490E-9586-9CE307992FF5}"/>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C1A4FFA3-DACE-4441-880A-3074B5CBDBAD}"/>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280E4F0C-7F21-4518-B1F9-45C233D6915F}"/>
              </a:ext>
            </a:extLst>
          </p:cNvPr>
          <p:cNvSpPr>
            <a:spLocks xmlns:a="http://schemas.openxmlformats.org/drawingml/2006/main" noGrp="1"/>
          </p:cNvSpPr>
          <p:nvPr/>
        </p:nvSpPr>
        <p:spPr>
          <a:xfrm xmlns:a="http://schemas.openxmlformats.org/drawingml/2006/main">
            <a:off x="571500" y="1476375"/>
            <a:ext cx="11049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2B4D"/>
                </a:solidFill>
                <a:latin typeface="Consolas"/>
                <a:ea typeface="Consolas"/>
                <a:cs typeface="Consolas"/>
              </a:defRPr>
            </a:defPPr>
            <a:lvl1pPr>
              <a:buNone/>
              <a:defRPr sz="1875" b="0">
                <a:solidFill>
                  <a:srgbClr val="172B4D"/>
                </a:solidFill>
                <a:latin typeface="Consolas"/>
                <a:ea typeface="Consolas"/>
                <a:cs typeface="Consolas"/>
              </a:defRPr>
            </a:lvl1pPr>
            <a:lvl2pPr>
              <a:buNone/>
              <a:defRPr sz="1875" b="0">
                <a:solidFill>
                  <a:srgbClr val="172B4D"/>
                </a:solidFill>
                <a:latin typeface="Consolas"/>
                <a:ea typeface="Consolas"/>
                <a:cs typeface="Consolas"/>
              </a:defRPr>
            </a:lvl2pPr>
            <a:lvl3pPr>
              <a:buNone/>
              <a:defRPr sz="1875" b="0">
                <a:solidFill>
                  <a:srgbClr val="172B4D"/>
                </a:solidFill>
                <a:latin typeface="Consolas"/>
                <a:ea typeface="Consolas"/>
                <a:cs typeface="Consolas"/>
              </a:defRPr>
            </a:lvl3pPr>
            <a:lvl4pPr>
              <a:buNone/>
              <a:defRPr sz="1875" b="0">
                <a:solidFill>
                  <a:srgbClr val="172B4D"/>
                </a:solidFill>
                <a:latin typeface="Consolas"/>
                <a:ea typeface="Consolas"/>
                <a:cs typeface="Consolas"/>
              </a:defRPr>
            </a:lvl4pPr>
            <a:lvl5pPr>
              <a:buNone/>
              <a:defRPr sz="1875" b="0">
                <a:solidFill>
                  <a:srgbClr val="172B4D"/>
                </a:solidFill>
                <a:latin typeface="Consolas"/>
                <a:ea typeface="Consolas"/>
                <a:cs typeface="Consolas"/>
              </a:defRPr>
            </a:lvl5pPr>
            <a:lvl6pPr>
              <a:buNone/>
              <a:defRPr sz="1875" b="0">
                <a:solidFill>
                  <a:srgbClr val="172B4D"/>
                </a:solidFill>
                <a:latin typeface="Consolas"/>
                <a:ea typeface="Consolas"/>
                <a:cs typeface="Consolas"/>
              </a:defRPr>
            </a:lvl6pPr>
            <a:lvl7pPr>
              <a:buNone/>
              <a:defRPr sz="1875" b="0">
                <a:solidFill>
                  <a:srgbClr val="172B4D"/>
                </a:solidFill>
                <a:latin typeface="Consolas"/>
                <a:ea typeface="Consolas"/>
                <a:cs typeface="Consolas"/>
              </a:defRPr>
            </a:lvl7pPr>
            <a:lvl8pPr>
              <a:buNone/>
              <a:defRPr sz="1875" b="0">
                <a:solidFill>
                  <a:srgbClr val="172B4D"/>
                </a:solidFill>
                <a:latin typeface="Consolas"/>
                <a:ea typeface="Consolas"/>
                <a:cs typeface="Consolas"/>
              </a:defRPr>
            </a:lvl8pPr>
            <a:lvl9pPr>
              <a:buNone/>
              <a:defRPr sz="1875" b="0">
                <a:solidFill>
                  <a:srgbClr val="172B4D"/>
                </a:solidFill>
                <a:latin typeface="Consolas"/>
                <a:ea typeface="Consolas"/>
                <a:cs typeface="Consolas"/>
              </a:defRPr>
            </a:lvl9pPr>
          </a:lstStyle>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find(key):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for i = 0 to m - 1:</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j = probe(key, i)</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if state[j] == EMPTY: return MISSING</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if state[j] == LIVE and equals(keys[j], 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return values[j]</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return MISSING</a:t>
            </a:r>
          </a:p>
        </p:txBody>
      </p:sp>
      <p:sp>
        <p:nvSpPr>
          <p:cNvPr id="5" name="">
            <a:extLst xmlns:a="http://schemas.openxmlformats.org/drawingml/2006/main">
              <a:ext uri="{FF2B5EF4-FFF2-40B4-BE49-F238E27FC236}">
                <a16:creationId xmlns:a16="http://schemas.microsoft.com/office/drawing/2014/main" id="{339295B1-B435-4D27-8ECE-DADDA4DCB752}"/>
              </a:ext>
            </a:extLst>
          </p:cNvPr>
          <p:cNvSpPr>
            <a:spLocks xmlns:a="http://schemas.openxmlformats.org/drawingml/2006/main" noGrp="1"/>
          </p:cNvSpPr>
          <p:nvPr/>
        </p:nvSpPr>
        <p:spPr>
          <a:xfrm xmlns:a="http://schemas.openxmlformats.org/drawingml/2006/main">
            <a:off x="571500" y="53340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DELETED slots keep the search going.</a:t>
            </a:r>
          </a:p>
        </p:txBody>
      </p:sp>
      <p:sp>
        <p:nvSpPr>
          <p:cNvPr id="6" name="">
            <a:extLst xmlns:a="http://schemas.openxmlformats.org/drawingml/2006/main">
              <a:ext uri="{FF2B5EF4-FFF2-40B4-BE49-F238E27FC236}">
                <a16:creationId xmlns:a16="http://schemas.microsoft.com/office/drawing/2014/main" id="{F2F26143-0713-4F59-B787-9CAFEC849669}"/>
              </a:ext>
            </a:extLst>
          </p:cNvPr>
          <p:cNvSpPr>
            <a:spLocks xmlns:a="http://schemas.openxmlformats.org/drawingml/2006/main" noGrp="1"/>
          </p:cNvSpPr>
          <p:nvPr/>
        </p:nvSpPr>
        <p:spPr>
          <a:xfrm xmlns:a="http://schemas.openxmlformats.org/drawingml/2006/main">
            <a:off x="571500" y="58102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Rebuild periodically when deleted slots accumulate.</a:t>
            </a:r>
          </a:p>
        </p:txBody>
      </p:sp>
      <p:sp>
        <p:nvSpPr>
          <p:cNvPr id="8" name="local-java-LinearProbingMap">
            <a:extLst xmlns:a="http://schemas.openxmlformats.org/drawingml/2006/main">
              <a:ext uri="{FF2B5EF4-FFF2-40B4-BE49-F238E27FC236}">
                <a16:creationId xmlns:a16="http://schemas.microsoft.com/office/drawing/2014/main" id="{BC040957-2C55-4AA9-BBF0-A4EC733891F0}"/>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c86c3132451f4deb"/>
              </a:rPr>
              <a:t>Java: LinearProbingMap.java</a:t>
            </a:r>
          </a:p>
        </p:txBody>
      </p:sp>
      <p:sp>
        <p:nvSpPr>
          <p:cNvPr id="9" name="local-java-TombstoneMapDemo">
            <a:extLst xmlns:a="http://schemas.openxmlformats.org/drawingml/2006/main">
              <a:ext uri="{FF2B5EF4-FFF2-40B4-BE49-F238E27FC236}">
                <a16:creationId xmlns:a16="http://schemas.microsoft.com/office/drawing/2014/main" id="{18511C5D-0D8F-48F4-ABA0-C6D796C6A2A2}"/>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6dfc0157d01444bb"/>
              </a:rPr>
              <a:t>Java: TombstoneMapDemo.java</a:t>
            </a:r>
          </a:p>
        </p:txBody>
      </p:sp>
    </p:spTree>
    <p:extLst>
      <p:ext uri="{BB962C8B-B14F-4D97-AF65-F5344CB8AC3E}">
        <p14:creationId xmlns:p14="http://schemas.microsoft.com/office/powerpoint/2010/main" val="2956749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CB94A3-3968-4BF6-B5F3-CC9321265E45}"/>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Probing practice: the same six keys</a:t>
            </a:r>
          </a:p>
        </p:txBody>
      </p:sp>
      <p:sp>
        <p:nvSpPr>
          <p:cNvPr id="2" name="">
            <a:extLst xmlns:a="http://schemas.openxmlformats.org/drawingml/2006/main">
              <a:ext uri="{FF2B5EF4-FFF2-40B4-BE49-F238E27FC236}">
                <a16:creationId xmlns:a16="http://schemas.microsoft.com/office/drawing/2014/main" id="{B2B9B0F9-E571-4595-BD3F-F5552EF15151}"/>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4CD56D76-EF25-44F1-A6A0-E0AF0FECA390}"/>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88ACACEB-C9CD-48AF-A4BA-C0D56B5317BE}"/>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Insert in order: 44, 4, 16, 28, 21, 26.</a:t>
            </a:r>
          </a:p>
        </p:txBody>
      </p:sp>
      <p:sp>
        <p:nvSpPr>
          <p:cNvPr id="5" name="">
            <a:extLst xmlns:a="http://schemas.openxmlformats.org/drawingml/2006/main">
              <a:ext uri="{FF2B5EF4-FFF2-40B4-BE49-F238E27FC236}">
                <a16:creationId xmlns:a16="http://schemas.microsoft.com/office/drawing/2014/main" id="{80142900-A3B7-472C-9242-979EBD380564}"/>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Use capacity m = 11 and home index key mod 11.</a:t>
            </a:r>
          </a:p>
        </p:txBody>
      </p:sp>
      <p:sp>
        <p:nvSpPr>
          <p:cNvPr id="6" name="">
            <a:extLst xmlns:a="http://schemas.openxmlformats.org/drawingml/2006/main">
              <a:ext uri="{FF2B5EF4-FFF2-40B4-BE49-F238E27FC236}">
                <a16:creationId xmlns:a16="http://schemas.microsoft.com/office/drawing/2014/main" id="{96772A1B-DF0F-450F-8517-2972062E54B1}"/>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Trace linear probing first, then quadratic probing.</a:t>
            </a:r>
          </a:p>
        </p:txBody>
      </p:sp>
      <p:sp>
        <p:nvSpPr>
          <p:cNvPr id="7" name="">
            <a:extLst xmlns:a="http://schemas.openxmlformats.org/drawingml/2006/main">
              <a:ext uri="{FF2B5EF4-FFF2-40B4-BE49-F238E27FC236}">
                <a16:creationId xmlns:a16="http://schemas.microsoft.com/office/drawing/2014/main" id="{AE6303C3-C344-4D5F-9E48-369F106CAEF6}"/>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For double hashing use step = 7 - (key mod 7).</a:t>
            </a:r>
          </a:p>
        </p:txBody>
      </p:sp>
      <p:sp>
        <p:nvSpPr>
          <p:cNvPr id="9" name="local-java-ProbingPractice">
            <a:extLst xmlns:a="http://schemas.openxmlformats.org/drawingml/2006/main">
              <a:ext uri="{FF2B5EF4-FFF2-40B4-BE49-F238E27FC236}">
                <a16:creationId xmlns:a16="http://schemas.microsoft.com/office/drawing/2014/main" id="{BD1E132A-CBBF-4E88-A36E-0892919E27EE}"/>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2c53bd539231491e"/>
              </a:rPr>
              <a:t>Java: ProbingPractice.java</a:t>
            </a:r>
          </a:p>
        </p:txBody>
      </p:sp>
    </p:spTree>
    <p:extLst>
      <p:ext uri="{BB962C8B-B14F-4D97-AF65-F5344CB8AC3E}">
        <p14:creationId xmlns:p14="http://schemas.microsoft.com/office/powerpoint/2010/main" val="64625172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84A020-6134-4CBB-B517-A821FEB50911}"/>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Practice answer: linear probing</a:t>
            </a:r>
          </a:p>
        </p:txBody>
      </p:sp>
      <p:sp>
        <p:nvSpPr>
          <p:cNvPr id="2" name="">
            <a:extLst xmlns:a="http://schemas.openxmlformats.org/drawingml/2006/main">
              <a:ext uri="{FF2B5EF4-FFF2-40B4-BE49-F238E27FC236}">
                <a16:creationId xmlns:a16="http://schemas.microsoft.com/office/drawing/2014/main" id="{13BC01F7-ED70-4213-8392-1FEC6123C5C2}"/>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16681504-C988-43EE-8F41-C4EB1BF94C8B}"/>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1B8EE11E-30A4-42A0-8A07-6642B4E7DF09}"/>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1714500"/>
                <a:gridCol w="1714500"/>
                <a:gridCol w="5524500"/>
                <a:gridCol w="2095500"/>
              </a:tblGrid>
              <a:tr h="571500">
                <a:tc>
                  <a:txBody>
                    <a:bodyPr/>
                    <a:lstStyle/>
                    <a:p>
                      <a:r>
                        <a:rPr sz="1875" b="1">
                          <a:solidFill>
                            <a:srgbClr val="FFFFFF"/>
                          </a:solidFill>
                          <a:latin typeface="Arial"/>
                          <a:ea typeface="Arial"/>
                          <a:cs typeface="Arial"/>
                        </a:rPr>
                        <a:t>Key</a:t>
                      </a:r>
                    </a:p>
                  </a:txBody>
                  <a:tcPr marL="91440" marR="91440" marT="45720" marB="45720">
                    <a:solidFill>
                      <a:srgbClr val="24583E"/>
                    </a:solidFill>
                  </a:tcPr>
                </a:tc>
                <a:tc>
                  <a:txBody>
                    <a:bodyPr/>
                    <a:lstStyle/>
                    <a:p>
                      <a:r>
                        <a:rPr sz="1875" b="1">
                          <a:solidFill>
                            <a:srgbClr val="FFFFFF"/>
                          </a:solidFill>
                          <a:latin typeface="Arial"/>
                          <a:ea typeface="Arial"/>
                          <a:cs typeface="Arial"/>
                        </a:rPr>
                        <a:t>Home</a:t>
                      </a:r>
                    </a:p>
                  </a:txBody>
                  <a:tcPr marL="91440" marR="91440" marT="45720" marB="45720">
                    <a:solidFill>
                      <a:srgbClr val="24583E"/>
                    </a:solidFill>
                  </a:tcPr>
                </a:tc>
                <a:tc>
                  <a:txBody>
                    <a:bodyPr/>
                    <a:lstStyle/>
                    <a:p>
                      <a:r>
                        <a:rPr sz="1875" b="1">
                          <a:solidFill>
                            <a:srgbClr val="FFFFFF"/>
                          </a:solidFill>
                          <a:latin typeface="Arial"/>
                          <a:ea typeface="Arial"/>
                          <a:cs typeface="Arial"/>
                        </a:rPr>
                        <a:t>Slots inspected</a:t>
                      </a:r>
                    </a:p>
                  </a:txBody>
                  <a:tcPr marL="91440" marR="91440" marT="45720" marB="45720">
                    <a:solidFill>
                      <a:srgbClr val="24583E"/>
                    </a:solidFill>
                  </a:tcPr>
                </a:tc>
                <a:tc>
                  <a:txBody>
                    <a:bodyPr/>
                    <a:lstStyle/>
                    <a:p>
                      <a:r>
                        <a:rPr sz="1875" b="1">
                          <a:solidFill>
                            <a:srgbClr val="FFFFFF"/>
                          </a:solidFill>
                          <a:latin typeface="Arial"/>
                          <a:ea typeface="Arial"/>
                          <a:cs typeface="Arial"/>
                        </a:rPr>
                        <a:t>Stored at</a:t>
                      </a:r>
                    </a:p>
                  </a:txBody>
                  <a:tcPr marL="91440" marR="91440" marT="45720" marB="45720">
                    <a:solidFill>
                      <a:srgbClr val="24583E"/>
                    </a:solidFill>
                  </a:tcPr>
                </a:tc>
              </a:tr>
              <a:tr h="571500">
                <a:tc>
                  <a:txBody>
                    <a:bodyPr/>
                    <a:lstStyle/>
                    <a:p>
                      <a:r>
                        <a:rPr sz="1875" b="0">
                          <a:solidFill>
                            <a:srgbClr val="203040"/>
                          </a:solidFill>
                          <a:latin typeface="Arial"/>
                          <a:ea typeface="Arial"/>
                          <a:cs typeface="Arial"/>
                        </a:rPr>
                        <a:t>44</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r>
              <a:tr h="571500">
                <a:tc>
                  <a:txBody>
                    <a:bodyPr/>
                    <a:lstStyle/>
                    <a:p>
                      <a:r>
                        <a:rPr sz="1875" b="0">
                          <a:solidFill>
                            <a:srgbClr val="203040"/>
                          </a:solidFill>
                          <a:latin typeface="Arial"/>
                          <a:ea typeface="Arial"/>
                          <a:cs typeface="Arial"/>
                        </a:rPr>
                        <a:t>16</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28</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r>
              <a:tr h="571500">
                <a:tc>
                  <a:txBody>
                    <a:bodyPr/>
                    <a:lstStyle/>
                    <a:p>
                      <a:r>
                        <a:rPr sz="1875" b="0">
                          <a:solidFill>
                            <a:srgbClr val="203040"/>
                          </a:solidFill>
                          <a:latin typeface="Arial"/>
                          <a:ea typeface="Arial"/>
                          <a:cs typeface="Arial"/>
                        </a:rPr>
                        <a:t>21</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26</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4, 5, 6, 7</a:t>
                      </a:r>
                    </a:p>
                  </a:txBody>
                  <a:tcPr marL="91440" marR="91440" marT="45720" marB="45720">
                    <a:solidFill>
                      <a:srgbClr val="FFFFFF"/>
                    </a:solidFill>
                  </a:tcPr>
                </a:tc>
                <a:tc>
                  <a:txBody>
                    <a:bodyPr/>
                    <a:lstStyle/>
                    <a:p>
                      <a:r>
                        <a:rPr sz="1875" b="0">
                          <a:solidFill>
                            <a:srgbClr val="203040"/>
                          </a:solidFill>
                          <a:latin typeface="Arial"/>
                          <a:ea typeface="Arial"/>
                          <a:cs typeface="Arial"/>
                        </a:rPr>
                        <a:t>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3E1751C-316F-4FD6-8366-CC0DCA1D4FA4}"/>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Occupied slots: 0:44, 4:4, 5:16, 6:28, 7:26, 10:21.</a:t>
            </a:r>
          </a:p>
        </p:txBody>
      </p:sp>
      <p:sp>
        <p:nvSpPr>
          <p:cNvPr id="7" name="local-java-ProbingPractice">
            <a:extLst xmlns:a="http://schemas.openxmlformats.org/drawingml/2006/main">
              <a:ext uri="{FF2B5EF4-FFF2-40B4-BE49-F238E27FC236}">
                <a16:creationId xmlns:a16="http://schemas.microsoft.com/office/drawing/2014/main" id="{D059D1D7-940D-4192-A4DE-8F3BC91A6567}"/>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2d0d37ea66df4b3c"/>
              </a:rPr>
              <a:t>Java: ProbingPractice.java</a:t>
            </a:r>
          </a:p>
        </p:txBody>
      </p:sp>
    </p:spTree>
    <p:extLst>
      <p:ext uri="{BB962C8B-B14F-4D97-AF65-F5344CB8AC3E}">
        <p14:creationId xmlns:p14="http://schemas.microsoft.com/office/powerpoint/2010/main" val="101365941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0B3E89-FED1-4064-B6A6-66B32DE5FC5B}"/>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Practice answer: quadratic probing</a:t>
            </a:r>
          </a:p>
        </p:txBody>
      </p:sp>
      <p:sp>
        <p:nvSpPr>
          <p:cNvPr id="2" name="">
            <a:extLst xmlns:a="http://schemas.openxmlformats.org/drawingml/2006/main">
              <a:ext uri="{FF2B5EF4-FFF2-40B4-BE49-F238E27FC236}">
                <a16:creationId xmlns:a16="http://schemas.microsoft.com/office/drawing/2014/main" id="{6453FB4C-71AD-4929-862E-75AE00EDF148}"/>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5C3A557E-0B24-4C44-B660-1294A5E3DF39}"/>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23</a:t>
            </a:r>
          </a:p>
        </p:txBody>
      </p:sp>
      <p:graphicFrame>
        <p:nvGraphicFramePr>
          <p:cNvPr id="4" name="">
            <a:extLst xmlns:a="http://schemas.openxmlformats.org/drawingml/2006/main">
              <a:ext uri="{FF2B5EF4-FFF2-40B4-BE49-F238E27FC236}">
                <a16:creationId xmlns:a16="http://schemas.microsoft.com/office/drawing/2014/main" id="{436AA57B-AF16-4D43-81FA-60085B7C7756}"/>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1714500"/>
                <a:gridCol w="1714500"/>
                <a:gridCol w="5524500"/>
                <a:gridCol w="2095500"/>
              </a:tblGrid>
              <a:tr h="571500">
                <a:tc>
                  <a:txBody>
                    <a:bodyPr/>
                    <a:lstStyle/>
                    <a:p>
                      <a:r>
                        <a:rPr sz="1875" b="1">
                          <a:solidFill>
                            <a:srgbClr val="FFFFFF"/>
                          </a:solidFill>
                          <a:latin typeface="Arial"/>
                          <a:ea typeface="Arial"/>
                          <a:cs typeface="Arial"/>
                        </a:rPr>
                        <a:t>Key</a:t>
                      </a:r>
                    </a:p>
                  </a:txBody>
                  <a:tcPr marL="91440" marR="91440" marT="45720" marB="45720">
                    <a:solidFill>
                      <a:srgbClr val="24583E"/>
                    </a:solidFill>
                  </a:tcPr>
                </a:tc>
                <a:tc>
                  <a:txBody>
                    <a:bodyPr/>
                    <a:lstStyle/>
                    <a:p>
                      <a:r>
                        <a:rPr sz="1875" b="1">
                          <a:solidFill>
                            <a:srgbClr val="FFFFFF"/>
                          </a:solidFill>
                          <a:latin typeface="Arial"/>
                          <a:ea typeface="Arial"/>
                          <a:cs typeface="Arial"/>
                        </a:rPr>
                        <a:t>Home</a:t>
                      </a:r>
                    </a:p>
                  </a:txBody>
                  <a:tcPr marL="91440" marR="91440" marT="45720" marB="45720">
                    <a:solidFill>
                      <a:srgbClr val="24583E"/>
                    </a:solidFill>
                  </a:tcPr>
                </a:tc>
                <a:tc>
                  <a:txBody>
                    <a:bodyPr/>
                    <a:lstStyle/>
                    <a:p>
                      <a:r>
                        <a:rPr sz="1875" b="1">
                          <a:solidFill>
                            <a:srgbClr val="FFFFFF"/>
                          </a:solidFill>
                          <a:latin typeface="Arial"/>
                          <a:ea typeface="Arial"/>
                          <a:cs typeface="Arial"/>
                        </a:rPr>
                        <a:t>Slots inspected</a:t>
                      </a:r>
                    </a:p>
                  </a:txBody>
                  <a:tcPr marL="91440" marR="91440" marT="45720" marB="45720">
                    <a:solidFill>
                      <a:srgbClr val="24583E"/>
                    </a:solidFill>
                  </a:tcPr>
                </a:tc>
                <a:tc>
                  <a:txBody>
                    <a:bodyPr/>
                    <a:lstStyle/>
                    <a:p>
                      <a:r>
                        <a:rPr sz="1875" b="1">
                          <a:solidFill>
                            <a:srgbClr val="FFFFFF"/>
                          </a:solidFill>
                          <a:latin typeface="Arial"/>
                          <a:ea typeface="Arial"/>
                          <a:cs typeface="Arial"/>
                        </a:rPr>
                        <a:t>Stored at</a:t>
                      </a:r>
                    </a:p>
                  </a:txBody>
                  <a:tcPr marL="91440" marR="91440" marT="45720" marB="45720">
                    <a:solidFill>
                      <a:srgbClr val="24583E"/>
                    </a:solidFill>
                  </a:tcPr>
                </a:tc>
              </a:tr>
              <a:tr h="571500">
                <a:tc>
                  <a:txBody>
                    <a:bodyPr/>
                    <a:lstStyle/>
                    <a:p>
                      <a:r>
                        <a:rPr sz="1875" b="0">
                          <a:solidFill>
                            <a:srgbClr val="203040"/>
                          </a:solidFill>
                          <a:latin typeface="Arial"/>
                          <a:ea typeface="Arial"/>
                          <a:cs typeface="Arial"/>
                        </a:rPr>
                        <a:t>44</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r>
              <a:tr h="571500">
                <a:tc>
                  <a:txBody>
                    <a:bodyPr/>
                    <a:lstStyle/>
                    <a:p>
                      <a:r>
                        <a:rPr sz="1875" b="0">
                          <a:solidFill>
                            <a:srgbClr val="203040"/>
                          </a:solidFill>
                          <a:latin typeface="Arial"/>
                          <a:ea typeface="Arial"/>
                          <a:cs typeface="Arial"/>
                        </a:rPr>
                        <a:t>16</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28</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r>
              <a:tr h="571500">
                <a:tc>
                  <a:txBody>
                    <a:bodyPr/>
                    <a:lstStyle/>
                    <a:p>
                      <a:r>
                        <a:rPr sz="1875" b="0">
                          <a:solidFill>
                            <a:srgbClr val="203040"/>
                          </a:solidFill>
                          <a:latin typeface="Arial"/>
                          <a:ea typeface="Arial"/>
                          <a:cs typeface="Arial"/>
                        </a:rPr>
                        <a:t>21</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26</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4, 5, 8</a:t>
                      </a:r>
                    </a:p>
                  </a:txBody>
                  <a:tcPr marL="91440" marR="91440" marT="45720" marB="45720">
                    <a:solidFill>
                      <a:srgbClr val="FFFFFF"/>
                    </a:solidFill>
                  </a:tcPr>
                </a:tc>
                <a:tc>
                  <a:txBody>
                    <a:bodyPr/>
                    <a:lstStyle/>
                    <a:p>
                      <a:r>
                        <a:rPr sz="1875" b="0">
                          <a:solidFill>
                            <a:srgbClr val="203040"/>
                          </a:solidFill>
                          <a:latin typeface="Arial"/>
                          <a:ea typeface="Arial"/>
                          <a:cs typeface="Arial"/>
                        </a:rPr>
                        <a:t>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E71EEFB-8C3A-45AE-B853-817807CEF21D}"/>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Occupied slots: 0:44, 4:4, 5:16, 6:28, 8:26, 10:21.</a:t>
            </a:r>
          </a:p>
        </p:txBody>
      </p:sp>
      <p:sp>
        <p:nvSpPr>
          <p:cNvPr id="7" name="local-java-ProbingPractice">
            <a:extLst xmlns:a="http://schemas.openxmlformats.org/drawingml/2006/main">
              <a:ext uri="{FF2B5EF4-FFF2-40B4-BE49-F238E27FC236}">
                <a16:creationId xmlns:a16="http://schemas.microsoft.com/office/drawing/2014/main" id="{D51F2558-6ACE-4FDF-86A0-77FE95C08878}"/>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08542530f30844e7"/>
              </a:rPr>
              <a:t>Java: ProbingPractice.java</a:t>
            </a:r>
          </a:p>
        </p:txBody>
      </p:sp>
    </p:spTree>
    <p:extLst>
      <p:ext uri="{BB962C8B-B14F-4D97-AF65-F5344CB8AC3E}">
        <p14:creationId xmlns:p14="http://schemas.microsoft.com/office/powerpoint/2010/main" val="183666839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BE900D-5866-4105-9339-478001DE9893}"/>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Practice answer: double hashing</a:t>
            </a:r>
          </a:p>
        </p:txBody>
      </p:sp>
      <p:sp>
        <p:nvSpPr>
          <p:cNvPr id="2" name="">
            <a:extLst xmlns:a="http://schemas.openxmlformats.org/drawingml/2006/main">
              <a:ext uri="{FF2B5EF4-FFF2-40B4-BE49-F238E27FC236}">
                <a16:creationId xmlns:a16="http://schemas.microsoft.com/office/drawing/2014/main" id="{1D7595C2-29A9-4706-B7D4-4ABD06CEDF56}"/>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B02F655B-8673-4347-9512-6BFCE272A017}"/>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24</a:t>
            </a:r>
          </a:p>
        </p:txBody>
      </p:sp>
      <p:graphicFrame>
        <p:nvGraphicFramePr>
          <p:cNvPr id="4" name="">
            <a:extLst xmlns:a="http://schemas.openxmlformats.org/drawingml/2006/main">
              <a:ext uri="{FF2B5EF4-FFF2-40B4-BE49-F238E27FC236}">
                <a16:creationId xmlns:a16="http://schemas.microsoft.com/office/drawing/2014/main" id="{02F7F8F0-060C-4415-AD69-65BA0CDFCE7E}"/>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1714500"/>
                <a:gridCol w="1714500"/>
                <a:gridCol w="5524500"/>
                <a:gridCol w="2095500"/>
              </a:tblGrid>
              <a:tr h="571500">
                <a:tc>
                  <a:txBody>
                    <a:bodyPr/>
                    <a:lstStyle/>
                    <a:p>
                      <a:r>
                        <a:rPr sz="1875" b="1">
                          <a:solidFill>
                            <a:srgbClr val="FFFFFF"/>
                          </a:solidFill>
                          <a:latin typeface="Arial"/>
                          <a:ea typeface="Arial"/>
                          <a:cs typeface="Arial"/>
                        </a:rPr>
                        <a:t>Key</a:t>
                      </a:r>
                    </a:p>
                  </a:txBody>
                  <a:tcPr marL="91440" marR="91440" marT="45720" marB="45720">
                    <a:solidFill>
                      <a:srgbClr val="24583E"/>
                    </a:solidFill>
                  </a:tcPr>
                </a:tc>
                <a:tc>
                  <a:txBody>
                    <a:bodyPr/>
                    <a:lstStyle/>
                    <a:p>
                      <a:r>
                        <a:rPr sz="1875" b="1">
                          <a:solidFill>
                            <a:srgbClr val="FFFFFF"/>
                          </a:solidFill>
                          <a:latin typeface="Arial"/>
                          <a:ea typeface="Arial"/>
                          <a:cs typeface="Arial"/>
                        </a:rPr>
                        <a:t>Home</a:t>
                      </a:r>
                    </a:p>
                  </a:txBody>
                  <a:tcPr marL="91440" marR="91440" marT="45720" marB="45720">
                    <a:solidFill>
                      <a:srgbClr val="24583E"/>
                    </a:solidFill>
                  </a:tcPr>
                </a:tc>
                <a:tc>
                  <a:txBody>
                    <a:bodyPr/>
                    <a:lstStyle/>
                    <a:p>
                      <a:r>
                        <a:rPr sz="1875" b="1">
                          <a:solidFill>
                            <a:srgbClr val="FFFFFF"/>
                          </a:solidFill>
                          <a:latin typeface="Arial"/>
                          <a:ea typeface="Arial"/>
                          <a:cs typeface="Arial"/>
                        </a:rPr>
                        <a:t>Slots inspected</a:t>
                      </a:r>
                    </a:p>
                  </a:txBody>
                  <a:tcPr marL="91440" marR="91440" marT="45720" marB="45720">
                    <a:solidFill>
                      <a:srgbClr val="24583E"/>
                    </a:solidFill>
                  </a:tcPr>
                </a:tc>
                <a:tc>
                  <a:txBody>
                    <a:bodyPr/>
                    <a:lstStyle/>
                    <a:p>
                      <a:r>
                        <a:rPr sz="1875" b="1">
                          <a:solidFill>
                            <a:srgbClr val="FFFFFF"/>
                          </a:solidFill>
                          <a:latin typeface="Arial"/>
                          <a:ea typeface="Arial"/>
                          <a:cs typeface="Arial"/>
                        </a:rPr>
                        <a:t>Stored at</a:t>
                      </a:r>
                    </a:p>
                  </a:txBody>
                  <a:tcPr marL="91440" marR="91440" marT="45720" marB="45720">
                    <a:solidFill>
                      <a:srgbClr val="24583E"/>
                    </a:solidFill>
                  </a:tcPr>
                </a:tc>
              </a:tr>
              <a:tr h="571500">
                <a:tc>
                  <a:txBody>
                    <a:bodyPr/>
                    <a:lstStyle/>
                    <a:p>
                      <a:r>
                        <a:rPr sz="1875" b="0">
                          <a:solidFill>
                            <a:srgbClr val="203040"/>
                          </a:solidFill>
                          <a:latin typeface="Arial"/>
                          <a:ea typeface="Arial"/>
                          <a:cs typeface="Arial"/>
                        </a:rPr>
                        <a:t>44</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r>
              <a:tr h="571500">
                <a:tc>
                  <a:txBody>
                    <a:bodyPr/>
                    <a:lstStyle/>
                    <a:p>
                      <a:r>
                        <a:rPr sz="1875" b="0">
                          <a:solidFill>
                            <a:srgbClr val="203040"/>
                          </a:solidFill>
                          <a:latin typeface="Arial"/>
                          <a:ea typeface="Arial"/>
                          <a:cs typeface="Arial"/>
                        </a:rPr>
                        <a:t>16</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28</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r>
              <a:tr h="571500">
                <a:tc>
                  <a:txBody>
                    <a:bodyPr/>
                    <a:lstStyle/>
                    <a:p>
                      <a:r>
                        <a:rPr sz="1875" b="0">
                          <a:solidFill>
                            <a:srgbClr val="203040"/>
                          </a:solidFill>
                          <a:latin typeface="Arial"/>
                          <a:ea typeface="Arial"/>
                          <a:cs typeface="Arial"/>
                        </a:rPr>
                        <a:t>21</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r>
              <a:tr h="571500">
                <a:tc>
                  <a:txBody>
                    <a:bodyPr/>
                    <a:lstStyle/>
                    <a:p>
                      <a:r>
                        <a:rPr sz="1875" b="0">
                          <a:solidFill>
                            <a:srgbClr val="203040"/>
                          </a:solidFill>
                          <a:latin typeface="Arial"/>
                          <a:ea typeface="Arial"/>
                          <a:cs typeface="Arial"/>
                        </a:rPr>
                        <a:t>26</a:t>
                      </a:r>
                    </a:p>
                  </a:txBody>
                  <a:tcPr marL="91440" marR="91440" marT="45720" marB="45720">
                    <a:solidFill>
                      <a:srgbClr val="FFFFFF"/>
                    </a:solidFill>
                  </a:tcPr>
                </a:tc>
                <a:tc>
                  <a:txBody>
                    <a:bodyPr/>
                    <a:lstStyle/>
                    <a:p>
                      <a:r>
                        <a:rPr sz="1875" b="0">
                          <a:solidFill>
                            <a:srgbClr val="203040"/>
                          </a:solidFill>
                          <a:latin typeface="Arial"/>
                          <a:ea typeface="Arial"/>
                          <a:cs typeface="Arial"/>
                        </a:rPr>
                        <a:t>4</a:t>
                      </a:r>
                    </a:p>
                  </a:txBody>
                  <a:tcPr marL="91440" marR="91440" marT="45720" marB="45720">
                    <a:solidFill>
                      <a:srgbClr val="FFFFFF"/>
                    </a:solidFill>
                  </a:tcPr>
                </a:tc>
                <a:tc>
                  <a:txBody>
                    <a:bodyPr/>
                    <a:lstStyle/>
                    <a:p>
                      <a:r>
                        <a:rPr sz="1875" b="0">
                          <a:solidFill>
                            <a:srgbClr val="203040"/>
                          </a:solidFill>
                          <a:latin typeface="Arial"/>
                          <a:ea typeface="Arial"/>
                          <a:cs typeface="Arial"/>
                        </a:rPr>
                        <a:t>4, 6, 8</a:t>
                      </a:r>
                    </a:p>
                  </a:txBody>
                  <a:tcPr marL="91440" marR="91440" marT="45720" marB="45720">
                    <a:solidFill>
                      <a:srgbClr val="FFFFFF"/>
                    </a:solidFill>
                  </a:tcPr>
                </a:tc>
                <a:tc>
                  <a:txBody>
                    <a:bodyPr/>
                    <a:lstStyle/>
                    <a:p>
                      <a:r>
                        <a:rPr sz="1875" b="0">
                          <a:solidFill>
                            <a:srgbClr val="203040"/>
                          </a:solidFill>
                          <a:latin typeface="Arial"/>
                          <a:ea typeface="Arial"/>
                          <a:cs typeface="Arial"/>
                        </a:rPr>
                        <a:t>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19A99FC-47A6-4413-8A79-89BB730D86EE}"/>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Occupied slots: 0:44, 4:4, 5:16, 6:28, 8:26, 10:21.</a:t>
            </a:r>
          </a:p>
        </p:txBody>
      </p:sp>
      <p:sp>
        <p:nvSpPr>
          <p:cNvPr id="7" name="local-java-ProbingPractice">
            <a:extLst xmlns:a="http://schemas.openxmlformats.org/drawingml/2006/main">
              <a:ext uri="{FF2B5EF4-FFF2-40B4-BE49-F238E27FC236}">
                <a16:creationId xmlns:a16="http://schemas.microsoft.com/office/drawing/2014/main" id="{D05A26FF-850E-48DD-9ED2-80F78303335A}"/>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f05114b2e4a640b5"/>
              </a:rPr>
              <a:t>Java: ProbingPractice.java</a:t>
            </a:r>
          </a:p>
        </p:txBody>
      </p:sp>
    </p:spTree>
    <p:extLst>
      <p:ext uri="{BB962C8B-B14F-4D97-AF65-F5344CB8AC3E}">
        <p14:creationId xmlns:p14="http://schemas.microsoft.com/office/powerpoint/2010/main" val="210230408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54474A-DA9F-4169-A75F-547409B10243}"/>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Quadratic probing</a:t>
            </a:r>
          </a:p>
        </p:txBody>
      </p:sp>
      <p:sp>
        <p:nvSpPr>
          <p:cNvPr id="2" name="">
            <a:extLst xmlns:a="http://schemas.openxmlformats.org/drawingml/2006/main">
              <a:ext uri="{FF2B5EF4-FFF2-40B4-BE49-F238E27FC236}">
                <a16:creationId xmlns:a16="http://schemas.microsoft.com/office/drawing/2014/main" id="{AA625085-21EE-4B3F-BC9E-C95D85E9EC28}"/>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86ADBCE6-02AB-4B74-930A-D41F574140DB}"/>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59D7D99C-0BDD-42E6-B9B5-A9DDA82C4819}"/>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Probe i uses (h(key) + i²) mod m.</a:t>
            </a:r>
          </a:p>
        </p:txBody>
      </p:sp>
      <p:sp>
        <p:nvSpPr>
          <p:cNvPr id="5" name="">
            <a:extLst xmlns:a="http://schemas.openxmlformats.org/drawingml/2006/main">
              <a:ext uri="{FF2B5EF4-FFF2-40B4-BE49-F238E27FC236}">
                <a16:creationId xmlns:a16="http://schemas.microsoft.com/office/drawing/2014/main" id="{A0E48D78-74E7-461D-8A06-CEFC51046D14}"/>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Offsets begin 0, 1, 4, 9, 16, 25, ...</a:t>
            </a:r>
          </a:p>
        </p:txBody>
      </p:sp>
      <p:sp>
        <p:nvSpPr>
          <p:cNvPr id="6" name="">
            <a:extLst xmlns:a="http://schemas.openxmlformats.org/drawingml/2006/main">
              <a:ext uri="{FF2B5EF4-FFF2-40B4-BE49-F238E27FC236}">
                <a16:creationId xmlns:a16="http://schemas.microsoft.com/office/drawing/2014/main" id="{D8BB0E61-0251-4809-BA11-AC1FCC49B998}"/>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This avoids the contiguous runs created by linear probing.</a:t>
            </a:r>
          </a:p>
        </p:txBody>
      </p:sp>
      <p:sp>
        <p:nvSpPr>
          <p:cNvPr id="7" name="">
            <a:extLst xmlns:a="http://schemas.openxmlformats.org/drawingml/2006/main">
              <a:ext uri="{FF2B5EF4-FFF2-40B4-BE49-F238E27FC236}">
                <a16:creationId xmlns:a16="http://schemas.microsoft.com/office/drawing/2014/main" id="{55240AE3-9586-4C13-8C81-CF8B6608920D}"/>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Keys with the same home slot still share a sequence.</a:t>
            </a:r>
          </a:p>
        </p:txBody>
      </p:sp>
      <p:sp>
        <p:nvSpPr>
          <p:cNvPr id="9" name="local-java-ProbeTable">
            <a:extLst xmlns:a="http://schemas.openxmlformats.org/drawingml/2006/main">
              <a:ext uri="{FF2B5EF4-FFF2-40B4-BE49-F238E27FC236}">
                <a16:creationId xmlns:a16="http://schemas.microsoft.com/office/drawing/2014/main" id="{FD5355CF-040A-4BC9-BA9C-69F32CDB7837}"/>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1da76fa78bfa4fb0"/>
              </a:rPr>
              <a:t>Java: ProbeTable.java</a:t>
            </a:r>
          </a:p>
        </p:txBody>
      </p:sp>
      <p:sp>
        <p:nvSpPr>
          <p:cNvPr id="10" name="local-java-QuadraticProbingDemo">
            <a:extLst xmlns:a="http://schemas.openxmlformats.org/drawingml/2006/main">
              <a:ext uri="{FF2B5EF4-FFF2-40B4-BE49-F238E27FC236}">
                <a16:creationId xmlns:a16="http://schemas.microsoft.com/office/drawing/2014/main" id="{3EF8EC54-5BC7-4BBE-B6DD-C345585EDD77}"/>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a0ee91563fd3424f"/>
              </a:rPr>
              <a:t>Java: QuadraticProbingDemo.java</a:t>
            </a:r>
          </a:p>
        </p:txBody>
      </p:sp>
    </p:spTree>
    <p:extLst>
      <p:ext uri="{BB962C8B-B14F-4D97-AF65-F5344CB8AC3E}">
        <p14:creationId xmlns:p14="http://schemas.microsoft.com/office/powerpoint/2010/main" val="12050277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9751DA-6009-4EB3-A590-4616251A21DE}"/>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Quadratic probing with capacity 10</a:t>
            </a:r>
          </a:p>
        </p:txBody>
      </p:sp>
      <p:sp>
        <p:nvSpPr>
          <p:cNvPr id="2" name="">
            <a:extLst xmlns:a="http://schemas.openxmlformats.org/drawingml/2006/main">
              <a:ext uri="{FF2B5EF4-FFF2-40B4-BE49-F238E27FC236}">
                <a16:creationId xmlns:a16="http://schemas.microsoft.com/office/drawing/2014/main" id="{2CACA96C-B424-4705-99E0-57E2F807F832}"/>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C72EEA87-4600-4F65-AA4B-A3C788CA9400}"/>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26</a:t>
            </a:r>
          </a:p>
        </p:txBody>
      </p:sp>
      <p:graphicFrame>
        <p:nvGraphicFramePr>
          <p:cNvPr id="4" name="">
            <a:extLst xmlns:a="http://schemas.openxmlformats.org/drawingml/2006/main">
              <a:ext uri="{FF2B5EF4-FFF2-40B4-BE49-F238E27FC236}">
                <a16:creationId xmlns:a16="http://schemas.microsoft.com/office/drawing/2014/main" id="{B1400C42-6C86-4679-BF9E-34C38326F86E}"/>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1714500"/>
                <a:gridCol w="1714500"/>
                <a:gridCol w="5524500"/>
                <a:gridCol w="2095500"/>
              </a:tblGrid>
              <a:tr h="666750">
                <a:tc>
                  <a:txBody>
                    <a:bodyPr/>
                    <a:lstStyle/>
                    <a:p>
                      <a:r>
                        <a:rPr sz="1875" b="1">
                          <a:solidFill>
                            <a:srgbClr val="FFFFFF"/>
                          </a:solidFill>
                          <a:latin typeface="Arial"/>
                          <a:ea typeface="Arial"/>
                          <a:cs typeface="Arial"/>
                        </a:rPr>
                        <a:t>Key</a:t>
                      </a:r>
                    </a:p>
                  </a:txBody>
                  <a:tcPr marL="91440" marR="91440" marT="45720" marB="45720">
                    <a:solidFill>
                      <a:srgbClr val="24583E"/>
                    </a:solidFill>
                  </a:tcPr>
                </a:tc>
                <a:tc>
                  <a:txBody>
                    <a:bodyPr/>
                    <a:lstStyle/>
                    <a:p>
                      <a:r>
                        <a:rPr sz="1875" b="1">
                          <a:solidFill>
                            <a:srgbClr val="FFFFFF"/>
                          </a:solidFill>
                          <a:latin typeface="Arial"/>
                          <a:ea typeface="Arial"/>
                          <a:cs typeface="Arial"/>
                        </a:rPr>
                        <a:t>Home</a:t>
                      </a:r>
                    </a:p>
                  </a:txBody>
                  <a:tcPr marL="91440" marR="91440" marT="45720" marB="45720">
                    <a:solidFill>
                      <a:srgbClr val="24583E"/>
                    </a:solidFill>
                  </a:tcPr>
                </a:tc>
                <a:tc>
                  <a:txBody>
                    <a:bodyPr/>
                    <a:lstStyle/>
                    <a:p>
                      <a:r>
                        <a:rPr sz="1875" b="1">
                          <a:solidFill>
                            <a:srgbClr val="FFFFFF"/>
                          </a:solidFill>
                          <a:latin typeface="Arial"/>
                          <a:ea typeface="Arial"/>
                          <a:cs typeface="Arial"/>
                        </a:rPr>
                        <a:t>Slots inspected</a:t>
                      </a:r>
                    </a:p>
                  </a:txBody>
                  <a:tcPr marL="91440" marR="91440" marT="45720" marB="45720">
                    <a:solidFill>
                      <a:srgbClr val="24583E"/>
                    </a:solidFill>
                  </a:tcPr>
                </a:tc>
                <a:tc>
                  <a:txBody>
                    <a:bodyPr/>
                    <a:lstStyle/>
                    <a:p>
                      <a:r>
                        <a:rPr sz="1875" b="1">
                          <a:solidFill>
                            <a:srgbClr val="FFFFFF"/>
                          </a:solidFill>
                          <a:latin typeface="Arial"/>
                          <a:ea typeface="Arial"/>
                          <a:cs typeface="Arial"/>
                        </a:rPr>
                        <a:t>Stored at</a:t>
                      </a:r>
                    </a:p>
                  </a:txBody>
                  <a:tcPr marL="91440" marR="91440" marT="45720" marB="45720">
                    <a:solidFill>
                      <a:srgbClr val="24583E"/>
                    </a:solidFill>
                  </a:tcPr>
                </a:tc>
              </a:tr>
              <a:tr h="666750">
                <a:tc>
                  <a:txBody>
                    <a:bodyPr/>
                    <a:lstStyle/>
                    <a:p>
                      <a:r>
                        <a:rPr sz="1875" b="0">
                          <a:solidFill>
                            <a:srgbClr val="203040"/>
                          </a:solidFill>
                          <a:latin typeface="Arial"/>
                          <a:ea typeface="Arial"/>
                          <a:cs typeface="Arial"/>
                        </a:rPr>
                        <a:t>89</a:t>
                      </a:r>
                    </a:p>
                  </a:txBody>
                  <a:tcPr marL="91440" marR="91440" marT="45720" marB="45720">
                    <a:solidFill>
                      <a:srgbClr val="F0F3F1"/>
                    </a:solidFill>
                  </a:tcPr>
                </a:tc>
                <a:tc>
                  <a:txBody>
                    <a:bodyPr/>
                    <a:lstStyle/>
                    <a:p>
                      <a:r>
                        <a:rPr sz="1875" b="0">
                          <a:solidFill>
                            <a:srgbClr val="203040"/>
                          </a:solidFill>
                          <a:latin typeface="Arial"/>
                          <a:ea typeface="Arial"/>
                          <a:cs typeface="Arial"/>
                        </a:rPr>
                        <a:t>9</a:t>
                      </a:r>
                    </a:p>
                  </a:txBody>
                  <a:tcPr marL="91440" marR="91440" marT="45720" marB="45720">
                    <a:solidFill>
                      <a:srgbClr val="F0F3F1"/>
                    </a:solidFill>
                  </a:tcPr>
                </a:tc>
                <a:tc>
                  <a:txBody>
                    <a:bodyPr/>
                    <a:lstStyle/>
                    <a:p>
                      <a:r>
                        <a:rPr sz="1875" b="0">
                          <a:solidFill>
                            <a:srgbClr val="203040"/>
                          </a:solidFill>
                          <a:latin typeface="Arial"/>
                          <a:ea typeface="Arial"/>
                          <a:cs typeface="Arial"/>
                        </a:rPr>
                        <a:t>9</a:t>
                      </a:r>
                    </a:p>
                  </a:txBody>
                  <a:tcPr marL="91440" marR="91440" marT="45720" marB="45720">
                    <a:solidFill>
                      <a:srgbClr val="F0F3F1"/>
                    </a:solidFill>
                  </a:tcPr>
                </a:tc>
                <a:tc>
                  <a:txBody>
                    <a:bodyPr/>
                    <a:lstStyle/>
                    <a:p>
                      <a:r>
                        <a:rPr sz="1875" b="0">
                          <a:solidFill>
                            <a:srgbClr val="203040"/>
                          </a:solidFill>
                          <a:latin typeface="Arial"/>
                          <a:ea typeface="Arial"/>
                          <a:cs typeface="Arial"/>
                        </a:rPr>
                        <a:t>9</a:t>
                      </a:r>
                    </a:p>
                  </a:txBody>
                  <a:tcPr marL="91440" marR="91440" marT="45720" marB="45720">
                    <a:solidFill>
                      <a:srgbClr val="F0F3F1"/>
                    </a:solidFill>
                  </a:tcPr>
                </a:tc>
              </a:tr>
              <a:tr h="666750">
                <a:tc>
                  <a:txBody>
                    <a:bodyPr/>
                    <a:lstStyle/>
                    <a:p>
                      <a:r>
                        <a:rPr sz="1875" b="0">
                          <a:solidFill>
                            <a:srgbClr val="203040"/>
                          </a:solidFill>
                          <a:latin typeface="Arial"/>
                          <a:ea typeface="Arial"/>
                          <a:cs typeface="Arial"/>
                        </a:rPr>
                        <a:t>18</a:t>
                      </a:r>
                    </a:p>
                  </a:txBody>
                  <a:tcPr marL="91440" marR="91440" marT="45720" marB="45720">
                    <a:solidFill>
                      <a:srgbClr val="FFFFFF"/>
                    </a:solidFill>
                  </a:tcPr>
                </a:tc>
                <a:tc>
                  <a:txBody>
                    <a:bodyPr/>
                    <a:lstStyle/>
                    <a:p>
                      <a:r>
                        <a:rPr sz="1875" b="0">
                          <a:solidFill>
                            <a:srgbClr val="203040"/>
                          </a:solidFill>
                          <a:latin typeface="Arial"/>
                          <a:ea typeface="Arial"/>
                          <a:cs typeface="Arial"/>
                        </a:rPr>
                        <a:t>8</a:t>
                      </a:r>
                    </a:p>
                  </a:txBody>
                  <a:tcPr marL="91440" marR="91440" marT="45720" marB="45720">
                    <a:solidFill>
                      <a:srgbClr val="FFFFFF"/>
                    </a:solidFill>
                  </a:tcPr>
                </a:tc>
                <a:tc>
                  <a:txBody>
                    <a:bodyPr/>
                    <a:lstStyle/>
                    <a:p>
                      <a:r>
                        <a:rPr sz="1875" b="0">
                          <a:solidFill>
                            <a:srgbClr val="203040"/>
                          </a:solidFill>
                          <a:latin typeface="Arial"/>
                          <a:ea typeface="Arial"/>
                          <a:cs typeface="Arial"/>
                        </a:rPr>
                        <a:t>8</a:t>
                      </a:r>
                    </a:p>
                  </a:txBody>
                  <a:tcPr marL="91440" marR="91440" marT="45720" marB="45720">
                    <a:solidFill>
                      <a:srgbClr val="FFFFFF"/>
                    </a:solidFill>
                  </a:tcPr>
                </a:tc>
                <a:tc>
                  <a:txBody>
                    <a:bodyPr/>
                    <a:lstStyle/>
                    <a:p>
                      <a:r>
                        <a:rPr sz="1875" b="0">
                          <a:solidFill>
                            <a:srgbClr val="203040"/>
                          </a:solidFill>
                          <a:latin typeface="Arial"/>
                          <a:ea typeface="Arial"/>
                          <a:cs typeface="Arial"/>
                        </a:rPr>
                        <a:t>8</a:t>
                      </a:r>
                    </a:p>
                  </a:txBody>
                  <a:tcPr marL="91440" marR="91440" marT="45720" marB="45720">
                    <a:solidFill>
                      <a:srgbClr val="FFFFFF"/>
                    </a:solidFill>
                  </a:tcPr>
                </a:tc>
              </a:tr>
              <a:tr h="666750">
                <a:tc>
                  <a:txBody>
                    <a:bodyPr/>
                    <a:lstStyle/>
                    <a:p>
                      <a:r>
                        <a:rPr sz="1875" b="0">
                          <a:solidFill>
                            <a:srgbClr val="203040"/>
                          </a:solidFill>
                          <a:latin typeface="Arial"/>
                          <a:ea typeface="Arial"/>
                          <a:cs typeface="Arial"/>
                        </a:rPr>
                        <a:t>49</a:t>
                      </a:r>
                    </a:p>
                  </a:txBody>
                  <a:tcPr marL="91440" marR="91440" marT="45720" marB="45720">
                    <a:solidFill>
                      <a:srgbClr val="F0F3F1"/>
                    </a:solidFill>
                  </a:tcPr>
                </a:tc>
                <a:tc>
                  <a:txBody>
                    <a:bodyPr/>
                    <a:lstStyle/>
                    <a:p>
                      <a:r>
                        <a:rPr sz="1875" b="0">
                          <a:solidFill>
                            <a:srgbClr val="203040"/>
                          </a:solidFill>
                          <a:latin typeface="Arial"/>
                          <a:ea typeface="Arial"/>
                          <a:cs typeface="Arial"/>
                        </a:rPr>
                        <a:t>9</a:t>
                      </a:r>
                    </a:p>
                  </a:txBody>
                  <a:tcPr marL="91440" marR="91440" marT="45720" marB="45720">
                    <a:solidFill>
                      <a:srgbClr val="F0F3F1"/>
                    </a:solidFill>
                  </a:tcPr>
                </a:tc>
                <a:tc>
                  <a:txBody>
                    <a:bodyPr/>
                    <a:lstStyle/>
                    <a:p>
                      <a:r>
                        <a:rPr sz="1875" b="0">
                          <a:solidFill>
                            <a:srgbClr val="203040"/>
                          </a:solidFill>
                          <a:latin typeface="Arial"/>
                          <a:ea typeface="Arial"/>
                          <a:cs typeface="Arial"/>
                        </a:rPr>
                        <a:t>9, 0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r>
              <a:tr h="666750">
                <a:tc>
                  <a:txBody>
                    <a:bodyPr/>
                    <a:lstStyle/>
                    <a:p>
                      <a:r>
                        <a:rPr sz="1875" b="0">
                          <a:solidFill>
                            <a:srgbClr val="203040"/>
                          </a:solidFill>
                          <a:latin typeface="Arial"/>
                          <a:ea typeface="Arial"/>
                          <a:cs typeface="Arial"/>
                        </a:rPr>
                        <a:t>58</a:t>
                      </a:r>
                    </a:p>
                  </a:txBody>
                  <a:tcPr marL="91440" marR="91440" marT="45720" marB="45720">
                    <a:solidFill>
                      <a:srgbClr val="FFFFFF"/>
                    </a:solidFill>
                  </a:tcPr>
                </a:tc>
                <a:tc>
                  <a:txBody>
                    <a:bodyPr/>
                    <a:lstStyle/>
                    <a:p>
                      <a:r>
                        <a:rPr sz="1875" b="0">
                          <a:solidFill>
                            <a:srgbClr val="203040"/>
                          </a:solidFill>
                          <a:latin typeface="Arial"/>
                          <a:ea typeface="Arial"/>
                          <a:cs typeface="Arial"/>
                        </a:rPr>
                        <a:t>8</a:t>
                      </a:r>
                    </a:p>
                  </a:txBody>
                  <a:tcPr marL="91440" marR="91440" marT="45720" marB="45720">
                    <a:solidFill>
                      <a:srgbClr val="FFFFFF"/>
                    </a:solidFill>
                  </a:tcPr>
                </a:tc>
                <a:tc>
                  <a:txBody>
                    <a:bodyPr/>
                    <a:lstStyle/>
                    <a:p>
                      <a:r>
                        <a:rPr sz="1875" b="0">
                          <a:solidFill>
                            <a:srgbClr val="203040"/>
                          </a:solidFill>
                          <a:latin typeface="Arial"/>
                          <a:ea typeface="Arial"/>
                          <a:cs typeface="Arial"/>
                        </a:rPr>
                        <a:t>8, 9, 2</a:t>
                      </a:r>
                    </a:p>
                  </a:txBody>
                  <a:tcPr marL="91440" marR="91440" marT="45720" marB="45720">
                    <a:solidFill>
                      <a:srgbClr val="FFFFFF"/>
                    </a:solidFill>
                  </a:tcPr>
                </a:tc>
                <a:tc>
                  <a:txBody>
                    <a:bodyPr/>
                    <a:lstStyle/>
                    <a:p>
                      <a:r>
                        <a:rPr sz="1875" b="0">
                          <a:solidFill>
                            <a:srgbClr val="203040"/>
                          </a:solidFill>
                          <a:latin typeface="Arial"/>
                          <a:ea typeface="Arial"/>
                          <a:cs typeface="Arial"/>
                        </a:rPr>
                        <a:t>2</a:t>
                      </a:r>
                    </a:p>
                  </a:txBody>
                  <a:tcPr marL="91440" marR="91440" marT="45720" marB="45720">
                    <a:solidFill>
                      <a:srgbClr val="FFFFFF"/>
                    </a:solidFill>
                  </a:tcPr>
                </a:tc>
              </a:tr>
              <a:tr h="666750">
                <a:tc>
                  <a:txBody>
                    <a:bodyPr/>
                    <a:lstStyle/>
                    <a:p>
                      <a:r>
                        <a:rPr sz="1875" b="0">
                          <a:solidFill>
                            <a:srgbClr val="203040"/>
                          </a:solidFill>
                          <a:latin typeface="Arial"/>
                          <a:ea typeface="Arial"/>
                          <a:cs typeface="Arial"/>
                        </a:rPr>
                        <a:t>79</a:t>
                      </a:r>
                    </a:p>
                  </a:txBody>
                  <a:tcPr marL="91440" marR="91440" marT="45720" marB="45720">
                    <a:solidFill>
                      <a:srgbClr val="F0F3F1"/>
                    </a:solidFill>
                  </a:tcPr>
                </a:tc>
                <a:tc>
                  <a:txBody>
                    <a:bodyPr/>
                    <a:lstStyle/>
                    <a:p>
                      <a:r>
                        <a:rPr sz="1875" b="0">
                          <a:solidFill>
                            <a:srgbClr val="203040"/>
                          </a:solidFill>
                          <a:latin typeface="Arial"/>
                          <a:ea typeface="Arial"/>
                          <a:cs typeface="Arial"/>
                        </a:rPr>
                        <a:t>9</a:t>
                      </a:r>
                    </a:p>
                  </a:txBody>
                  <a:tcPr marL="91440" marR="91440" marT="45720" marB="45720">
                    <a:solidFill>
                      <a:srgbClr val="F0F3F1"/>
                    </a:solidFill>
                  </a:tcPr>
                </a:tc>
                <a:tc>
                  <a:txBody>
                    <a:bodyPr/>
                    <a:lstStyle/>
                    <a:p>
                      <a:r>
                        <a:rPr sz="1875" b="0">
                          <a:solidFill>
                            <a:srgbClr val="203040"/>
                          </a:solidFill>
                          <a:latin typeface="Arial"/>
                          <a:ea typeface="Arial"/>
                          <a:cs typeface="Arial"/>
                        </a:rPr>
                        <a:t>9, 0, 3</a:t>
                      </a:r>
                    </a:p>
                  </a:txBody>
                  <a:tcPr marL="91440" marR="91440" marT="45720" marB="45720">
                    <a:solidFill>
                      <a:srgbClr val="F0F3F1"/>
                    </a:solidFill>
                  </a:tcPr>
                </a:tc>
                <a:tc>
                  <a:txBody>
                    <a:bodyPr/>
                    <a:lstStyle/>
                    <a:p>
                      <a:r>
                        <a:rPr sz="1875" b="0">
                          <a:solidFill>
                            <a:srgbClr val="203040"/>
                          </a:solidFill>
                          <a:latin typeface="Arial"/>
                          <a:ea typeface="Arial"/>
                          <a:cs typeface="Arial"/>
                        </a:rPr>
                        <a:t>3</a:t>
                      </a:r>
                    </a:p>
                  </a:txBody>
                  <a:tcPr marL="91440" marR="91440" marT="45720" marB="45720">
                    <a:solidFill>
                      <a:srgbClr val="F0F3F1"/>
                    </a:solidFill>
                  </a:tcPr>
                </a:tc>
              </a:tr>
            </a:tbl>
          </a:graphicData>
        </a:graphic>
      </p:graphicFrame>
      <p:sp>
        <p:nvSpPr>
          <p:cNvPr id="5" name="">
            <a:extLst xmlns:a="http://schemas.openxmlformats.org/drawingml/2006/main">
              <a:ext uri="{FF2B5EF4-FFF2-40B4-BE49-F238E27FC236}">
                <a16:creationId xmlns:a16="http://schemas.microsoft.com/office/drawing/2014/main" id="{AB3C43F6-BD6F-4A81-A3CC-9811DF87A268}"/>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The offset is i² from the original home slot on every probe.</a:t>
            </a:r>
          </a:p>
        </p:txBody>
      </p:sp>
      <p:sp>
        <p:nvSpPr>
          <p:cNvPr id="7" name="local-java-QuadraticProbingDemo">
            <a:extLst xmlns:a="http://schemas.openxmlformats.org/drawingml/2006/main">
              <a:ext uri="{FF2B5EF4-FFF2-40B4-BE49-F238E27FC236}">
                <a16:creationId xmlns:a16="http://schemas.microsoft.com/office/drawing/2014/main" id="{CCD03D5D-A5B5-44E3-BC8C-EB0066C66202}"/>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594867e3ba2749bd"/>
              </a:rPr>
              <a:t>Java: QuadraticProbingDemo.java</a:t>
            </a:r>
          </a:p>
        </p:txBody>
      </p:sp>
    </p:spTree>
    <p:extLst>
      <p:ext uri="{BB962C8B-B14F-4D97-AF65-F5344CB8AC3E}">
        <p14:creationId xmlns:p14="http://schemas.microsoft.com/office/powerpoint/2010/main" val="132692938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E8078D-D09A-478C-BF24-D59B62D65592}"/>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Quadratic probing can miss empty slots</a:t>
            </a:r>
          </a:p>
        </p:txBody>
      </p:sp>
      <p:sp>
        <p:nvSpPr>
          <p:cNvPr id="2" name="">
            <a:extLst xmlns:a="http://schemas.openxmlformats.org/drawingml/2006/main">
              <a:ext uri="{FF2B5EF4-FFF2-40B4-BE49-F238E27FC236}">
                <a16:creationId xmlns:a16="http://schemas.microsoft.com/office/drawing/2014/main" id="{57849235-D72D-4B0A-A41D-F06E875ABE2B}"/>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79859A65-16AE-4BFE-A91C-8E0C845FCE2D}"/>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27</a:t>
            </a:r>
          </a:p>
        </p:txBody>
      </p:sp>
      <p:graphicFrame>
        <p:nvGraphicFramePr>
          <p:cNvPr id="4" name="">
            <a:extLst xmlns:a="http://schemas.openxmlformats.org/drawingml/2006/main">
              <a:ext uri="{FF2B5EF4-FFF2-40B4-BE49-F238E27FC236}">
                <a16:creationId xmlns:a16="http://schemas.microsoft.com/office/drawing/2014/main" id="{606253A5-9022-4D6B-B3EC-54CD844BCC5B}"/>
              </a:ext>
            </a:extLst>
          </p:cNvPr>
          <p:cNvGraphicFramePr/>
          <p:nvPr/>
        </p:nvGraphicFramePr>
        <p:xfrm>
          <a:off xmlns:a="http://schemas.openxmlformats.org/drawingml/2006/main" x="571500" y="1428750"/>
          <a:ext xmlns:a="http://schemas.openxmlformats.org/drawingml/2006/main" cx="11049000" cy="4191000"/>
        </p:xfrm>
        <a:graphic xmlns:a="http://schemas.openxmlformats.org/drawingml/2006/main">
          <a:graphicData uri="http://schemas.openxmlformats.org/drawingml/2006/table">
            <a:tbl>
              <a:tblPr/>
              <a:tblGrid>
                <a:gridCol w="2000250"/>
                <a:gridCol w="6953250"/>
                <a:gridCol w="2095500"/>
              </a:tblGrid>
              <a:tr h="598714">
                <a:tc>
                  <a:txBody>
                    <a:bodyPr/>
                    <a:lstStyle/>
                    <a:p>
                      <a:r>
                        <a:rPr sz="1800" b="1">
                          <a:solidFill>
                            <a:srgbClr val="FFFFFF"/>
                          </a:solidFill>
                          <a:latin typeface="Arial"/>
                          <a:ea typeface="Arial"/>
                          <a:cs typeface="Arial"/>
                        </a:rPr>
                        <a:t>Key</a:t>
                      </a:r>
                    </a:p>
                  </a:txBody>
                  <a:tcPr marL="91440" marR="91440" marT="45720" marB="45720">
                    <a:solidFill>
                      <a:srgbClr val="24583E"/>
                    </a:solidFill>
                  </a:tcPr>
                </a:tc>
                <a:tc>
                  <a:txBody>
                    <a:bodyPr/>
                    <a:lstStyle/>
                    <a:p>
                      <a:r>
                        <a:rPr sz="1800" b="1">
                          <a:solidFill>
                            <a:srgbClr val="FFFFFF"/>
                          </a:solidFill>
                          <a:latin typeface="Arial"/>
                          <a:ea typeface="Arial"/>
                          <a:cs typeface="Arial"/>
                        </a:rPr>
                        <a:t>Probe path until placement</a:t>
                      </a:r>
                    </a:p>
                  </a:txBody>
                  <a:tcPr marL="91440" marR="91440" marT="45720" marB="45720">
                    <a:solidFill>
                      <a:srgbClr val="24583E"/>
                    </a:solidFill>
                  </a:tcPr>
                </a:tc>
                <a:tc>
                  <a:txBody>
                    <a:bodyPr/>
                    <a:lstStyle/>
                    <a:p>
                      <a:r>
                        <a:rPr sz="1800" b="1">
                          <a:solidFill>
                            <a:srgbClr val="FFFFFF"/>
                          </a:solidFill>
                          <a:latin typeface="Arial"/>
                          <a:ea typeface="Arial"/>
                          <a:cs typeface="Arial"/>
                        </a:rPr>
                        <a:t>Stored at</a:t>
                      </a:r>
                    </a:p>
                  </a:txBody>
                  <a:tcPr marL="91440" marR="91440" marT="45720" marB="45720">
                    <a:solidFill>
                      <a:srgbClr val="24583E"/>
                    </a:solidFill>
                  </a:tcPr>
                </a:tc>
              </a:tr>
              <a:tr h="598714">
                <a:tc>
                  <a:txBody>
                    <a:bodyPr/>
                    <a:lstStyle/>
                    <a:p>
                      <a:r>
                        <a:rPr sz="1800" b="0">
                          <a:solidFill>
                            <a:srgbClr val="203040"/>
                          </a:solidFill>
                          <a:latin typeface="Arial"/>
                          <a:ea typeface="Arial"/>
                          <a:cs typeface="Arial"/>
                        </a:rPr>
                        <a:t>76</a:t>
                      </a:r>
                    </a:p>
                  </a:txBody>
                  <a:tcPr marL="91440" marR="91440" marT="45720" marB="45720">
                    <a:solidFill>
                      <a:srgbClr val="F0F3F1"/>
                    </a:solidFill>
                  </a:tcPr>
                </a:tc>
                <a:tc>
                  <a:txBody>
                    <a:bodyPr/>
                    <a:lstStyle/>
                    <a:p>
                      <a:r>
                        <a:rPr sz="1800" b="0">
                          <a:solidFill>
                            <a:srgbClr val="203040"/>
                          </a:solidFill>
                          <a:latin typeface="Arial"/>
                          <a:ea typeface="Arial"/>
                          <a:cs typeface="Arial"/>
                        </a:rPr>
                        <a:t>6</a:t>
                      </a:r>
                    </a:p>
                  </a:txBody>
                  <a:tcPr marL="91440" marR="91440" marT="45720" marB="45720">
                    <a:solidFill>
                      <a:srgbClr val="F0F3F1"/>
                    </a:solidFill>
                  </a:tcPr>
                </a:tc>
                <a:tc>
                  <a:txBody>
                    <a:bodyPr/>
                    <a:lstStyle/>
                    <a:p>
                      <a:r>
                        <a:rPr sz="1800" b="0">
                          <a:solidFill>
                            <a:srgbClr val="203040"/>
                          </a:solidFill>
                          <a:latin typeface="Arial"/>
                          <a:ea typeface="Arial"/>
                          <a:cs typeface="Arial"/>
                        </a:rPr>
                        <a:t>6</a:t>
                      </a:r>
                    </a:p>
                  </a:txBody>
                  <a:tcPr marL="91440" marR="91440" marT="45720" marB="45720">
                    <a:solidFill>
                      <a:srgbClr val="F0F3F1"/>
                    </a:solidFill>
                  </a:tcPr>
                </a:tc>
              </a:tr>
              <a:tr h="598714">
                <a:tc>
                  <a:txBody>
                    <a:bodyPr/>
                    <a:lstStyle/>
                    <a:p>
                      <a:r>
                        <a:rPr sz="1800" b="0">
                          <a:solidFill>
                            <a:srgbClr val="203040"/>
                          </a:solidFill>
                          <a:latin typeface="Arial"/>
                          <a:ea typeface="Arial"/>
                          <a:cs typeface="Arial"/>
                        </a:rPr>
                        <a:t>40</a:t>
                      </a:r>
                    </a:p>
                  </a:txBody>
                  <a:tcPr marL="91440" marR="91440" marT="45720" marB="45720">
                    <a:solidFill>
                      <a:srgbClr val="FFFFFF"/>
                    </a:solidFill>
                  </a:tcPr>
                </a:tc>
                <a:tc>
                  <a:txBody>
                    <a:bodyPr/>
                    <a:lstStyle/>
                    <a:p>
                      <a:r>
                        <a:rPr sz="1800" b="0">
                          <a:solidFill>
                            <a:srgbClr val="203040"/>
                          </a:solidFill>
                          <a:latin typeface="Arial"/>
                          <a:ea typeface="Arial"/>
                          <a:cs typeface="Arial"/>
                        </a:rPr>
                        <a:t>5</a:t>
                      </a:r>
                    </a:p>
                  </a:txBody>
                  <a:tcPr marL="91440" marR="91440" marT="45720" marB="45720">
                    <a:solidFill>
                      <a:srgbClr val="FFFFFF"/>
                    </a:solidFill>
                  </a:tcPr>
                </a:tc>
                <a:tc>
                  <a:txBody>
                    <a:bodyPr/>
                    <a:lstStyle/>
                    <a:p>
                      <a:r>
                        <a:rPr sz="1800" b="0">
                          <a:solidFill>
                            <a:srgbClr val="203040"/>
                          </a:solidFill>
                          <a:latin typeface="Arial"/>
                          <a:ea typeface="Arial"/>
                          <a:cs typeface="Arial"/>
                        </a:rPr>
                        <a:t>5</a:t>
                      </a:r>
                    </a:p>
                  </a:txBody>
                  <a:tcPr marL="91440" marR="91440" marT="45720" marB="45720">
                    <a:solidFill>
                      <a:srgbClr val="FFFFFF"/>
                    </a:solidFill>
                  </a:tcPr>
                </a:tc>
              </a:tr>
              <a:tr h="598714">
                <a:tc>
                  <a:txBody>
                    <a:bodyPr/>
                    <a:lstStyle/>
                    <a:p>
                      <a:r>
                        <a:rPr sz="1800" b="0">
                          <a:solidFill>
                            <a:srgbClr val="203040"/>
                          </a:solidFill>
                          <a:latin typeface="Arial"/>
                          <a:ea typeface="Arial"/>
                          <a:cs typeface="Arial"/>
                        </a:rPr>
                        <a:t>48</a:t>
                      </a:r>
                    </a:p>
                  </a:txBody>
                  <a:tcPr marL="91440" marR="91440" marT="45720" marB="45720">
                    <a:solidFill>
                      <a:srgbClr val="F0F3F1"/>
                    </a:solidFill>
                  </a:tcPr>
                </a:tc>
                <a:tc>
                  <a:txBody>
                    <a:bodyPr/>
                    <a:lstStyle/>
                    <a:p>
                      <a:r>
                        <a:rPr sz="1800" b="0">
                          <a:solidFill>
                            <a:srgbClr val="203040"/>
                          </a:solidFill>
                          <a:latin typeface="Arial"/>
                          <a:ea typeface="Arial"/>
                          <a:cs typeface="Arial"/>
                        </a:rPr>
                        <a:t>6, 0</a:t>
                      </a:r>
                    </a:p>
                  </a:txBody>
                  <a:tcPr marL="91440" marR="91440" marT="45720" marB="45720">
                    <a:solidFill>
                      <a:srgbClr val="F0F3F1"/>
                    </a:solidFill>
                  </a:tcPr>
                </a:tc>
                <a:tc>
                  <a:txBody>
                    <a:bodyPr/>
                    <a:lstStyle/>
                    <a:p>
                      <a:r>
                        <a:rPr sz="1800" b="0">
                          <a:solidFill>
                            <a:srgbClr val="203040"/>
                          </a:solidFill>
                          <a:latin typeface="Arial"/>
                          <a:ea typeface="Arial"/>
                          <a:cs typeface="Arial"/>
                        </a:rPr>
                        <a:t>0</a:t>
                      </a:r>
                    </a:p>
                  </a:txBody>
                  <a:tcPr marL="91440" marR="91440" marT="45720" marB="45720">
                    <a:solidFill>
                      <a:srgbClr val="F0F3F1"/>
                    </a:solidFill>
                  </a:tcPr>
                </a:tc>
              </a:tr>
              <a:tr h="598714">
                <a:tc>
                  <a:txBody>
                    <a:bodyPr/>
                    <a:lstStyle/>
                    <a:p>
                      <a:r>
                        <a:rPr sz="1800" b="0">
                          <a:solidFill>
                            <a:srgbClr val="203040"/>
                          </a:solidFill>
                          <a:latin typeface="Arial"/>
                          <a:ea typeface="Arial"/>
                          <a:cs typeface="Arial"/>
                        </a:rPr>
                        <a:t>5</a:t>
                      </a:r>
                    </a:p>
                  </a:txBody>
                  <a:tcPr marL="91440" marR="91440" marT="45720" marB="45720">
                    <a:solidFill>
                      <a:srgbClr val="FFFFFF"/>
                    </a:solidFill>
                  </a:tcPr>
                </a:tc>
                <a:tc>
                  <a:txBody>
                    <a:bodyPr/>
                    <a:lstStyle/>
                    <a:p>
                      <a:r>
                        <a:rPr sz="1800" b="0">
                          <a:solidFill>
                            <a:srgbClr val="203040"/>
                          </a:solidFill>
                          <a:latin typeface="Arial"/>
                          <a:ea typeface="Arial"/>
                          <a:cs typeface="Arial"/>
                        </a:rPr>
                        <a:t>5, 6, 2</a:t>
                      </a:r>
                    </a:p>
                  </a:txBody>
                  <a:tcPr marL="91440" marR="91440" marT="45720" marB="45720">
                    <a:solidFill>
                      <a:srgbClr val="FFFFFF"/>
                    </a:solidFill>
                  </a:tcPr>
                </a:tc>
                <a:tc>
                  <a:txBody>
                    <a:bodyPr/>
                    <a:lstStyle/>
                    <a:p>
                      <a:r>
                        <a:rPr sz="1800" b="0">
                          <a:solidFill>
                            <a:srgbClr val="203040"/>
                          </a:solidFill>
                          <a:latin typeface="Arial"/>
                          <a:ea typeface="Arial"/>
                          <a:cs typeface="Arial"/>
                        </a:rPr>
                        <a:t>2</a:t>
                      </a:r>
                    </a:p>
                  </a:txBody>
                  <a:tcPr marL="91440" marR="91440" marT="45720" marB="45720">
                    <a:solidFill>
                      <a:srgbClr val="FFFFFF"/>
                    </a:solidFill>
                  </a:tcPr>
                </a:tc>
              </a:tr>
              <a:tr h="598714">
                <a:tc>
                  <a:txBody>
                    <a:bodyPr/>
                    <a:lstStyle/>
                    <a:p>
                      <a:r>
                        <a:rPr sz="1800" b="0">
                          <a:solidFill>
                            <a:srgbClr val="203040"/>
                          </a:solidFill>
                          <a:latin typeface="Arial"/>
                          <a:ea typeface="Arial"/>
                          <a:cs typeface="Arial"/>
                        </a:rPr>
                        <a:t>55</a:t>
                      </a:r>
                    </a:p>
                  </a:txBody>
                  <a:tcPr marL="91440" marR="91440" marT="45720" marB="45720">
                    <a:solidFill>
                      <a:srgbClr val="F0F3F1"/>
                    </a:solidFill>
                  </a:tcPr>
                </a:tc>
                <a:tc>
                  <a:txBody>
                    <a:bodyPr/>
                    <a:lstStyle/>
                    <a:p>
                      <a:r>
                        <a:rPr sz="1800" b="0">
                          <a:solidFill>
                            <a:srgbClr val="203040"/>
                          </a:solidFill>
                          <a:latin typeface="Arial"/>
                          <a:ea typeface="Arial"/>
                          <a:cs typeface="Arial"/>
                        </a:rPr>
                        <a:t>6, 0, 3</a:t>
                      </a:r>
                    </a:p>
                  </a:txBody>
                  <a:tcPr marL="91440" marR="91440" marT="45720" marB="45720">
                    <a:solidFill>
                      <a:srgbClr val="F0F3F1"/>
                    </a:solidFill>
                  </a:tcPr>
                </a:tc>
                <a:tc>
                  <a:txBody>
                    <a:bodyPr/>
                    <a:lstStyle/>
                    <a:p>
                      <a:r>
                        <a:rPr sz="1800" b="0">
                          <a:solidFill>
                            <a:srgbClr val="203040"/>
                          </a:solidFill>
                          <a:latin typeface="Arial"/>
                          <a:ea typeface="Arial"/>
                          <a:cs typeface="Arial"/>
                        </a:rPr>
                        <a:t>3</a:t>
                      </a:r>
                    </a:p>
                  </a:txBody>
                  <a:tcPr marL="91440" marR="91440" marT="45720" marB="45720">
                    <a:solidFill>
                      <a:srgbClr val="F0F3F1"/>
                    </a:solidFill>
                  </a:tcPr>
                </a:tc>
              </a:tr>
              <a:tr h="598714">
                <a:tc>
                  <a:txBody>
                    <a:bodyPr/>
                    <a:lstStyle/>
                    <a:p>
                      <a:r>
                        <a:rPr sz="1800" b="0">
                          <a:solidFill>
                            <a:srgbClr val="203040"/>
                          </a:solidFill>
                          <a:latin typeface="Arial"/>
                          <a:ea typeface="Arial"/>
                          <a:cs typeface="Arial"/>
                        </a:rPr>
                        <a:t>47</a:t>
                      </a:r>
                    </a:p>
                  </a:txBody>
                  <a:tcPr marL="91440" marR="91440" marT="45720" marB="45720">
                    <a:solidFill>
                      <a:srgbClr val="FFFFFF"/>
                    </a:solidFill>
                  </a:tcPr>
                </a:tc>
                <a:tc>
                  <a:txBody>
                    <a:bodyPr/>
                    <a:lstStyle/>
                    <a:p>
                      <a:r>
                        <a:rPr sz="1800" b="0">
                          <a:solidFill>
                            <a:srgbClr val="203040"/>
                          </a:solidFill>
                          <a:latin typeface="Arial"/>
                          <a:ea typeface="Arial"/>
                          <a:cs typeface="Arial"/>
                        </a:rPr>
                        <a:t>5, 6, 2, 0, 0, 2, 6</a:t>
                      </a:r>
                    </a:p>
                  </a:txBody>
                  <a:tcPr marL="91440" marR="91440" marT="45720" marB="45720">
                    <a:solidFill>
                      <a:srgbClr val="FFFFFF"/>
                    </a:solidFill>
                  </a:tcPr>
                </a:tc>
                <a:tc>
                  <a:txBody>
                    <a:bodyPr/>
                    <a:lstStyle/>
                    <a:p>
                      <a:r>
                        <a:rPr sz="1800" b="0">
                          <a:solidFill>
                            <a:srgbClr val="203040"/>
                          </a:solidFill>
                          <a:latin typeface="Arial"/>
                          <a:ea typeface="Arial"/>
                          <a:cs typeface="Arial"/>
                        </a:rPr>
                        <a:t>Fails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F226497-9A6D-44EB-AAC6-89AC0245BF84}"/>
              </a:ext>
            </a:extLst>
          </p:cNvPr>
          <p:cNvSpPr>
            <a:spLocks xmlns:a="http://schemas.openxmlformats.org/drawingml/2006/main" noGrp="1"/>
          </p:cNvSpPr>
          <p:nvPr/>
        </p:nvSpPr>
        <p:spPr>
          <a:xfrm xmlns:a="http://schemas.openxmlformats.org/drawingml/2006/main">
            <a:off x="571500" y="57912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Capacity 7. Slots 1 and 4 remain empty, but 47 cannot reach them.</a:t>
            </a:r>
          </a:p>
        </p:txBody>
      </p:sp>
      <p:sp>
        <p:nvSpPr>
          <p:cNvPr id="7" name="local-java-QuadraticProbingDemo">
            <a:extLst xmlns:a="http://schemas.openxmlformats.org/drawingml/2006/main">
              <a:ext uri="{FF2B5EF4-FFF2-40B4-BE49-F238E27FC236}">
                <a16:creationId xmlns:a16="http://schemas.microsoft.com/office/drawing/2014/main" id="{F7F338FB-11FD-4E33-A78B-DC632EE12F1B}"/>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2f24bc8de5ef426c"/>
              </a:rPr>
              <a:t>Java: QuadraticProbingDemo.java</a:t>
            </a:r>
          </a:p>
        </p:txBody>
      </p:sp>
    </p:spTree>
    <p:extLst>
      <p:ext uri="{BB962C8B-B14F-4D97-AF65-F5344CB8AC3E}">
        <p14:creationId xmlns:p14="http://schemas.microsoft.com/office/powerpoint/2010/main" val="109359937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CBD570-3F90-40B7-950D-45840B0C373E}"/>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Double hashing</a:t>
            </a:r>
          </a:p>
        </p:txBody>
      </p:sp>
      <p:sp>
        <p:nvSpPr>
          <p:cNvPr id="2" name="">
            <a:extLst xmlns:a="http://schemas.openxmlformats.org/drawingml/2006/main">
              <a:ext uri="{FF2B5EF4-FFF2-40B4-BE49-F238E27FC236}">
                <a16:creationId xmlns:a16="http://schemas.microsoft.com/office/drawing/2014/main" id="{33E9ED0A-162C-40AB-A003-A3AD1DD94CC3}"/>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1C24A424-DB64-4F40-BAC9-FB33EE6BAB9F}"/>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28</a:t>
            </a:r>
          </a:p>
        </p:txBody>
      </p:sp>
      <p:sp>
        <p:nvSpPr>
          <p:cNvPr id="4" name="">
            <a:extLst xmlns:a="http://schemas.openxmlformats.org/drawingml/2006/main">
              <a:ext uri="{FF2B5EF4-FFF2-40B4-BE49-F238E27FC236}">
                <a16:creationId xmlns:a16="http://schemas.microsoft.com/office/drawing/2014/main" id="{75A2D875-7438-4262-825A-A7B3348A122C}"/>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Probe i uses (h1(key) + i × h2(key)) mod m.</a:t>
            </a:r>
          </a:p>
        </p:txBody>
      </p:sp>
      <p:sp>
        <p:nvSpPr>
          <p:cNvPr id="5" name="">
            <a:extLst xmlns:a="http://schemas.openxmlformats.org/drawingml/2006/main">
              <a:ext uri="{FF2B5EF4-FFF2-40B4-BE49-F238E27FC236}">
                <a16:creationId xmlns:a16="http://schemas.microsoft.com/office/drawing/2014/main" id="{8BBCBD42-64B7-40C4-9336-F8A7D03C1635}"/>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h1 gives the home slot. h2 gives a key-dependent step.</a:t>
            </a:r>
          </a:p>
        </p:txBody>
      </p:sp>
      <p:sp>
        <p:nvSpPr>
          <p:cNvPr id="6" name="">
            <a:extLst xmlns:a="http://schemas.openxmlformats.org/drawingml/2006/main">
              <a:ext uri="{FF2B5EF4-FFF2-40B4-BE49-F238E27FC236}">
                <a16:creationId xmlns:a16="http://schemas.microsoft.com/office/drawing/2014/main" id="{D1C348DA-F093-4098-A412-A6CA323F9EDD}"/>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 nonzero step is necessary. Full coverage also needs gcd(step, m) = 1.</a:t>
            </a:r>
          </a:p>
        </p:txBody>
      </p:sp>
      <p:sp>
        <p:nvSpPr>
          <p:cNvPr id="7" name="">
            <a:extLst xmlns:a="http://schemas.openxmlformats.org/drawingml/2006/main">
              <a:ext uri="{FF2B5EF4-FFF2-40B4-BE49-F238E27FC236}">
                <a16:creationId xmlns:a16="http://schemas.microsoft.com/office/drawing/2014/main" id="{B6F365E3-159E-4194-840A-ADFE626A24DD}"/>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Different keys can still share both hash results.</a:t>
            </a:r>
          </a:p>
        </p:txBody>
      </p:sp>
      <p:sp>
        <p:nvSpPr>
          <p:cNvPr id="9" name="local-java-ProbeTable">
            <a:extLst xmlns:a="http://schemas.openxmlformats.org/drawingml/2006/main">
              <a:ext uri="{FF2B5EF4-FFF2-40B4-BE49-F238E27FC236}">
                <a16:creationId xmlns:a16="http://schemas.microsoft.com/office/drawing/2014/main" id="{00981532-A7C6-45DF-A15C-3F798AEA0E48}"/>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edb183eaf5fc4464"/>
              </a:rPr>
              <a:t>Java: ProbeTable.java</a:t>
            </a:r>
          </a:p>
        </p:txBody>
      </p:sp>
      <p:sp>
        <p:nvSpPr>
          <p:cNvPr id="10" name="local-java-DoubleHashingDemo">
            <a:extLst xmlns:a="http://schemas.openxmlformats.org/drawingml/2006/main">
              <a:ext uri="{FF2B5EF4-FFF2-40B4-BE49-F238E27FC236}">
                <a16:creationId xmlns:a16="http://schemas.microsoft.com/office/drawing/2014/main" id="{4FC37E5F-457B-43BF-A750-B4DF23BDE79E}"/>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70199483f23e403c"/>
              </a:rPr>
              <a:t>Java: DoubleHashingDemo.java</a:t>
            </a:r>
          </a:p>
        </p:txBody>
      </p:sp>
    </p:spTree>
    <p:extLst>
      <p:ext uri="{BB962C8B-B14F-4D97-AF65-F5344CB8AC3E}">
        <p14:creationId xmlns:p14="http://schemas.microsoft.com/office/powerpoint/2010/main" val="153829674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F68EEF-9441-4AF7-B069-5A91A435D435}"/>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A double-hashing configuration that fails</a:t>
            </a:r>
          </a:p>
        </p:txBody>
      </p:sp>
      <p:sp>
        <p:nvSpPr>
          <p:cNvPr id="2" name="">
            <a:extLst xmlns:a="http://schemas.openxmlformats.org/drawingml/2006/main">
              <a:ext uri="{FF2B5EF4-FFF2-40B4-BE49-F238E27FC236}">
                <a16:creationId xmlns:a16="http://schemas.microsoft.com/office/drawing/2014/main" id="{8BB9C6D6-CC28-4456-A5B1-9C3C56A826F1}"/>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8B96A0DC-12E2-482E-AE98-6BA8ACBD8F98}"/>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29</a:t>
            </a:r>
          </a:p>
        </p:txBody>
      </p:sp>
      <p:graphicFrame>
        <p:nvGraphicFramePr>
          <p:cNvPr id="4" name="">
            <a:extLst xmlns:a="http://schemas.openxmlformats.org/drawingml/2006/main">
              <a:ext uri="{FF2B5EF4-FFF2-40B4-BE49-F238E27FC236}">
                <a16:creationId xmlns:a16="http://schemas.microsoft.com/office/drawing/2014/main" id="{0FD87DE7-ABFE-4667-B4A9-7AD8613DAE84}"/>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1714500"/>
                <a:gridCol w="1714500"/>
                <a:gridCol w="4667250"/>
                <a:gridCol w="2952750"/>
              </a:tblGrid>
              <a:tr h="666750">
                <a:tc>
                  <a:txBody>
                    <a:bodyPr/>
                    <a:lstStyle/>
                    <a:p>
                      <a:r>
                        <a:rPr sz="1875" b="1">
                          <a:solidFill>
                            <a:srgbClr val="FFFFFF"/>
                          </a:solidFill>
                          <a:latin typeface="Arial"/>
                          <a:ea typeface="Arial"/>
                          <a:cs typeface="Arial"/>
                        </a:rPr>
                        <a:t>Key</a:t>
                      </a:r>
                    </a:p>
                  </a:txBody>
                  <a:tcPr marL="91440" marR="91440" marT="45720" marB="45720">
                    <a:solidFill>
                      <a:srgbClr val="24583E"/>
                    </a:solidFill>
                  </a:tcPr>
                </a:tc>
                <a:tc>
                  <a:txBody>
                    <a:bodyPr/>
                    <a:lstStyle/>
                    <a:p>
                      <a:r>
                        <a:rPr sz="1875" b="1">
                          <a:solidFill>
                            <a:srgbClr val="FFFFFF"/>
                          </a:solidFill>
                          <a:latin typeface="Arial"/>
                          <a:ea typeface="Arial"/>
                          <a:cs typeface="Arial"/>
                        </a:rPr>
                        <a:t>Step</a:t>
                      </a:r>
                    </a:p>
                  </a:txBody>
                  <a:tcPr marL="91440" marR="91440" marT="45720" marB="45720">
                    <a:solidFill>
                      <a:srgbClr val="24583E"/>
                    </a:solidFill>
                  </a:tcPr>
                </a:tc>
                <a:tc>
                  <a:txBody>
                    <a:bodyPr/>
                    <a:lstStyle/>
                    <a:p>
                      <a:r>
                        <a:rPr sz="1875" b="1">
                          <a:solidFill>
                            <a:srgbClr val="FFFFFF"/>
                          </a:solidFill>
                          <a:latin typeface="Arial"/>
                          <a:ea typeface="Arial"/>
                          <a:cs typeface="Arial"/>
                        </a:rPr>
                        <a:t>Slots inspected</a:t>
                      </a:r>
                    </a:p>
                  </a:txBody>
                  <a:tcPr marL="91440" marR="91440" marT="45720" marB="45720">
                    <a:solidFill>
                      <a:srgbClr val="24583E"/>
                    </a:solidFill>
                  </a:tcPr>
                </a:tc>
                <a:tc>
                  <a:txBody>
                    <a:bodyPr/>
                    <a:lstStyle/>
                    <a:p>
                      <a:r>
                        <a:rPr sz="1875" b="1">
                          <a:solidFill>
                            <a:srgbClr val="FFFFFF"/>
                          </a:solidFill>
                          <a:latin typeface="Arial"/>
                          <a:ea typeface="Arial"/>
                          <a:cs typeface="Arial"/>
                        </a:rPr>
                        <a:t>Result</a:t>
                      </a:r>
                    </a:p>
                  </a:txBody>
                  <a:tcPr marL="91440" marR="91440" marT="45720" marB="45720">
                    <a:solidFill>
                      <a:srgbClr val="24583E"/>
                    </a:solidFill>
                  </a:tcPr>
                </a:tc>
              </a:tr>
              <a:tr h="666750">
                <a:tc>
                  <a:txBody>
                    <a:bodyPr/>
                    <a:lstStyle/>
                    <a:p>
                      <a:r>
                        <a:rPr sz="1875" b="0">
                          <a:solidFill>
                            <a:srgbClr val="203040"/>
                          </a:solidFill>
                          <a:latin typeface="Arial"/>
                          <a:ea typeface="Arial"/>
                          <a:cs typeface="Arial"/>
                        </a:rPr>
                        <a:t>13</a:t>
                      </a:r>
                    </a:p>
                  </a:txBody>
                  <a:tcPr marL="91440" marR="91440" marT="45720" marB="45720">
                    <a:solidFill>
                      <a:srgbClr val="F0F3F1"/>
                    </a:solidFill>
                  </a:tcPr>
                </a:tc>
                <a:tc>
                  <a:txBody>
                    <a:bodyPr/>
                    <a:lstStyle/>
                    <a:p>
                      <a:r>
                        <a:rPr sz="1875" b="0">
                          <a:solidFill>
                            <a:srgbClr val="203040"/>
                          </a:solidFill>
                          <a:latin typeface="Arial"/>
                          <a:ea typeface="Arial"/>
                          <a:cs typeface="Arial"/>
                        </a:rPr>
                        <a:t>2</a:t>
                      </a:r>
                    </a:p>
                  </a:txBody>
                  <a:tcPr marL="91440" marR="91440" marT="45720" marB="45720">
                    <a:solidFill>
                      <a:srgbClr val="F0F3F1"/>
                    </a:solidFill>
                  </a:tcPr>
                </a:tc>
                <a:tc>
                  <a:txBody>
                    <a:bodyPr/>
                    <a:lstStyle/>
                    <a:p>
                      <a:r>
                        <a:rPr sz="1875" b="0">
                          <a:solidFill>
                            <a:srgbClr val="203040"/>
                          </a:solidFill>
                          <a:latin typeface="Arial"/>
                          <a:ea typeface="Arial"/>
                          <a:cs typeface="Arial"/>
                        </a:rPr>
                        <a:t>3</a:t>
                      </a:r>
                    </a:p>
                  </a:txBody>
                  <a:tcPr marL="91440" marR="91440" marT="45720" marB="45720">
                    <a:solidFill>
                      <a:srgbClr val="F0F3F1"/>
                    </a:solidFill>
                  </a:tcPr>
                </a:tc>
                <a:tc>
                  <a:txBody>
                    <a:bodyPr/>
                    <a:lstStyle/>
                    <a:p>
                      <a:r>
                        <a:rPr sz="1875" b="0">
                          <a:solidFill>
                            <a:srgbClr val="203040"/>
                          </a:solidFill>
                          <a:latin typeface="Arial"/>
                          <a:ea typeface="Arial"/>
                          <a:cs typeface="Arial"/>
                        </a:rPr>
                        <a:t>Stored at 3</a:t>
                      </a:r>
                    </a:p>
                  </a:txBody>
                  <a:tcPr marL="91440" marR="91440" marT="45720" marB="45720">
                    <a:solidFill>
                      <a:srgbClr val="F0F3F1"/>
                    </a:solidFill>
                  </a:tcPr>
                </a:tc>
              </a:tr>
              <a:tr h="666750">
                <a:tc>
                  <a:txBody>
                    <a:bodyPr/>
                    <a:lstStyle/>
                    <a:p>
                      <a:r>
                        <a:rPr sz="1875" b="0">
                          <a:solidFill>
                            <a:srgbClr val="203040"/>
                          </a:solidFill>
                          <a:latin typeface="Arial"/>
                          <a:ea typeface="Arial"/>
                          <a:cs typeface="Arial"/>
                        </a:rPr>
                        <a:t>28</a:t>
                      </a:r>
                    </a:p>
                  </a:txBody>
                  <a:tcPr marL="91440" marR="91440" marT="45720" marB="45720">
                    <a:solidFill>
                      <a:srgbClr val="FFFFFF"/>
                    </a:solidFill>
                  </a:tcPr>
                </a:tc>
                <a:tc>
                  <a:txBody>
                    <a:bodyPr/>
                    <a:lstStyle/>
                    <a:p>
                      <a:r>
                        <a:rPr sz="1875" b="0">
                          <a:solidFill>
                            <a:srgbClr val="203040"/>
                          </a:solidFill>
                          <a:latin typeface="Arial"/>
                          <a:ea typeface="Arial"/>
                          <a:cs typeface="Arial"/>
                        </a:rPr>
                        <a:t>3</a:t>
                      </a:r>
                    </a:p>
                  </a:txBody>
                  <a:tcPr marL="91440" marR="91440" marT="45720" marB="45720">
                    <a:solidFill>
                      <a:srgbClr val="FFFFFF"/>
                    </a:solidFill>
                  </a:tcPr>
                </a:tc>
                <a:tc>
                  <a:txBody>
                    <a:bodyPr/>
                    <a:lstStyle/>
                    <a:p>
                      <a:r>
                        <a:rPr sz="1875" b="0">
                          <a:solidFill>
                            <a:srgbClr val="203040"/>
                          </a:solidFill>
                          <a:latin typeface="Arial"/>
                          <a:ea typeface="Arial"/>
                          <a:cs typeface="Arial"/>
                        </a:rPr>
                        <a:t>8</a:t>
                      </a:r>
                    </a:p>
                  </a:txBody>
                  <a:tcPr marL="91440" marR="91440" marT="45720" marB="45720">
                    <a:solidFill>
                      <a:srgbClr val="FFFFFF"/>
                    </a:solidFill>
                  </a:tcPr>
                </a:tc>
                <a:tc>
                  <a:txBody>
                    <a:bodyPr/>
                    <a:lstStyle/>
                    <a:p>
                      <a:r>
                        <a:rPr sz="1875" b="0">
                          <a:solidFill>
                            <a:srgbClr val="203040"/>
                          </a:solidFill>
                          <a:latin typeface="Arial"/>
                          <a:ea typeface="Arial"/>
                          <a:cs typeface="Arial"/>
                        </a:rPr>
                        <a:t>Stored at 8</a:t>
                      </a:r>
                    </a:p>
                  </a:txBody>
                  <a:tcPr marL="91440" marR="91440" marT="45720" marB="45720">
                    <a:solidFill>
                      <a:srgbClr val="FFFFFF"/>
                    </a:solidFill>
                  </a:tcPr>
                </a:tc>
              </a:tr>
              <a:tr h="666750">
                <a:tc>
                  <a:txBody>
                    <a:bodyPr/>
                    <a:lstStyle/>
                    <a:p>
                      <a:r>
                        <a:rPr sz="1875" b="0">
                          <a:solidFill>
                            <a:srgbClr val="203040"/>
                          </a:solidFill>
                          <a:latin typeface="Arial"/>
                          <a:ea typeface="Arial"/>
                          <a:cs typeface="Arial"/>
                        </a:rPr>
                        <a:t>33</a:t>
                      </a:r>
                    </a:p>
                  </a:txBody>
                  <a:tcPr marL="91440" marR="91440" marT="45720" marB="45720">
                    <a:solidFill>
                      <a:srgbClr val="F0F3F1"/>
                    </a:solidFill>
                  </a:tcPr>
                </a:tc>
                <a:tc>
                  <a:txBody>
                    <a:bodyPr/>
                    <a:lstStyle/>
                    <a:p>
                      <a:r>
                        <a:rPr sz="1875" b="0">
                          <a:solidFill>
                            <a:srgbClr val="203040"/>
                          </a:solidFill>
                          <a:latin typeface="Arial"/>
                          <a:ea typeface="Arial"/>
                          <a:cs typeface="Arial"/>
                        </a:rPr>
                        <a:t>4</a:t>
                      </a:r>
                    </a:p>
                  </a:txBody>
                  <a:tcPr marL="91440" marR="91440" marT="45720" marB="45720">
                    <a:solidFill>
                      <a:srgbClr val="F0F3F1"/>
                    </a:solidFill>
                  </a:tcPr>
                </a:tc>
                <a:tc>
                  <a:txBody>
                    <a:bodyPr/>
                    <a:lstStyle/>
                    <a:p>
                      <a:r>
                        <a:rPr sz="1875" b="0">
                          <a:solidFill>
                            <a:srgbClr val="203040"/>
                          </a:solidFill>
                          <a:latin typeface="Arial"/>
                          <a:ea typeface="Arial"/>
                          <a:cs typeface="Arial"/>
                        </a:rPr>
                        <a:t>3, 7</a:t>
                      </a:r>
                    </a:p>
                  </a:txBody>
                  <a:tcPr marL="91440" marR="91440" marT="45720" marB="45720">
                    <a:solidFill>
                      <a:srgbClr val="F0F3F1"/>
                    </a:solidFill>
                  </a:tcPr>
                </a:tc>
                <a:tc>
                  <a:txBody>
                    <a:bodyPr/>
                    <a:lstStyle/>
                    <a:p>
                      <a:r>
                        <a:rPr sz="1875" b="0">
                          <a:solidFill>
                            <a:srgbClr val="203040"/>
                          </a:solidFill>
                          <a:latin typeface="Arial"/>
                          <a:ea typeface="Arial"/>
                          <a:cs typeface="Arial"/>
                        </a:rPr>
                        <a:t>Stored at 7</a:t>
                      </a:r>
                    </a:p>
                  </a:txBody>
                  <a:tcPr marL="91440" marR="91440" marT="45720" marB="45720">
                    <a:solidFill>
                      <a:srgbClr val="F0F3F1"/>
                    </a:solidFill>
                  </a:tcPr>
                </a:tc>
              </a:tr>
              <a:tr h="666750">
                <a:tc>
                  <a:txBody>
                    <a:bodyPr/>
                    <a:lstStyle/>
                    <a:p>
                      <a:r>
                        <a:rPr sz="1875" b="0">
                          <a:solidFill>
                            <a:srgbClr val="203040"/>
                          </a:solidFill>
                          <a:latin typeface="Arial"/>
                          <a:ea typeface="Arial"/>
                          <a:cs typeface="Arial"/>
                        </a:rPr>
                        <a:t>147</a:t>
                      </a:r>
                    </a:p>
                  </a:txBody>
                  <a:tcPr marL="91440" marR="91440" marT="45720" marB="45720">
                    <a:solidFill>
                      <a:srgbClr val="FFFFFF"/>
                    </a:solidFill>
                  </a:tcPr>
                </a:tc>
                <a:tc>
                  <a:txBody>
                    <a:bodyPr/>
                    <a:lstStyle/>
                    <a:p>
                      <a:r>
                        <a:rPr sz="1875" b="0">
                          <a:solidFill>
                            <a:srgbClr val="203040"/>
                          </a:solidFill>
                          <a:latin typeface="Arial"/>
                          <a:ea typeface="Arial"/>
                          <a:cs typeface="Arial"/>
                        </a:rPr>
                        <a:t>6</a:t>
                      </a:r>
                    </a:p>
                  </a:txBody>
                  <a:tcPr marL="91440" marR="91440" marT="45720" marB="45720">
                    <a:solidFill>
                      <a:srgbClr val="FFFFFF"/>
                    </a:solidFill>
                  </a:tcPr>
                </a:tc>
                <a:tc>
                  <a:txBody>
                    <a:bodyPr/>
                    <a:lstStyle/>
                    <a:p>
                      <a:r>
                        <a:rPr sz="1875" b="0">
                          <a:solidFill>
                            <a:srgbClr val="203040"/>
                          </a:solidFill>
                          <a:latin typeface="Arial"/>
                          <a:ea typeface="Arial"/>
                          <a:cs typeface="Arial"/>
                        </a:rPr>
                        <a:t>7, 3, 9</a:t>
                      </a:r>
                    </a:p>
                  </a:txBody>
                  <a:tcPr marL="91440" marR="91440" marT="45720" marB="45720">
                    <a:solidFill>
                      <a:srgbClr val="FFFFFF"/>
                    </a:solidFill>
                  </a:tcPr>
                </a:tc>
                <a:tc>
                  <a:txBody>
                    <a:bodyPr/>
                    <a:lstStyle/>
                    <a:p>
                      <a:r>
                        <a:rPr sz="1875" b="0">
                          <a:solidFill>
                            <a:srgbClr val="203040"/>
                          </a:solidFill>
                          <a:latin typeface="Arial"/>
                          <a:ea typeface="Arial"/>
                          <a:cs typeface="Arial"/>
                        </a:rPr>
                        <a:t>Stored at 9</a:t>
                      </a:r>
                    </a:p>
                  </a:txBody>
                  <a:tcPr marL="91440" marR="91440" marT="45720" marB="45720">
                    <a:solidFill>
                      <a:srgbClr val="FFFFFF"/>
                    </a:solidFill>
                  </a:tcPr>
                </a:tc>
              </a:tr>
              <a:tr h="666750">
                <a:tc>
                  <a:txBody>
                    <a:bodyPr/>
                    <a:lstStyle/>
                    <a:p>
                      <a:r>
                        <a:rPr sz="1875" b="0">
                          <a:solidFill>
                            <a:srgbClr val="203040"/>
                          </a:solidFill>
                          <a:latin typeface="Arial"/>
                          <a:ea typeface="Arial"/>
                          <a:cs typeface="Arial"/>
                        </a:rPr>
                        <a:t>43</a:t>
                      </a:r>
                    </a:p>
                  </a:txBody>
                  <a:tcPr marL="91440" marR="91440" marT="45720" marB="45720">
                    <a:solidFill>
                      <a:srgbClr val="F0F3F1"/>
                    </a:solidFill>
                  </a:tcPr>
                </a:tc>
                <a:tc>
                  <a:txBody>
                    <a:bodyPr/>
                    <a:lstStyle/>
                    <a:p>
                      <a:r>
                        <a:rPr sz="1875" b="0">
                          <a:solidFill>
                            <a:srgbClr val="203040"/>
                          </a:solidFill>
                          <a:latin typeface="Arial"/>
                          <a:ea typeface="Arial"/>
                          <a:cs typeface="Arial"/>
                        </a:rPr>
                        <a:t>5</a:t>
                      </a:r>
                    </a:p>
                  </a:txBody>
                  <a:tcPr marL="91440" marR="91440" marT="45720" marB="45720">
                    <a:solidFill>
                      <a:srgbClr val="F0F3F1"/>
                    </a:solidFill>
                  </a:tcPr>
                </a:tc>
                <a:tc>
                  <a:txBody>
                    <a:bodyPr/>
                    <a:lstStyle/>
                    <a:p>
                      <a:r>
                        <a:rPr sz="1875" b="0">
                          <a:solidFill>
                            <a:srgbClr val="203040"/>
                          </a:solidFill>
                          <a:latin typeface="Arial"/>
                          <a:ea typeface="Arial"/>
                          <a:cs typeface="Arial"/>
                        </a:rPr>
                        <a:t>3, 8, 3, 8, ...</a:t>
                      </a:r>
                    </a:p>
                  </a:txBody>
                  <a:tcPr marL="91440" marR="91440" marT="45720" marB="45720">
                    <a:solidFill>
                      <a:srgbClr val="F0F3F1"/>
                    </a:solidFill>
                  </a:tcPr>
                </a:tc>
                <a:tc>
                  <a:txBody>
                    <a:bodyPr/>
                    <a:lstStyle/>
                    <a:p>
                      <a:r>
                        <a:rPr sz="1875" b="0">
                          <a:solidFill>
                            <a:srgbClr val="203040"/>
                          </a:solidFill>
                          <a:latin typeface="Arial"/>
                          <a:ea typeface="Arial"/>
                          <a:cs typeface="Arial"/>
                        </a:rPr>
                        <a:t>Fails</a:t>
                      </a:r>
                    </a:p>
                  </a:txBody>
                  <a:tcPr marL="91440" marR="91440" marT="45720" marB="45720">
                    <a:solidFill>
                      <a:srgbClr val="F0F3F1"/>
                    </a:solidFill>
                  </a:tcPr>
                </a:tc>
              </a:tr>
            </a:tbl>
          </a:graphicData>
        </a:graphic>
      </p:graphicFrame>
      <p:sp>
        <p:nvSpPr>
          <p:cNvPr id="5" name="">
            <a:extLst xmlns:a="http://schemas.openxmlformats.org/drawingml/2006/main">
              <a:ext uri="{FF2B5EF4-FFF2-40B4-BE49-F238E27FC236}">
                <a16:creationId xmlns:a16="http://schemas.microsoft.com/office/drawing/2014/main" id="{2D838265-4E0C-4074-95C3-6F43B62DCEEE}"/>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m = 10. h1(k) = k % 10. h2(k) = 1 + ((k / 10) % 9), using integer division.</a:t>
            </a:r>
          </a:p>
        </p:txBody>
      </p:sp>
      <p:sp>
        <p:nvSpPr>
          <p:cNvPr id="7" name="local-java-DoubleHashingDemo">
            <a:extLst xmlns:a="http://schemas.openxmlformats.org/drawingml/2006/main">
              <a:ext uri="{FF2B5EF4-FFF2-40B4-BE49-F238E27FC236}">
                <a16:creationId xmlns:a16="http://schemas.microsoft.com/office/drawing/2014/main" id="{9C1ABEBE-EA10-49AF-8739-4E8E8BF86545}"/>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3ba445f4cdf546eb"/>
              </a:rPr>
              <a:t>Java: DoubleHashingDemo.java</a:t>
            </a:r>
          </a:p>
        </p:txBody>
      </p:sp>
    </p:spTree>
    <p:extLst>
      <p:ext uri="{BB962C8B-B14F-4D97-AF65-F5344CB8AC3E}">
        <p14:creationId xmlns:p14="http://schemas.microsoft.com/office/powerpoint/2010/main" val="29261928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E6927A-31E4-45D0-A55B-569611EB3E2E}"/>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A full-coverage double-hashing scheme</a:t>
            </a:r>
          </a:p>
        </p:txBody>
      </p:sp>
      <p:sp>
        <p:nvSpPr>
          <p:cNvPr id="2" name="">
            <a:extLst xmlns:a="http://schemas.openxmlformats.org/drawingml/2006/main">
              <a:ext uri="{FF2B5EF4-FFF2-40B4-BE49-F238E27FC236}">
                <a16:creationId xmlns:a16="http://schemas.microsoft.com/office/drawing/2014/main" id="{198D84E6-BCBB-410A-BBA3-07188E56F803}"/>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62E6B645-453C-4779-8F0A-87CD3C703B15}"/>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DD234C79-9996-4BA6-AA9C-0C9FEF98A581}"/>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Choose a prime capacity p and a smaller prime q.</a:t>
            </a:r>
          </a:p>
        </p:txBody>
      </p:sp>
      <p:sp>
        <p:nvSpPr>
          <p:cNvPr id="5" name="">
            <a:extLst xmlns:a="http://schemas.openxmlformats.org/drawingml/2006/main">
              <a:ext uri="{FF2B5EF4-FFF2-40B4-BE49-F238E27FC236}">
                <a16:creationId xmlns:a16="http://schemas.microsoft.com/office/drawing/2014/main" id="{5400EC3E-1D3C-47CC-A39F-2AE56D132F30}"/>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h1(key) = floorMod(key, p).</a:t>
            </a:r>
          </a:p>
        </p:txBody>
      </p:sp>
      <p:sp>
        <p:nvSpPr>
          <p:cNvPr id="6" name="">
            <a:extLst xmlns:a="http://schemas.openxmlformats.org/drawingml/2006/main">
              <a:ext uri="{FF2B5EF4-FFF2-40B4-BE49-F238E27FC236}">
                <a16:creationId xmlns:a16="http://schemas.microsoft.com/office/drawing/2014/main" id="{84FB1554-26E2-40AD-80AA-9ACFBD255C82}"/>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h2(key) = q - floorMod(key, q).</a:t>
            </a:r>
          </a:p>
        </p:txBody>
      </p:sp>
      <p:sp>
        <p:nvSpPr>
          <p:cNvPr id="7" name="">
            <a:extLst xmlns:a="http://schemas.openxmlformats.org/drawingml/2006/main">
              <a:ext uri="{FF2B5EF4-FFF2-40B4-BE49-F238E27FC236}">
                <a16:creationId xmlns:a16="http://schemas.microsoft.com/office/drawing/2014/main" id="{D60CE6C5-E550-4C11-9422-E198EFB3535E}"/>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Every step lies between 1 and q, so it is coprime to p.</a:t>
            </a:r>
          </a:p>
        </p:txBody>
      </p:sp>
      <p:sp>
        <p:nvSpPr>
          <p:cNvPr id="9" name="local-java-DoubleHashingDemo">
            <a:extLst xmlns:a="http://schemas.openxmlformats.org/drawingml/2006/main">
              <a:ext uri="{FF2B5EF4-FFF2-40B4-BE49-F238E27FC236}">
                <a16:creationId xmlns:a16="http://schemas.microsoft.com/office/drawing/2014/main" id="{F32C3D0B-F83B-423F-BB9F-EC58B5053BB0}"/>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d87c5b07b6ac4585"/>
              </a:rPr>
              <a:t>Java: DoubleHashingDemo.java</a:t>
            </a:r>
          </a:p>
        </p:txBody>
      </p:sp>
    </p:spTree>
    <p:extLst>
      <p:ext uri="{BB962C8B-B14F-4D97-AF65-F5344CB8AC3E}">
        <p14:creationId xmlns:p14="http://schemas.microsoft.com/office/powerpoint/2010/main" val="100552086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1B2B84-28C4-434A-8D2F-AD1BF897A63A}"/>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Separate chaining</a:t>
            </a:r>
          </a:p>
        </p:txBody>
      </p:sp>
      <p:sp>
        <p:nvSpPr>
          <p:cNvPr id="2" name="">
            <a:extLst xmlns:a="http://schemas.openxmlformats.org/drawingml/2006/main">
              <a:ext uri="{FF2B5EF4-FFF2-40B4-BE49-F238E27FC236}">
                <a16:creationId xmlns:a16="http://schemas.microsoft.com/office/drawing/2014/main" id="{45DF434F-685D-43CB-9462-BEBB45FA587F}"/>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18E3930B-D625-45D1-BC8A-6B085D5CB7DD}"/>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31</a:t>
            </a:r>
          </a:p>
        </p:txBody>
      </p:sp>
      <p:sp>
        <p:nvSpPr>
          <p:cNvPr id="4" name="">
            <a:extLst xmlns:a="http://schemas.openxmlformats.org/drawingml/2006/main">
              <a:ext uri="{FF2B5EF4-FFF2-40B4-BE49-F238E27FC236}">
                <a16:creationId xmlns:a16="http://schemas.microsoft.com/office/drawing/2014/main" id="{7DE5FA01-6DAA-450E-B261-5546DAF08157}"/>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Each array bucket holds all entries that hash to that index.</a:t>
            </a:r>
          </a:p>
        </p:txBody>
      </p:sp>
      <p:sp>
        <p:nvSpPr>
          <p:cNvPr id="5" name="">
            <a:extLst xmlns:a="http://schemas.openxmlformats.org/drawingml/2006/main">
              <a:ext uri="{FF2B5EF4-FFF2-40B4-BE49-F238E27FC236}">
                <a16:creationId xmlns:a16="http://schemas.microsoft.com/office/drawing/2014/main" id="{016D04FF-6DB6-4DE5-BF56-C88B211042D3}"/>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 linked list is a common bucket representation.</a:t>
            </a:r>
          </a:p>
        </p:txBody>
      </p:sp>
      <p:sp>
        <p:nvSpPr>
          <p:cNvPr id="6" name="">
            <a:extLst xmlns:a="http://schemas.openxmlformats.org/drawingml/2006/main">
              <a:ext uri="{FF2B5EF4-FFF2-40B4-BE49-F238E27FC236}">
                <a16:creationId xmlns:a16="http://schemas.microsoft.com/office/drawing/2014/main" id="{828FA8DB-6D05-47BC-9AE1-6BFB95E45AA9}"/>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Lookup compares keys within the selected bucket.</a:t>
            </a:r>
          </a:p>
        </p:txBody>
      </p:sp>
      <p:sp>
        <p:nvSpPr>
          <p:cNvPr id="7" name="">
            <a:extLst xmlns:a="http://schemas.openxmlformats.org/drawingml/2006/main">
              <a:ext uri="{FF2B5EF4-FFF2-40B4-BE49-F238E27FC236}">
                <a16:creationId xmlns:a16="http://schemas.microsoft.com/office/drawing/2014/main" id="{B03387EF-5AB1-4B59-98FB-C24BCC202112}"/>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Deletion unlinks an entry. Tombstones are unnecessary.</a:t>
            </a:r>
          </a:p>
        </p:txBody>
      </p:sp>
      <p:sp>
        <p:nvSpPr>
          <p:cNvPr id="9" name="local-java-MyHashMap">
            <a:extLst xmlns:a="http://schemas.openxmlformats.org/drawingml/2006/main">
              <a:ext uri="{FF2B5EF4-FFF2-40B4-BE49-F238E27FC236}">
                <a16:creationId xmlns:a16="http://schemas.microsoft.com/office/drawing/2014/main" id="{F621ACE9-0B4C-4CE8-ABC4-F2056DBBE1E8}"/>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e18aadd0dc7945d3"/>
              </a:rPr>
              <a:t>Java: MyHashMap.java</a:t>
            </a:r>
          </a:p>
        </p:txBody>
      </p:sp>
      <p:sp>
        <p:nvSpPr>
          <p:cNvPr id="10" name="local-java-ChainingDemo">
            <a:extLst xmlns:a="http://schemas.openxmlformats.org/drawingml/2006/main">
              <a:ext uri="{FF2B5EF4-FFF2-40B4-BE49-F238E27FC236}">
                <a16:creationId xmlns:a16="http://schemas.microsoft.com/office/drawing/2014/main" id="{5DB81677-FF3A-45C9-BF2D-14FD47D14284}"/>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445e6c7e73154e8a"/>
              </a:rPr>
              <a:t>Java: ChainingDemo.java</a:t>
            </a:r>
          </a:p>
        </p:txBody>
      </p:sp>
    </p:spTree>
    <p:extLst>
      <p:ext uri="{BB962C8B-B14F-4D97-AF65-F5344CB8AC3E}">
        <p14:creationId xmlns:p14="http://schemas.microsoft.com/office/powerpoint/2010/main" val="64682088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299EA9-A44F-4958-82FE-822A98D7990F}"/>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Chaining: five insertions</a:t>
            </a:r>
          </a:p>
        </p:txBody>
      </p:sp>
      <p:sp>
        <p:nvSpPr>
          <p:cNvPr id="2" name="">
            <a:extLst xmlns:a="http://schemas.openxmlformats.org/drawingml/2006/main">
              <a:ext uri="{FF2B5EF4-FFF2-40B4-BE49-F238E27FC236}">
                <a16:creationId xmlns:a16="http://schemas.microsoft.com/office/drawing/2014/main" id="{2D8D1455-943C-4566-A738-B522A7063532}"/>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DB5FDB34-37B7-4CAC-9BF9-D208A3E70842}"/>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32</a:t>
            </a:r>
          </a:p>
        </p:txBody>
      </p:sp>
      <p:graphicFrame>
        <p:nvGraphicFramePr>
          <p:cNvPr id="4" name="">
            <a:extLst xmlns:a="http://schemas.openxmlformats.org/drawingml/2006/main">
              <a:ext uri="{FF2B5EF4-FFF2-40B4-BE49-F238E27FC236}">
                <a16:creationId xmlns:a16="http://schemas.microsoft.com/office/drawing/2014/main" id="{4781E700-895F-4CE1-A9B7-CE2109C897DA}"/>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2476500"/>
                <a:gridCol w="3810000"/>
                <a:gridCol w="4762500"/>
              </a:tblGrid>
              <a:tr h="666750">
                <a:tc>
                  <a:txBody>
                    <a:bodyPr/>
                    <a:lstStyle/>
                    <a:p>
                      <a:r>
                        <a:rPr sz="1875" b="1">
                          <a:solidFill>
                            <a:srgbClr val="FFFFFF"/>
                          </a:solidFill>
                          <a:latin typeface="Arial"/>
                          <a:ea typeface="Arial"/>
                          <a:cs typeface="Arial"/>
                        </a:rPr>
                        <a:t>Inserted key</a:t>
                      </a:r>
                    </a:p>
                  </a:txBody>
                  <a:tcPr marL="91440" marR="91440" marT="45720" marB="45720">
                    <a:solidFill>
                      <a:srgbClr val="24583E"/>
                    </a:solidFill>
                  </a:tcPr>
                </a:tc>
                <a:tc>
                  <a:txBody>
                    <a:bodyPr/>
                    <a:lstStyle/>
                    <a:p>
                      <a:r>
                        <a:rPr sz="1875" b="1">
                          <a:solidFill>
                            <a:srgbClr val="FFFFFF"/>
                          </a:solidFill>
                          <a:latin typeface="Arial"/>
                          <a:ea typeface="Arial"/>
                          <a:cs typeface="Arial"/>
                        </a:rPr>
                        <a:t>Bucket: key mod 10</a:t>
                      </a:r>
                    </a:p>
                  </a:txBody>
                  <a:tcPr marL="91440" marR="91440" marT="45720" marB="45720">
                    <a:solidFill>
                      <a:srgbClr val="24583E"/>
                    </a:solidFill>
                  </a:tcPr>
                </a:tc>
                <a:tc>
                  <a:txBody>
                    <a:bodyPr/>
                    <a:lstStyle/>
                    <a:p>
                      <a:r>
                        <a:rPr sz="1875" b="1">
                          <a:solidFill>
                            <a:srgbClr val="FFFFFF"/>
                          </a:solidFill>
                          <a:latin typeface="Arial"/>
                          <a:ea typeface="Arial"/>
                          <a:cs typeface="Arial"/>
                        </a:rPr>
                        <a:t>Bucket after head insertion</a:t>
                      </a:r>
                    </a:p>
                  </a:txBody>
                  <a:tcPr marL="91440" marR="91440" marT="45720" marB="45720">
                    <a:solidFill>
                      <a:srgbClr val="24583E"/>
                    </a:solidFill>
                  </a:tcPr>
                </a:tc>
              </a:tr>
              <a:tr h="666750">
                <a:tc>
                  <a:txBody>
                    <a:bodyPr/>
                    <a:lstStyle/>
                    <a:p>
                      <a:r>
                        <a:rPr sz="1875" b="0">
                          <a:solidFill>
                            <a:srgbClr val="203040"/>
                          </a:solidFill>
                          <a:latin typeface="Arial"/>
                          <a:ea typeface="Arial"/>
                          <a:cs typeface="Arial"/>
                        </a:rPr>
                        <a:t>10</a:t>
                      </a:r>
                    </a:p>
                  </a:txBody>
                  <a:tcPr marL="91440" marR="91440" marT="45720" marB="45720">
                    <a:solidFill>
                      <a:srgbClr val="F0F3F1"/>
                    </a:solidFill>
                  </a:tcPr>
                </a:tc>
                <a:tc>
                  <a:txBody>
                    <a:bodyPr/>
                    <a:lstStyle/>
                    <a:p>
                      <a:r>
                        <a:rPr sz="1875" b="0">
                          <a:solidFill>
                            <a:srgbClr val="203040"/>
                          </a:solidFill>
                          <a:latin typeface="Arial"/>
                          <a:ea typeface="Arial"/>
                          <a:cs typeface="Arial"/>
                        </a:rPr>
                        <a:t>0</a:t>
                      </a:r>
                    </a:p>
                  </a:txBody>
                  <a:tcPr marL="91440" marR="91440" marT="45720" marB="45720">
                    <a:solidFill>
                      <a:srgbClr val="F0F3F1"/>
                    </a:solidFill>
                  </a:tcPr>
                </a:tc>
                <a:tc>
                  <a:txBody>
                    <a:bodyPr/>
                    <a:lstStyle/>
                    <a:p>
                      <a:r>
                        <a:rPr sz="1875" b="0">
                          <a:solidFill>
                            <a:srgbClr val="203040"/>
                          </a:solidFill>
                          <a:latin typeface="Arial"/>
                          <a:ea typeface="Arial"/>
                          <a:cs typeface="Arial"/>
                        </a:rPr>
                        <a:t>[10]</a:t>
                      </a:r>
                    </a:p>
                  </a:txBody>
                  <a:tcPr marL="91440" marR="91440" marT="45720" marB="45720">
                    <a:solidFill>
                      <a:srgbClr val="F0F3F1"/>
                    </a:solidFill>
                  </a:tcPr>
                </a:tc>
              </a:tr>
              <a:tr h="666750">
                <a:tc>
                  <a:txBody>
                    <a:bodyPr/>
                    <a:lstStyle/>
                    <a:p>
                      <a:r>
                        <a:rPr sz="1875" b="0">
                          <a:solidFill>
                            <a:srgbClr val="203040"/>
                          </a:solidFill>
                          <a:latin typeface="Arial"/>
                          <a:ea typeface="Arial"/>
                          <a:cs typeface="Arial"/>
                        </a:rPr>
                        <a:t>22</a:t>
                      </a:r>
                    </a:p>
                  </a:txBody>
                  <a:tcPr marL="91440" marR="91440" marT="45720" marB="45720">
                    <a:solidFill>
                      <a:srgbClr val="FFFFFF"/>
                    </a:solidFill>
                  </a:tcPr>
                </a:tc>
                <a:tc>
                  <a:txBody>
                    <a:bodyPr/>
                    <a:lstStyle/>
                    <a:p>
                      <a:r>
                        <a:rPr sz="1875" b="0">
                          <a:solidFill>
                            <a:srgbClr val="203040"/>
                          </a:solidFill>
                          <a:latin typeface="Arial"/>
                          <a:ea typeface="Arial"/>
                          <a:cs typeface="Arial"/>
                        </a:rPr>
                        <a:t>2</a:t>
                      </a:r>
                    </a:p>
                  </a:txBody>
                  <a:tcPr marL="91440" marR="91440" marT="45720" marB="45720">
                    <a:solidFill>
                      <a:srgbClr val="FFFFFF"/>
                    </a:solidFill>
                  </a:tcPr>
                </a:tc>
                <a:tc>
                  <a:txBody>
                    <a:bodyPr/>
                    <a:lstStyle/>
                    <a:p>
                      <a:r>
                        <a:rPr sz="1875" b="0">
                          <a:solidFill>
                            <a:srgbClr val="203040"/>
                          </a:solidFill>
                          <a:latin typeface="Arial"/>
                          <a:ea typeface="Arial"/>
                          <a:cs typeface="Arial"/>
                        </a:rPr>
                        <a:t>[22]</a:t>
                      </a:r>
                    </a:p>
                  </a:txBody>
                  <a:tcPr marL="91440" marR="91440" marT="45720" marB="45720">
                    <a:solidFill>
                      <a:srgbClr val="FFFFFF"/>
                    </a:solidFill>
                  </a:tcPr>
                </a:tc>
              </a:tr>
              <a:tr h="666750">
                <a:tc>
                  <a:txBody>
                    <a:bodyPr/>
                    <a:lstStyle/>
                    <a:p>
                      <a:r>
                        <a:rPr sz="1875" b="0">
                          <a:solidFill>
                            <a:srgbClr val="203040"/>
                          </a:solidFill>
                          <a:latin typeface="Arial"/>
                          <a:ea typeface="Arial"/>
                          <a:cs typeface="Arial"/>
                        </a:rPr>
                        <a:t>86</a:t>
                      </a:r>
                    </a:p>
                  </a:txBody>
                  <a:tcPr marL="91440" marR="91440" marT="45720" marB="45720">
                    <a:solidFill>
                      <a:srgbClr val="F0F3F1"/>
                    </a:solidFill>
                  </a:tcPr>
                </a:tc>
                <a:tc>
                  <a:txBody>
                    <a:bodyPr/>
                    <a:lstStyle/>
                    <a:p>
                      <a:r>
                        <a:rPr sz="1875" b="0">
                          <a:solidFill>
                            <a:srgbClr val="203040"/>
                          </a:solidFill>
                          <a:latin typeface="Arial"/>
                          <a:ea typeface="Arial"/>
                          <a:cs typeface="Arial"/>
                        </a:rPr>
                        <a:t>6</a:t>
                      </a:r>
                    </a:p>
                  </a:txBody>
                  <a:tcPr marL="91440" marR="91440" marT="45720" marB="45720">
                    <a:solidFill>
                      <a:srgbClr val="F0F3F1"/>
                    </a:solidFill>
                  </a:tcPr>
                </a:tc>
                <a:tc>
                  <a:txBody>
                    <a:bodyPr/>
                    <a:lstStyle/>
                    <a:p>
                      <a:r>
                        <a:rPr sz="1875" b="0">
                          <a:solidFill>
                            <a:srgbClr val="203040"/>
                          </a:solidFill>
                          <a:latin typeface="Arial"/>
                          <a:ea typeface="Arial"/>
                          <a:cs typeface="Arial"/>
                        </a:rPr>
                        <a:t>[86]</a:t>
                      </a:r>
                    </a:p>
                  </a:txBody>
                  <a:tcPr marL="91440" marR="91440" marT="45720" marB="45720">
                    <a:solidFill>
                      <a:srgbClr val="F0F3F1"/>
                    </a:solidFill>
                  </a:tcPr>
                </a:tc>
              </a:tr>
              <a:tr h="666750">
                <a:tc>
                  <a:txBody>
                    <a:bodyPr/>
                    <a:lstStyle/>
                    <a:p>
                      <a:r>
                        <a:rPr sz="1875" b="0">
                          <a:solidFill>
                            <a:srgbClr val="203040"/>
                          </a:solidFill>
                          <a:latin typeface="Arial"/>
                          <a:ea typeface="Arial"/>
                          <a:cs typeface="Arial"/>
                        </a:rPr>
                        <a:t>12</a:t>
                      </a:r>
                    </a:p>
                  </a:txBody>
                  <a:tcPr marL="91440" marR="91440" marT="45720" marB="45720">
                    <a:solidFill>
                      <a:srgbClr val="FFFFFF"/>
                    </a:solidFill>
                  </a:tcPr>
                </a:tc>
                <a:tc>
                  <a:txBody>
                    <a:bodyPr/>
                    <a:lstStyle/>
                    <a:p>
                      <a:r>
                        <a:rPr sz="1875" b="0">
                          <a:solidFill>
                            <a:srgbClr val="203040"/>
                          </a:solidFill>
                          <a:latin typeface="Arial"/>
                          <a:ea typeface="Arial"/>
                          <a:cs typeface="Arial"/>
                        </a:rPr>
                        <a:t>2</a:t>
                      </a:r>
                    </a:p>
                  </a:txBody>
                  <a:tcPr marL="91440" marR="91440" marT="45720" marB="45720">
                    <a:solidFill>
                      <a:srgbClr val="FFFFFF"/>
                    </a:solidFill>
                  </a:tcPr>
                </a:tc>
                <a:tc>
                  <a:txBody>
                    <a:bodyPr/>
                    <a:lstStyle/>
                    <a:p>
                      <a:r>
                        <a:rPr sz="1875" b="0">
                          <a:solidFill>
                            <a:srgbClr val="203040"/>
                          </a:solidFill>
                          <a:latin typeface="Arial"/>
                          <a:ea typeface="Arial"/>
                          <a:cs typeface="Arial"/>
                        </a:rPr>
                        <a:t>[12, 22]</a:t>
                      </a:r>
                    </a:p>
                  </a:txBody>
                  <a:tcPr marL="91440" marR="91440" marT="45720" marB="45720">
                    <a:solidFill>
                      <a:srgbClr val="FFFFFF"/>
                    </a:solidFill>
                  </a:tcPr>
                </a:tc>
              </a:tr>
              <a:tr h="666750">
                <a:tc>
                  <a:txBody>
                    <a:bodyPr/>
                    <a:lstStyle/>
                    <a:p>
                      <a:r>
                        <a:rPr sz="1875" b="0">
                          <a:solidFill>
                            <a:srgbClr val="203040"/>
                          </a:solidFill>
                          <a:latin typeface="Arial"/>
                          <a:ea typeface="Arial"/>
                          <a:cs typeface="Arial"/>
                        </a:rPr>
                        <a:t>42</a:t>
                      </a:r>
                    </a:p>
                  </a:txBody>
                  <a:tcPr marL="91440" marR="91440" marT="45720" marB="45720">
                    <a:solidFill>
                      <a:srgbClr val="F0F3F1"/>
                    </a:solidFill>
                  </a:tcPr>
                </a:tc>
                <a:tc>
                  <a:txBody>
                    <a:bodyPr/>
                    <a:lstStyle/>
                    <a:p>
                      <a:r>
                        <a:rPr sz="1875" b="0">
                          <a:solidFill>
                            <a:srgbClr val="203040"/>
                          </a:solidFill>
                          <a:latin typeface="Arial"/>
                          <a:ea typeface="Arial"/>
                          <a:cs typeface="Arial"/>
                        </a:rPr>
                        <a:t>2</a:t>
                      </a:r>
                    </a:p>
                  </a:txBody>
                  <a:tcPr marL="91440" marR="91440" marT="45720" marB="45720">
                    <a:solidFill>
                      <a:srgbClr val="F0F3F1"/>
                    </a:solidFill>
                  </a:tcPr>
                </a:tc>
                <a:tc>
                  <a:txBody>
                    <a:bodyPr/>
                    <a:lstStyle/>
                    <a:p>
                      <a:r>
                        <a:rPr sz="1875" b="0">
                          <a:solidFill>
                            <a:srgbClr val="203040"/>
                          </a:solidFill>
                          <a:latin typeface="Arial"/>
                          <a:ea typeface="Arial"/>
                          <a:cs typeface="Arial"/>
                        </a:rPr>
                        <a:t>[42, 12, 22]</a:t>
                      </a:r>
                    </a:p>
                  </a:txBody>
                  <a:tcPr marL="91440" marR="91440" marT="45720" marB="45720">
                    <a:solidFill>
                      <a:srgbClr val="F0F3F1"/>
                    </a:solidFill>
                  </a:tcPr>
                </a:tc>
              </a:tr>
            </a:tbl>
          </a:graphicData>
        </a:graphic>
      </p:graphicFrame>
      <p:sp>
        <p:nvSpPr>
          <p:cNvPr id="5" name="">
            <a:extLst xmlns:a="http://schemas.openxmlformats.org/drawingml/2006/main">
              <a:ext uri="{FF2B5EF4-FFF2-40B4-BE49-F238E27FC236}">
                <a16:creationId xmlns:a16="http://schemas.microsoft.com/office/drawing/2014/main" id="{AF243866-AA74-4AB1-A577-F8E817671983}"/>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Final nonempty buckets: 0:[10], 2:[42, 12, 22], 6:[86].</a:t>
            </a:r>
          </a:p>
        </p:txBody>
      </p:sp>
      <p:sp>
        <p:nvSpPr>
          <p:cNvPr id="7" name="local-java-ChainingDemo">
            <a:extLst xmlns:a="http://schemas.openxmlformats.org/drawingml/2006/main">
              <a:ext uri="{FF2B5EF4-FFF2-40B4-BE49-F238E27FC236}">
                <a16:creationId xmlns:a16="http://schemas.microsoft.com/office/drawing/2014/main" id="{0CA38409-CA88-41EC-95B0-B8BB782EC031}"/>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2308ffe047634ffa"/>
              </a:rPr>
              <a:t>Java: ChainingDemo.java</a:t>
            </a:r>
          </a:p>
        </p:txBody>
      </p:sp>
    </p:spTree>
    <p:extLst>
      <p:ext uri="{BB962C8B-B14F-4D97-AF65-F5344CB8AC3E}">
        <p14:creationId xmlns:p14="http://schemas.microsoft.com/office/powerpoint/2010/main" val="171959627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0A5408-AE8E-4C87-A6D6-8C13D24E6764}"/>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Load factor depends on the representation</a:t>
            </a:r>
          </a:p>
        </p:txBody>
      </p:sp>
      <p:sp>
        <p:nvSpPr>
          <p:cNvPr id="2" name="">
            <a:extLst xmlns:a="http://schemas.openxmlformats.org/drawingml/2006/main">
              <a:ext uri="{FF2B5EF4-FFF2-40B4-BE49-F238E27FC236}">
                <a16:creationId xmlns:a16="http://schemas.microsoft.com/office/drawing/2014/main" id="{C6655C7C-6B56-4A91-8F5E-83EF36647CB3}"/>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E9AB4AB1-3338-4F4D-A943-7763ABDB05B2}"/>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33</a:t>
            </a:r>
          </a:p>
        </p:txBody>
      </p:sp>
      <p:graphicFrame>
        <p:nvGraphicFramePr>
          <p:cNvPr id="4" name="">
            <a:extLst xmlns:a="http://schemas.openxmlformats.org/drawingml/2006/main">
              <a:ext uri="{FF2B5EF4-FFF2-40B4-BE49-F238E27FC236}">
                <a16:creationId xmlns:a16="http://schemas.microsoft.com/office/drawing/2014/main" id="{D607C219-B954-4276-A708-3534ABC6A444}"/>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4762500"/>
                <a:gridCol w="6286500"/>
              </a:tblGrid>
              <a:tr h="800100">
                <a:tc>
                  <a:txBody>
                    <a:bodyPr/>
                    <a:lstStyle/>
                    <a:p>
                      <a:r>
                        <a:rPr sz="1875" b="1">
                          <a:solidFill>
                            <a:srgbClr val="FFFFFF"/>
                          </a:solidFill>
                          <a:latin typeface="Arial"/>
                          <a:ea typeface="Arial"/>
                          <a:cs typeface="Arial"/>
                        </a:rPr>
                        <a:t>Quantity</a:t>
                      </a:r>
                    </a:p>
                  </a:txBody>
                  <a:tcPr marL="91440" marR="91440" marT="45720" marB="45720">
                    <a:solidFill>
                      <a:srgbClr val="24583E"/>
                    </a:solidFill>
                  </a:tcPr>
                </a:tc>
                <a:tc>
                  <a:txBody>
                    <a:bodyPr/>
                    <a:lstStyle/>
                    <a:p>
                      <a:r>
                        <a:rPr sz="1875" b="1">
                          <a:solidFill>
                            <a:srgbClr val="FFFFFF"/>
                          </a:solidFill>
                          <a:latin typeface="Arial"/>
                          <a:ea typeface="Arial"/>
                          <a:cs typeface="Arial"/>
                        </a:rPr>
                        <a:t>Definition or example</a:t>
                      </a:r>
                    </a:p>
                  </a:txBody>
                  <a:tcPr marL="91440" marR="91440" marT="45720" marB="45720">
                    <a:solidFill>
                      <a:srgbClr val="24583E"/>
                    </a:solidFill>
                  </a:tcPr>
                </a:tc>
              </a:tr>
              <a:tr h="800100">
                <a:tc>
                  <a:txBody>
                    <a:bodyPr/>
                    <a:lstStyle/>
                    <a:p>
                      <a:r>
                        <a:rPr sz="1875" b="0">
                          <a:solidFill>
                            <a:srgbClr val="203040"/>
                          </a:solidFill>
                          <a:latin typeface="Arial"/>
                          <a:ea typeface="Arial"/>
                          <a:cs typeface="Arial"/>
                        </a:rPr>
                        <a:t>Load factor alpha</a:t>
                      </a:r>
                    </a:p>
                  </a:txBody>
                  <a:tcPr marL="91440" marR="91440" marT="45720" marB="45720">
                    <a:solidFill>
                      <a:srgbClr val="F0F3F1"/>
                    </a:solidFill>
                  </a:tcPr>
                </a:tc>
                <a:tc>
                  <a:txBody>
                    <a:bodyPr/>
                    <a:lstStyle/>
                    <a:p>
                      <a:r>
                        <a:rPr sz="1875" b="0">
                          <a:solidFill>
                            <a:srgbClr val="203040"/>
                          </a:solidFill>
                          <a:latin typeface="Arial"/>
                          <a:ea typeface="Arial"/>
                          <a:cs typeface="Arial"/>
                        </a:rPr>
                        <a:t>n / m, entries divided by capacity</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Open addressing</a:t>
                      </a:r>
                    </a:p>
                  </a:txBody>
                  <a:tcPr marL="91440" marR="91440" marT="45720" marB="45720">
                    <a:solidFill>
                      <a:srgbClr val="FFFFFF"/>
                    </a:solidFill>
                  </a:tcPr>
                </a:tc>
                <a:tc>
                  <a:txBody>
                    <a:bodyPr/>
                    <a:lstStyle/>
                    <a:p>
                      <a:r>
                        <a:rPr sz="1875" b="0">
                          <a:solidFill>
                            <a:srgbClr val="203040"/>
                          </a:solidFill>
                          <a:latin typeface="Arial"/>
                          <a:ea typeface="Arial"/>
                          <a:cs typeface="Arial"/>
                        </a:rPr>
                        <a:t>n &lt;= m. Keep alpha below 1 for usable slack.</a:t>
                      </a:r>
                    </a:p>
                  </a:txBody>
                  <a:tcPr marL="91440" marR="91440" marT="45720" marB="45720">
                    <a:solidFill>
                      <a:srgbClr val="FFFFFF"/>
                    </a:solidFill>
                  </a:tcPr>
                </a:tc>
              </a:tr>
              <a:tr h="800100">
                <a:tc>
                  <a:txBody>
                    <a:bodyPr/>
                    <a:lstStyle/>
                    <a:p>
                      <a:r>
                        <a:rPr sz="1875" b="0">
                          <a:solidFill>
                            <a:srgbClr val="203040"/>
                          </a:solidFill>
                          <a:latin typeface="Arial"/>
                          <a:ea typeface="Arial"/>
                          <a:cs typeface="Arial"/>
                        </a:rPr>
                        <a:t>Chaining, 5 entries / 10 buckets</a:t>
                      </a:r>
                    </a:p>
                  </a:txBody>
                  <a:tcPr marL="91440" marR="91440" marT="45720" marB="45720">
                    <a:solidFill>
                      <a:srgbClr val="F0F3F1"/>
                    </a:solidFill>
                  </a:tcPr>
                </a:tc>
                <a:tc>
                  <a:txBody>
                    <a:bodyPr/>
                    <a:lstStyle/>
                    <a:p>
                      <a:r>
                        <a:rPr sz="1875" b="0">
                          <a:solidFill>
                            <a:srgbClr val="203040"/>
                          </a:solidFill>
                          <a:latin typeface="Arial"/>
                          <a:ea typeface="Arial"/>
                          <a:cs typeface="Arial"/>
                        </a:rPr>
                        <a:t>alpha = 0.5</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Chaining, 21 entries / 10 buckets</a:t>
                      </a:r>
                    </a:p>
                  </a:txBody>
                  <a:tcPr marL="91440" marR="91440" marT="45720" marB="45720">
                    <a:solidFill>
                      <a:srgbClr val="FFFFFF"/>
                    </a:solidFill>
                  </a:tcPr>
                </a:tc>
                <a:tc>
                  <a:txBody>
                    <a:bodyPr/>
                    <a:lstStyle/>
                    <a:p>
                      <a:r>
                        <a:rPr sz="1875" b="0">
                          <a:solidFill>
                            <a:srgbClr val="203040"/>
                          </a:solidFill>
                          <a:latin typeface="Arial"/>
                          <a:ea typeface="Arial"/>
                          <a:cs typeface="Arial"/>
                        </a:rPr>
                        <a:t>alpha = 2.1 is valid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00151ED-82A6-490D-8B88-BF5C4C31E292}"/>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A single universal threshold such as 2/3 does not apply to every design.</a:t>
            </a:r>
          </a:p>
        </p:txBody>
      </p:sp>
      <p:sp>
        <p:nvSpPr>
          <p:cNvPr id="7" name="local-java-ChainingDemo">
            <a:extLst xmlns:a="http://schemas.openxmlformats.org/drawingml/2006/main">
              <a:ext uri="{FF2B5EF4-FFF2-40B4-BE49-F238E27FC236}">
                <a16:creationId xmlns:a16="http://schemas.microsoft.com/office/drawing/2014/main" id="{040DE42B-7FFE-4FFA-BC1F-F1AFD82098FC}"/>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7a8a8aeceb184d40"/>
              </a:rPr>
              <a:t>Java: ChainingDemo.java</a:t>
            </a:r>
          </a:p>
        </p:txBody>
      </p:sp>
      <p:sp>
        <p:nvSpPr>
          <p:cNvPr id="8" name="local-java-HashAnalysisExamples">
            <a:extLst xmlns:a="http://schemas.openxmlformats.org/drawingml/2006/main">
              <a:ext uri="{FF2B5EF4-FFF2-40B4-BE49-F238E27FC236}">
                <a16:creationId xmlns:a16="http://schemas.microsoft.com/office/drawing/2014/main" id="{17E40C02-5156-4A3C-8560-07373E716961}"/>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13d6407bac53495e"/>
              </a:rPr>
              <a:t>Java: HashAnalysisExamples.java</a:t>
            </a:r>
          </a:p>
        </p:txBody>
      </p:sp>
    </p:spTree>
    <p:extLst>
      <p:ext uri="{BB962C8B-B14F-4D97-AF65-F5344CB8AC3E}">
        <p14:creationId xmlns:p14="http://schemas.microsoft.com/office/powerpoint/2010/main" val="4987866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62CD8E-5988-435E-A9E8-DEBD3BB77979}"/>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Chaining with 21 entries</a:t>
            </a:r>
          </a:p>
        </p:txBody>
      </p:sp>
      <p:sp>
        <p:nvSpPr>
          <p:cNvPr id="2" name="">
            <a:extLst xmlns:a="http://schemas.openxmlformats.org/drawingml/2006/main">
              <a:ext uri="{FF2B5EF4-FFF2-40B4-BE49-F238E27FC236}">
                <a16:creationId xmlns:a16="http://schemas.microsoft.com/office/drawing/2014/main" id="{40160FC7-ED0E-4B49-B5AF-72861445AB26}"/>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97B4CC40-26E0-42CC-B5C8-B09426DCEEFD}"/>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34</a:t>
            </a:r>
          </a:p>
        </p:txBody>
      </p:sp>
      <p:graphicFrame>
        <p:nvGraphicFramePr>
          <p:cNvPr id="4" name="">
            <a:extLst xmlns:a="http://schemas.openxmlformats.org/drawingml/2006/main">
              <a:ext uri="{FF2B5EF4-FFF2-40B4-BE49-F238E27FC236}">
                <a16:creationId xmlns:a16="http://schemas.microsoft.com/office/drawing/2014/main" id="{EC4C8323-2FB2-4620-8E57-809A031FC65E}"/>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2857500"/>
                <a:gridCol w="8191500"/>
              </a:tblGrid>
              <a:tr h="800100">
                <a:tc>
                  <a:txBody>
                    <a:bodyPr/>
                    <a:lstStyle/>
                    <a:p>
                      <a:r>
                        <a:rPr sz="1875" b="1">
                          <a:solidFill>
                            <a:srgbClr val="FFFFFF"/>
                          </a:solidFill>
                          <a:latin typeface="Arial"/>
                          <a:ea typeface="Arial"/>
                          <a:cs typeface="Arial"/>
                        </a:rPr>
                        <a:t>Bucket</a:t>
                      </a:r>
                    </a:p>
                  </a:txBody>
                  <a:tcPr marL="91440" marR="91440" marT="45720" marB="45720">
                    <a:solidFill>
                      <a:srgbClr val="24583E"/>
                    </a:solidFill>
                  </a:tcPr>
                </a:tc>
                <a:tc>
                  <a:txBody>
                    <a:bodyPr/>
                    <a:lstStyle/>
                    <a:p>
                      <a:r>
                        <a:rPr sz="1875" b="1">
                          <a:solidFill>
                            <a:srgbClr val="FFFFFF"/>
                          </a:solidFill>
                          <a:latin typeface="Arial"/>
                          <a:ea typeface="Arial"/>
                          <a:cs typeface="Arial"/>
                        </a:rPr>
                        <a:t>Chain, head first</a:t>
                      </a:r>
                    </a:p>
                  </a:txBody>
                  <a:tcPr marL="91440" marR="91440" marT="45720" marB="45720">
                    <a:solidFill>
                      <a:srgbClr val="24583E"/>
                    </a:solidFill>
                  </a:tcPr>
                </a:tc>
              </a:tr>
              <a:tr h="800100">
                <a:tc>
                  <a:txBody>
                    <a:bodyPr/>
                    <a:lstStyle/>
                    <a:p>
                      <a:r>
                        <a:rPr sz="1875" b="0">
                          <a:solidFill>
                            <a:srgbClr val="203040"/>
                          </a:solidFill>
                          <a:latin typeface="Arial"/>
                          <a:ea typeface="Arial"/>
                          <a:cs typeface="Arial"/>
                        </a:rPr>
                        <a:t>0 / 1 / 2</a:t>
                      </a:r>
                    </a:p>
                  </a:txBody>
                  <a:tcPr marL="91440" marR="91440" marT="45720" marB="45720">
                    <a:solidFill>
                      <a:srgbClr val="F0F3F1"/>
                    </a:solidFill>
                  </a:tcPr>
                </a:tc>
                <a:tc>
                  <a:txBody>
                    <a:bodyPr/>
                    <a:lstStyle/>
                    <a:p>
                      <a:r>
                        <a:rPr sz="1875" b="0">
                          <a:solidFill>
                            <a:srgbClr val="203040"/>
                          </a:solidFill>
                          <a:latin typeface="Arial"/>
                          <a:ea typeface="Arial"/>
                          <a:cs typeface="Arial"/>
                        </a:rPr>
                        <a:t>[10] / [71, 31] / [42, 12, 22, 2]</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3 / 4 / 5</a:t>
                      </a:r>
                    </a:p>
                  </a:txBody>
                  <a:tcPr marL="91440" marR="91440" marT="45720" marB="45720">
                    <a:solidFill>
                      <a:srgbClr val="FFFFFF"/>
                    </a:solidFill>
                  </a:tcPr>
                </a:tc>
                <a:tc>
                  <a:txBody>
                    <a:bodyPr/>
                    <a:lstStyle/>
                    <a:p>
                      <a:r>
                        <a:rPr sz="1875" b="0">
                          <a:solidFill>
                            <a:srgbClr val="203040"/>
                          </a:solidFill>
                          <a:latin typeface="Arial"/>
                          <a:ea typeface="Arial"/>
                          <a:cs typeface="Arial"/>
                        </a:rPr>
                        <a:t>[63, 73] / empty / [75, 5, 65, 95]</a:t>
                      </a:r>
                    </a:p>
                  </a:txBody>
                  <a:tcPr marL="91440" marR="91440" marT="45720" marB="45720">
                    <a:solidFill>
                      <a:srgbClr val="FFFFFF"/>
                    </a:solidFill>
                  </a:tcPr>
                </a:tc>
              </a:tr>
              <a:tr h="800100">
                <a:tc>
                  <a:txBody>
                    <a:bodyPr/>
                    <a:lstStyle/>
                    <a:p>
                      <a:r>
                        <a:rPr sz="1875" b="0">
                          <a:solidFill>
                            <a:srgbClr val="203040"/>
                          </a:solidFill>
                          <a:latin typeface="Arial"/>
                          <a:ea typeface="Arial"/>
                          <a:cs typeface="Arial"/>
                        </a:rPr>
                        <a:t>6 / 7</a:t>
                      </a:r>
                    </a:p>
                  </a:txBody>
                  <a:tcPr marL="91440" marR="91440" marT="45720" marB="45720">
                    <a:solidFill>
                      <a:srgbClr val="F0F3F1"/>
                    </a:solidFill>
                  </a:tcPr>
                </a:tc>
                <a:tc>
                  <a:txBody>
                    <a:bodyPr/>
                    <a:lstStyle/>
                    <a:p>
                      <a:r>
                        <a:rPr sz="1875" b="0">
                          <a:solidFill>
                            <a:srgbClr val="203040"/>
                          </a:solidFill>
                          <a:latin typeface="Arial"/>
                          <a:ea typeface="Arial"/>
                          <a:cs typeface="Arial"/>
                        </a:rPr>
                        <a:t>[86] / [27, 47]</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8 / 9</a:t>
                      </a:r>
                    </a:p>
                  </a:txBody>
                  <a:tcPr marL="91440" marR="91440" marT="45720" marB="45720">
                    <a:solidFill>
                      <a:srgbClr val="FFFFFF"/>
                    </a:solidFill>
                  </a:tcPr>
                </a:tc>
                <a:tc>
                  <a:txBody>
                    <a:bodyPr/>
                    <a:lstStyle/>
                    <a:p>
                      <a:r>
                        <a:rPr sz="1875" b="0">
                          <a:solidFill>
                            <a:srgbClr val="203040"/>
                          </a:solidFill>
                          <a:latin typeface="Arial"/>
                          <a:ea typeface="Arial"/>
                          <a:cs typeface="Arial"/>
                        </a:rPr>
                        <a:t>[88, 18, 38, 98] / [99]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9CFECA6-EED5-41BB-8637-D23871911FB7}"/>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21 entries in 10 buckets give alpha = 2.1.</a:t>
            </a:r>
          </a:p>
        </p:txBody>
      </p:sp>
      <p:sp>
        <p:nvSpPr>
          <p:cNvPr id="7" name="local-java-ChainingDemo">
            <a:extLst xmlns:a="http://schemas.openxmlformats.org/drawingml/2006/main">
              <a:ext uri="{FF2B5EF4-FFF2-40B4-BE49-F238E27FC236}">
                <a16:creationId xmlns:a16="http://schemas.microsoft.com/office/drawing/2014/main" id="{6AD28ABF-28F3-432C-B298-2F06073264C3}"/>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8255a402203743e3"/>
              </a:rPr>
              <a:t>Java: ChainingDemo.java</a:t>
            </a:r>
          </a:p>
        </p:txBody>
      </p:sp>
    </p:spTree>
    <p:extLst>
      <p:ext uri="{BB962C8B-B14F-4D97-AF65-F5344CB8AC3E}">
        <p14:creationId xmlns:p14="http://schemas.microsoft.com/office/powerpoint/2010/main" val="168519296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88B46E-10BA-4C33-B090-D602A2971087}"/>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Rehashing changes the table layout</a:t>
            </a:r>
          </a:p>
        </p:txBody>
      </p:sp>
      <p:sp>
        <p:nvSpPr>
          <p:cNvPr id="2" name="">
            <a:extLst xmlns:a="http://schemas.openxmlformats.org/drawingml/2006/main">
              <a:ext uri="{FF2B5EF4-FFF2-40B4-BE49-F238E27FC236}">
                <a16:creationId xmlns:a16="http://schemas.microsoft.com/office/drawing/2014/main" id="{8F388C6B-8F70-48A5-AED1-2B8995ADD050}"/>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4659E26D-3E46-4F43-8CB2-FCF117AB3172}"/>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35</a:t>
            </a:r>
          </a:p>
        </p:txBody>
      </p:sp>
      <p:sp>
        <p:nvSpPr>
          <p:cNvPr id="4" name="">
            <a:extLst xmlns:a="http://schemas.openxmlformats.org/drawingml/2006/main">
              <a:ext uri="{FF2B5EF4-FFF2-40B4-BE49-F238E27FC236}">
                <a16:creationId xmlns:a16="http://schemas.microsoft.com/office/drawing/2014/main" id="{4FE3C216-DF1F-4942-90E6-620C8B18079C}"/>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Allocate a larger table when the chosen threshold is reached.</a:t>
            </a:r>
          </a:p>
        </p:txBody>
      </p:sp>
      <p:sp>
        <p:nvSpPr>
          <p:cNvPr id="5" name="">
            <a:extLst xmlns:a="http://schemas.openxmlformats.org/drawingml/2006/main">
              <a:ext uri="{FF2B5EF4-FFF2-40B4-BE49-F238E27FC236}">
                <a16:creationId xmlns:a16="http://schemas.microsoft.com/office/drawing/2014/main" id="{8104E86A-C6C6-4FAF-BE58-94C052A4C81F}"/>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Recompute each live entry’s index for the new capacity.</a:t>
            </a:r>
          </a:p>
        </p:txBody>
      </p:sp>
      <p:sp>
        <p:nvSpPr>
          <p:cNvPr id="6" name="">
            <a:extLst xmlns:a="http://schemas.openxmlformats.org/drawingml/2006/main">
              <a:ext uri="{FF2B5EF4-FFF2-40B4-BE49-F238E27FC236}">
                <a16:creationId xmlns:a16="http://schemas.microsoft.com/office/drawing/2014/main" id="{E96A810B-CE83-492E-A867-8E09EE479E34}"/>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Reinsert using the collision policy of the new table.</a:t>
            </a:r>
          </a:p>
        </p:txBody>
      </p:sp>
      <p:sp>
        <p:nvSpPr>
          <p:cNvPr id="7" name="">
            <a:extLst xmlns:a="http://schemas.openxmlformats.org/drawingml/2006/main">
              <a:ext uri="{FF2B5EF4-FFF2-40B4-BE49-F238E27FC236}">
                <a16:creationId xmlns:a16="http://schemas.microsoft.com/office/drawing/2014/main" id="{22AB82CD-F61C-436A-97B6-A052B0277668}"/>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Discard tombstones and update capacity, size, and threshold.</a:t>
            </a:r>
          </a:p>
        </p:txBody>
      </p:sp>
      <p:sp>
        <p:nvSpPr>
          <p:cNvPr id="9" name="local-java-RehashingDemo">
            <a:extLst xmlns:a="http://schemas.openxmlformats.org/drawingml/2006/main">
              <a:ext uri="{FF2B5EF4-FFF2-40B4-BE49-F238E27FC236}">
                <a16:creationId xmlns:a16="http://schemas.microsoft.com/office/drawing/2014/main" id="{7451141B-5190-45D3-ABB2-638462F1BFBB}"/>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fb2103613793414a"/>
              </a:rPr>
              <a:t>Java: RehashingDemo.java</a:t>
            </a:r>
          </a:p>
        </p:txBody>
      </p:sp>
      <p:sp>
        <p:nvSpPr>
          <p:cNvPr id="10" name="local-java-TombstoneMapDemo">
            <a:extLst xmlns:a="http://schemas.openxmlformats.org/drawingml/2006/main">
              <a:ext uri="{FF2B5EF4-FFF2-40B4-BE49-F238E27FC236}">
                <a16:creationId xmlns:a16="http://schemas.microsoft.com/office/drawing/2014/main" id="{0B0EE242-4D71-41A2-80B9-CCF0F6C241C9}"/>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1ac2980689924450"/>
              </a:rPr>
              <a:t>Java: TombstoneMapDemo.java</a:t>
            </a:r>
          </a:p>
        </p:txBody>
      </p:sp>
    </p:spTree>
    <p:extLst>
      <p:ext uri="{BB962C8B-B14F-4D97-AF65-F5344CB8AC3E}">
        <p14:creationId xmlns:p14="http://schemas.microsoft.com/office/powerpoint/2010/main" val="69230326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580B07-BA98-4950-91C9-E0C2438B5818}"/>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Linear probing: load and expected probes</a:t>
            </a:r>
          </a:p>
        </p:txBody>
      </p:sp>
      <p:sp>
        <p:nvSpPr>
          <p:cNvPr id="2" name="">
            <a:extLst xmlns:a="http://schemas.openxmlformats.org/drawingml/2006/main">
              <a:ext uri="{FF2B5EF4-FFF2-40B4-BE49-F238E27FC236}">
                <a16:creationId xmlns:a16="http://schemas.microsoft.com/office/drawing/2014/main" id="{4233315A-1CC0-4BB9-B2E2-5E79E4B751DF}"/>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65A3F78F-4C1C-4E9D-BA44-A96C7322A965}"/>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9B2E3E9F-B3F1-45CC-95E1-39EB5EBB7647}"/>
              </a:ext>
            </a:extLst>
          </p:cNvPr>
          <p:cNvGraphicFramePr/>
          <p:nvPr/>
        </p:nvGraphicFramePr>
        <p:xfrm>
          <a:off xmlns:a="http://schemas.openxmlformats.org/drawingml/2006/main" x="571500" y="1428750"/>
          <a:ext xmlns:a="http://schemas.openxmlformats.org/drawingml/2006/main" cx="11049000" cy="3048000"/>
        </p:xfrm>
        <a:graphic xmlns:a="http://schemas.openxmlformats.org/drawingml/2006/main">
          <a:graphicData uri="http://schemas.openxmlformats.org/drawingml/2006/table">
            <a:tbl>
              <a:tblPr/>
              <a:tblGrid>
                <a:gridCol w="2476500"/>
                <a:gridCol w="4286250"/>
                <a:gridCol w="4286250"/>
              </a:tblGrid>
              <a:tr h="762000">
                <a:tc>
                  <a:txBody>
                    <a:bodyPr/>
                    <a:lstStyle/>
                    <a:p>
                      <a:r>
                        <a:rPr sz="2025" b="1">
                          <a:solidFill>
                            <a:srgbClr val="FFFFFF"/>
                          </a:solidFill>
                          <a:latin typeface="Arial"/>
                          <a:ea typeface="Arial"/>
                          <a:cs typeface="Arial"/>
                        </a:rPr>
                        <a:t>alpha</a:t>
                      </a:r>
                    </a:p>
                  </a:txBody>
                  <a:tcPr marL="91440" marR="91440" marT="45720" marB="45720">
                    <a:solidFill>
                      <a:srgbClr val="24583E"/>
                    </a:solidFill>
                  </a:tcPr>
                </a:tc>
                <a:tc>
                  <a:txBody>
                    <a:bodyPr/>
                    <a:lstStyle/>
                    <a:p>
                      <a:r>
                        <a:rPr sz="2025" b="1">
                          <a:solidFill>
                            <a:srgbClr val="FFFFFF"/>
                          </a:solidFill>
                          <a:latin typeface="Arial"/>
                          <a:ea typeface="Arial"/>
                          <a:cs typeface="Arial"/>
                        </a:rPr>
                        <a:t>Successful search</a:t>
                      </a:r>
                    </a:p>
                  </a:txBody>
                  <a:tcPr marL="91440" marR="91440" marT="45720" marB="45720">
                    <a:solidFill>
                      <a:srgbClr val="24583E"/>
                    </a:solidFill>
                  </a:tcPr>
                </a:tc>
                <a:tc>
                  <a:txBody>
                    <a:bodyPr/>
                    <a:lstStyle/>
                    <a:p>
                      <a:r>
                        <a:rPr sz="2025" b="1">
                          <a:solidFill>
                            <a:srgbClr val="FFFFFF"/>
                          </a:solidFill>
                          <a:latin typeface="Arial"/>
                          <a:ea typeface="Arial"/>
                          <a:cs typeface="Arial"/>
                        </a:rPr>
                        <a:t>Unsuccessful search</a:t>
                      </a:r>
                    </a:p>
                  </a:txBody>
                  <a:tcPr marL="91440" marR="91440" marT="45720" marB="45720">
                    <a:solidFill>
                      <a:srgbClr val="24583E"/>
                    </a:solidFill>
                  </a:tcPr>
                </a:tc>
              </a:tr>
              <a:tr h="762000">
                <a:tc>
                  <a:txBody>
                    <a:bodyPr/>
                    <a:lstStyle/>
                    <a:p>
                      <a:r>
                        <a:rPr sz="2025" b="0">
                          <a:solidFill>
                            <a:srgbClr val="203040"/>
                          </a:solidFill>
                          <a:latin typeface="Arial"/>
                          <a:ea typeface="Arial"/>
                          <a:cs typeface="Arial"/>
                        </a:rPr>
                        <a:t>0.50</a:t>
                      </a:r>
                    </a:p>
                  </a:txBody>
                  <a:tcPr marL="91440" marR="91440" marT="45720" marB="45720">
                    <a:solidFill>
                      <a:srgbClr val="F0F3F1"/>
                    </a:solidFill>
                  </a:tcPr>
                </a:tc>
                <a:tc>
                  <a:txBody>
                    <a:bodyPr/>
                    <a:lstStyle/>
                    <a:p>
                      <a:r>
                        <a:rPr sz="2025" b="0">
                          <a:solidFill>
                            <a:srgbClr val="203040"/>
                          </a:solidFill>
                          <a:latin typeface="Arial"/>
                          <a:ea typeface="Arial"/>
                          <a:cs typeface="Arial"/>
                        </a:rPr>
                        <a:t>1.50</a:t>
                      </a:r>
                    </a:p>
                  </a:txBody>
                  <a:tcPr marL="91440" marR="91440" marT="45720" marB="45720">
                    <a:solidFill>
                      <a:srgbClr val="F0F3F1"/>
                    </a:solidFill>
                  </a:tcPr>
                </a:tc>
                <a:tc>
                  <a:txBody>
                    <a:bodyPr/>
                    <a:lstStyle/>
                    <a:p>
                      <a:r>
                        <a:rPr sz="2025" b="0">
                          <a:solidFill>
                            <a:srgbClr val="203040"/>
                          </a:solidFill>
                          <a:latin typeface="Arial"/>
                          <a:ea typeface="Arial"/>
                          <a:cs typeface="Arial"/>
                        </a:rPr>
                        <a:t>2.50</a:t>
                      </a:r>
                    </a:p>
                  </a:txBody>
                  <a:tcPr marL="91440" marR="91440" marT="45720" marB="45720">
                    <a:solidFill>
                      <a:srgbClr val="F0F3F1"/>
                    </a:solidFill>
                  </a:tcPr>
                </a:tc>
              </a:tr>
              <a:tr h="762000">
                <a:tc>
                  <a:txBody>
                    <a:bodyPr/>
                    <a:lstStyle/>
                    <a:p>
                      <a:r>
                        <a:rPr sz="2025" b="0">
                          <a:solidFill>
                            <a:srgbClr val="203040"/>
                          </a:solidFill>
                          <a:latin typeface="Arial"/>
                          <a:ea typeface="Arial"/>
                          <a:cs typeface="Arial"/>
                        </a:rPr>
                        <a:t>0.75</a:t>
                      </a:r>
                    </a:p>
                  </a:txBody>
                  <a:tcPr marL="91440" marR="91440" marT="45720" marB="45720">
                    <a:solidFill>
                      <a:srgbClr val="FFFFFF"/>
                    </a:solidFill>
                  </a:tcPr>
                </a:tc>
                <a:tc>
                  <a:txBody>
                    <a:bodyPr/>
                    <a:lstStyle/>
                    <a:p>
                      <a:r>
                        <a:rPr sz="2025" b="0">
                          <a:solidFill>
                            <a:srgbClr val="203040"/>
                          </a:solidFill>
                          <a:latin typeface="Arial"/>
                          <a:ea typeface="Arial"/>
                          <a:cs typeface="Arial"/>
                        </a:rPr>
                        <a:t>2.50</a:t>
                      </a:r>
                    </a:p>
                  </a:txBody>
                  <a:tcPr marL="91440" marR="91440" marT="45720" marB="45720">
                    <a:solidFill>
                      <a:srgbClr val="FFFFFF"/>
                    </a:solidFill>
                  </a:tcPr>
                </a:tc>
                <a:tc>
                  <a:txBody>
                    <a:bodyPr/>
                    <a:lstStyle/>
                    <a:p>
                      <a:r>
                        <a:rPr sz="2025" b="0">
                          <a:solidFill>
                            <a:srgbClr val="203040"/>
                          </a:solidFill>
                          <a:latin typeface="Arial"/>
                          <a:ea typeface="Arial"/>
                          <a:cs typeface="Arial"/>
                        </a:rPr>
                        <a:t>8.50</a:t>
                      </a:r>
                    </a:p>
                  </a:txBody>
                  <a:tcPr marL="91440" marR="91440" marT="45720" marB="45720">
                    <a:solidFill>
                      <a:srgbClr val="FFFFFF"/>
                    </a:solidFill>
                  </a:tcPr>
                </a:tc>
              </a:tr>
              <a:tr h="762000">
                <a:tc>
                  <a:txBody>
                    <a:bodyPr/>
                    <a:lstStyle/>
                    <a:p>
                      <a:r>
                        <a:rPr sz="2025" b="0">
                          <a:solidFill>
                            <a:srgbClr val="203040"/>
                          </a:solidFill>
                          <a:latin typeface="Arial"/>
                          <a:ea typeface="Arial"/>
                          <a:cs typeface="Arial"/>
                        </a:rPr>
                        <a:t>0.90</a:t>
                      </a:r>
                    </a:p>
                  </a:txBody>
                  <a:tcPr marL="91440" marR="91440" marT="45720" marB="45720">
                    <a:solidFill>
                      <a:srgbClr val="F0F3F1"/>
                    </a:solidFill>
                  </a:tcPr>
                </a:tc>
                <a:tc>
                  <a:txBody>
                    <a:bodyPr/>
                    <a:lstStyle/>
                    <a:p>
                      <a:r>
                        <a:rPr sz="2025" b="0">
                          <a:solidFill>
                            <a:srgbClr val="203040"/>
                          </a:solidFill>
                          <a:latin typeface="Arial"/>
                          <a:ea typeface="Arial"/>
                          <a:cs typeface="Arial"/>
                        </a:rPr>
                        <a:t>5.50</a:t>
                      </a:r>
                    </a:p>
                  </a:txBody>
                  <a:tcPr marL="91440" marR="91440" marT="45720" marB="45720">
                    <a:solidFill>
                      <a:srgbClr val="F0F3F1"/>
                    </a:solidFill>
                  </a:tcPr>
                </a:tc>
                <a:tc>
                  <a:txBody>
                    <a:bodyPr/>
                    <a:lstStyle/>
                    <a:p>
                      <a:r>
                        <a:rPr sz="2025" b="0">
                          <a:solidFill>
                            <a:srgbClr val="203040"/>
                          </a:solidFill>
                          <a:latin typeface="Arial"/>
                          <a:ea typeface="Arial"/>
                          <a:cs typeface="Arial"/>
                        </a:rPr>
                        <a:t>50.50</a:t>
                      </a:r>
                    </a:p>
                  </a:txBody>
                  <a:tcPr marL="91440" marR="91440" marT="45720" marB="45720">
                    <a:solidFill>
                      <a:srgbClr val="F0F3F1"/>
                    </a:solidFill>
                  </a:tcPr>
                </a:tc>
              </a:tr>
            </a:tbl>
          </a:graphicData>
        </a:graphic>
      </p:graphicFrame>
      <p:sp>
        <p:nvSpPr>
          <p:cNvPr id="5" name="">
            <a:extLst xmlns:a="http://schemas.openxmlformats.org/drawingml/2006/main">
              <a:ext uri="{FF2B5EF4-FFF2-40B4-BE49-F238E27FC236}">
                <a16:creationId xmlns:a16="http://schemas.microsoft.com/office/drawing/2014/main" id="{75BA1E62-9E98-42DD-9677-E01A551C82A1}"/>
              </a:ext>
            </a:extLst>
          </p:cNvPr>
          <p:cNvSpPr>
            <a:spLocks xmlns:a="http://schemas.openxmlformats.org/drawingml/2006/main" noGrp="1"/>
          </p:cNvSpPr>
          <p:nvPr/>
        </p:nvSpPr>
        <p:spPr>
          <a:xfrm xmlns:a="http://schemas.openxmlformats.org/drawingml/2006/main">
            <a:off x="571500" y="46482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Classical estimates: S ≈ ½(1 + 1/(1-alpha)), U ≈ ½(1 + 1/(1-alpha)²).</a:t>
            </a:r>
          </a:p>
        </p:txBody>
      </p:sp>
      <p:sp>
        <p:nvSpPr>
          <p:cNvPr id="7" name="local-java-HashAnalysisExamples">
            <a:extLst xmlns:a="http://schemas.openxmlformats.org/drawingml/2006/main">
              <a:ext uri="{FF2B5EF4-FFF2-40B4-BE49-F238E27FC236}">
                <a16:creationId xmlns:a16="http://schemas.microsoft.com/office/drawing/2014/main" id="{3F76BC0C-4D37-40DE-BD8C-B664795D20EF}"/>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57eb1d0bf20b4e75"/>
              </a:rPr>
              <a:t>Java: HashAnalysisExamples.java</a:t>
            </a:r>
          </a:p>
        </p:txBody>
      </p:sp>
    </p:spTree>
    <p:extLst>
      <p:ext uri="{BB962C8B-B14F-4D97-AF65-F5344CB8AC3E}">
        <p14:creationId xmlns:p14="http://schemas.microsoft.com/office/powerpoint/2010/main" val="90471012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4434EF-F281-4D36-A031-8C2FCEDF3D8A}"/>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Comparing collision strategies</a:t>
            </a:r>
          </a:p>
        </p:txBody>
      </p:sp>
      <p:sp>
        <p:nvSpPr>
          <p:cNvPr id="2" name="">
            <a:extLst xmlns:a="http://schemas.openxmlformats.org/drawingml/2006/main">
              <a:ext uri="{FF2B5EF4-FFF2-40B4-BE49-F238E27FC236}">
                <a16:creationId xmlns:a16="http://schemas.microsoft.com/office/drawing/2014/main" id="{AEAD30AA-79F8-4D79-B055-92463B9F42ED}"/>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975199E9-9789-49DF-9FC0-E5D6D1F3C364}"/>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37</a:t>
            </a:r>
          </a:p>
        </p:txBody>
      </p:sp>
      <p:graphicFrame>
        <p:nvGraphicFramePr>
          <p:cNvPr id="4" name="">
            <a:extLst xmlns:a="http://schemas.openxmlformats.org/drawingml/2006/main">
              <a:ext uri="{FF2B5EF4-FFF2-40B4-BE49-F238E27FC236}">
                <a16:creationId xmlns:a16="http://schemas.microsoft.com/office/drawing/2014/main" id="{0C6894A8-2358-4C3A-9880-CFC87177AB16}"/>
              </a:ext>
            </a:extLst>
          </p:cNvPr>
          <p:cNvGraphicFramePr/>
          <p:nvPr/>
        </p:nvGraphicFramePr>
        <p:xfrm>
          <a:off xmlns:a="http://schemas.openxmlformats.org/drawingml/2006/main" x="571500" y="1428750"/>
          <a:ext xmlns:a="http://schemas.openxmlformats.org/drawingml/2006/main" cx="11049000" cy="4000500"/>
        </p:xfrm>
        <a:graphic xmlns:a="http://schemas.openxmlformats.org/drawingml/2006/main">
          <a:graphicData uri="http://schemas.openxmlformats.org/drawingml/2006/table">
            <a:tbl>
              <a:tblPr/>
              <a:tblGrid>
                <a:gridCol w="3619500"/>
                <a:gridCol w="7429500"/>
              </a:tblGrid>
              <a:tr h="800100">
                <a:tc>
                  <a:txBody>
                    <a:bodyPr/>
                    <a:lstStyle/>
                    <a:p>
                      <a:r>
                        <a:rPr sz="1875" b="1">
                          <a:solidFill>
                            <a:srgbClr val="FFFFFF"/>
                          </a:solidFill>
                          <a:latin typeface="Arial"/>
                          <a:ea typeface="Arial"/>
                          <a:cs typeface="Arial"/>
                        </a:rPr>
                        <a:t>Strategy</a:t>
                      </a:r>
                    </a:p>
                  </a:txBody>
                  <a:tcPr marL="91440" marR="91440" marT="45720" marB="45720">
                    <a:solidFill>
                      <a:srgbClr val="24583E"/>
                    </a:solidFill>
                  </a:tcPr>
                </a:tc>
                <a:tc>
                  <a:txBody>
                    <a:bodyPr/>
                    <a:lstStyle/>
                    <a:p>
                      <a:r>
                        <a:rPr sz="1875" b="1">
                          <a:solidFill>
                            <a:srgbClr val="FFFFFF"/>
                          </a:solidFill>
                          <a:latin typeface="Arial"/>
                          <a:ea typeface="Arial"/>
                          <a:cs typeface="Arial"/>
                        </a:rPr>
                        <a:t>Main cost or limitation</a:t>
                      </a:r>
                    </a:p>
                  </a:txBody>
                  <a:tcPr marL="91440" marR="91440" marT="45720" marB="45720">
                    <a:solidFill>
                      <a:srgbClr val="24583E"/>
                    </a:solidFill>
                  </a:tcPr>
                </a:tc>
              </a:tr>
              <a:tr h="800100">
                <a:tc>
                  <a:txBody>
                    <a:bodyPr/>
                    <a:lstStyle/>
                    <a:p>
                      <a:r>
                        <a:rPr sz="1875" b="0">
                          <a:solidFill>
                            <a:srgbClr val="203040"/>
                          </a:solidFill>
                          <a:latin typeface="Arial"/>
                          <a:ea typeface="Arial"/>
                          <a:cs typeface="Arial"/>
                        </a:rPr>
                        <a:t>Linear probing</a:t>
                      </a:r>
                    </a:p>
                  </a:txBody>
                  <a:tcPr marL="91440" marR="91440" marT="45720" marB="45720">
                    <a:solidFill>
                      <a:srgbClr val="F0F3F1"/>
                    </a:solidFill>
                  </a:tcPr>
                </a:tc>
                <a:tc>
                  <a:txBody>
                    <a:bodyPr/>
                    <a:lstStyle/>
                    <a:p>
                      <a:r>
                        <a:rPr sz="1875" b="0">
                          <a:solidFill>
                            <a:srgbClr val="203040"/>
                          </a:solidFill>
                          <a:latin typeface="Arial"/>
                          <a:ea typeface="Arial"/>
                          <a:cs typeface="Arial"/>
                        </a:rPr>
                        <a:t>Primary clusters grow as occupancy rises</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Quadratic probing</a:t>
                      </a:r>
                    </a:p>
                  </a:txBody>
                  <a:tcPr marL="91440" marR="91440" marT="45720" marB="45720">
                    <a:solidFill>
                      <a:srgbClr val="FFFFFF"/>
                    </a:solidFill>
                  </a:tcPr>
                </a:tc>
                <a:tc>
                  <a:txBody>
                    <a:bodyPr/>
                    <a:lstStyle/>
                    <a:p>
                      <a:r>
                        <a:rPr sz="1875" b="0">
                          <a:solidFill>
                            <a:srgbClr val="203040"/>
                          </a:solidFill>
                          <a:latin typeface="Arial"/>
                          <a:ea typeface="Arial"/>
                          <a:cs typeface="Arial"/>
                        </a:rPr>
                        <a:t>Secondary clustering and restricted slot coverage</a:t>
                      </a:r>
                    </a:p>
                  </a:txBody>
                  <a:tcPr marL="91440" marR="91440" marT="45720" marB="45720">
                    <a:solidFill>
                      <a:srgbClr val="FFFFFF"/>
                    </a:solidFill>
                  </a:tcPr>
                </a:tc>
              </a:tr>
              <a:tr h="800100">
                <a:tc>
                  <a:txBody>
                    <a:bodyPr/>
                    <a:lstStyle/>
                    <a:p>
                      <a:r>
                        <a:rPr sz="1875" b="0">
                          <a:solidFill>
                            <a:srgbClr val="203040"/>
                          </a:solidFill>
                          <a:latin typeface="Arial"/>
                          <a:ea typeface="Arial"/>
                          <a:cs typeface="Arial"/>
                        </a:rPr>
                        <a:t>Double hashing</a:t>
                      </a:r>
                    </a:p>
                  </a:txBody>
                  <a:tcPr marL="91440" marR="91440" marT="45720" marB="45720">
                    <a:solidFill>
                      <a:srgbClr val="F0F3F1"/>
                    </a:solidFill>
                  </a:tcPr>
                </a:tc>
                <a:tc>
                  <a:txBody>
                    <a:bodyPr/>
                    <a:lstStyle/>
                    <a:p>
                      <a:r>
                        <a:rPr sz="1875" b="0">
                          <a:solidFill>
                            <a:srgbClr val="203040"/>
                          </a:solidFill>
                          <a:latin typeface="Arial"/>
                          <a:ea typeface="Arial"/>
                          <a:cs typeface="Arial"/>
                        </a:rPr>
                        <a:t>Requires a step coprime to capacity</a:t>
                      </a:r>
                    </a:p>
                  </a:txBody>
                  <a:tcPr marL="91440" marR="91440" marT="45720" marB="45720">
                    <a:solidFill>
                      <a:srgbClr val="F0F3F1"/>
                    </a:solidFill>
                  </a:tcPr>
                </a:tc>
              </a:tr>
              <a:tr h="800100">
                <a:tc>
                  <a:txBody>
                    <a:bodyPr/>
                    <a:lstStyle/>
                    <a:p>
                      <a:r>
                        <a:rPr sz="1875" b="0">
                          <a:solidFill>
                            <a:srgbClr val="203040"/>
                          </a:solidFill>
                          <a:latin typeface="Arial"/>
                          <a:ea typeface="Arial"/>
                          <a:cs typeface="Arial"/>
                        </a:rPr>
                        <a:t>Separate chaining</a:t>
                      </a:r>
                    </a:p>
                  </a:txBody>
                  <a:tcPr marL="91440" marR="91440" marT="45720" marB="45720">
                    <a:solidFill>
                      <a:srgbClr val="FFFFFF"/>
                    </a:solidFill>
                  </a:tcPr>
                </a:tc>
                <a:tc>
                  <a:txBody>
                    <a:bodyPr/>
                    <a:lstStyle/>
                    <a:p>
                      <a:r>
                        <a:rPr sz="1875" b="0">
                          <a:solidFill>
                            <a:srgbClr val="203040"/>
                          </a:solidFill>
                          <a:latin typeface="Arial"/>
                          <a:ea typeface="Arial"/>
                          <a:cs typeface="Arial"/>
                        </a:rPr>
                        <a:t>Long chains cost comparisons and node space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7E012C7-AEB6-4953-8E36-BE39CC3ABABF}"/>
              </a:ext>
            </a:extLst>
          </p:cNvPr>
          <p:cNvSpPr>
            <a:spLocks xmlns:a="http://schemas.openxmlformats.org/drawingml/2006/main" noGrp="1"/>
          </p:cNvSpPr>
          <p:nvPr/>
        </p:nvSpPr>
        <p:spPr>
          <a:xfrm xmlns:a="http://schemas.openxmlformats.org/drawingml/2006/main">
            <a:off x="571500" y="560070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03040"/>
                </a:solidFill>
                <a:latin typeface="Arial"/>
                <a:ea typeface="Arial"/>
                <a:cs typeface="Arial"/>
              </a:defRPr>
            </a:defPPr>
            <a:lvl1pPr>
              <a:buNone/>
              <a:defRPr sz="1725" b="0">
                <a:solidFill>
                  <a:srgbClr val="203040"/>
                </a:solidFill>
                <a:latin typeface="Arial"/>
                <a:ea typeface="Arial"/>
                <a:cs typeface="Arial"/>
              </a:defRPr>
            </a:lvl1pPr>
            <a:lvl2pPr>
              <a:buNone/>
              <a:defRPr sz="1725" b="0">
                <a:solidFill>
                  <a:srgbClr val="203040"/>
                </a:solidFill>
                <a:latin typeface="Arial"/>
                <a:ea typeface="Arial"/>
                <a:cs typeface="Arial"/>
              </a:defRPr>
            </a:lvl2pPr>
            <a:lvl3pPr>
              <a:buNone/>
              <a:defRPr sz="1725" b="0">
                <a:solidFill>
                  <a:srgbClr val="203040"/>
                </a:solidFill>
                <a:latin typeface="Arial"/>
                <a:ea typeface="Arial"/>
                <a:cs typeface="Arial"/>
              </a:defRPr>
            </a:lvl3pPr>
            <a:lvl4pPr>
              <a:buNone/>
              <a:defRPr sz="1725" b="0">
                <a:solidFill>
                  <a:srgbClr val="203040"/>
                </a:solidFill>
                <a:latin typeface="Arial"/>
                <a:ea typeface="Arial"/>
                <a:cs typeface="Arial"/>
              </a:defRPr>
            </a:lvl4pPr>
            <a:lvl5pPr>
              <a:buNone/>
              <a:defRPr sz="1725" b="0">
                <a:solidFill>
                  <a:srgbClr val="203040"/>
                </a:solidFill>
                <a:latin typeface="Arial"/>
                <a:ea typeface="Arial"/>
                <a:cs typeface="Arial"/>
              </a:defRPr>
            </a:lvl5pPr>
            <a:lvl6pPr>
              <a:buNone/>
              <a:defRPr sz="1725" b="0">
                <a:solidFill>
                  <a:srgbClr val="203040"/>
                </a:solidFill>
                <a:latin typeface="Arial"/>
                <a:ea typeface="Arial"/>
                <a:cs typeface="Arial"/>
              </a:defRPr>
            </a:lvl6pPr>
            <a:lvl7pPr>
              <a:buNone/>
              <a:defRPr sz="1725" b="0">
                <a:solidFill>
                  <a:srgbClr val="203040"/>
                </a:solidFill>
                <a:latin typeface="Arial"/>
                <a:ea typeface="Arial"/>
                <a:cs typeface="Arial"/>
              </a:defRPr>
            </a:lvl7pPr>
            <a:lvl8pPr>
              <a:buNone/>
              <a:defRPr sz="1725" b="0">
                <a:solidFill>
                  <a:srgbClr val="203040"/>
                </a:solidFill>
                <a:latin typeface="Arial"/>
                <a:ea typeface="Arial"/>
                <a:cs typeface="Arial"/>
              </a:defRPr>
            </a:lvl8pPr>
            <a:lvl9pPr>
              <a:buNone/>
              <a:defRPr sz="1725" b="0">
                <a:solidFill>
                  <a:srgbClr val="203040"/>
                </a:solidFill>
                <a:latin typeface="Arial"/>
                <a:ea typeface="Arial"/>
                <a:cs typeface="Arial"/>
              </a:defRPr>
            </a:lvl9pPr>
          </a:lstStyle>
          <a:p xmlns:a="http://schemas.openxmlformats.org/drawingml/2006/main">
            <a:pPr>
              <a:buNone/>
              <a:defRPr sz="1725" b="0">
                <a:solidFill>
                  <a:srgbClr val="203040"/>
                </a:solidFill>
                <a:latin typeface="Arial"/>
                <a:ea typeface="Arial"/>
                <a:cs typeface="Arial"/>
              </a:defRPr>
            </a:pPr>
            <a:r>
              <a:rPr sz="1725" b="0">
                <a:solidFill>
                  <a:srgbClr val="203040"/>
                </a:solidFill>
                <a:latin typeface="Arial"/>
                <a:ea typeface="Arial"/>
                <a:cs typeface="Arial"/>
              </a:rPr>
              <a:t>Expected constant-time access requires distribution and load assumptions.</a:t>
            </a:r>
          </a:p>
        </p:txBody>
      </p:sp>
      <p:sp>
        <p:nvSpPr>
          <p:cNvPr id="7" name="local-java-ProbeTable">
            <a:extLst xmlns:a="http://schemas.openxmlformats.org/drawingml/2006/main">
              <a:ext uri="{FF2B5EF4-FFF2-40B4-BE49-F238E27FC236}">
                <a16:creationId xmlns:a16="http://schemas.microsoft.com/office/drawing/2014/main" id="{AF62A1C2-C0ED-42C3-BAB4-57F765B44DB6}"/>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793bbfd3e3ad4925"/>
              </a:rPr>
              <a:t>Java: ProbeTable.java</a:t>
            </a:r>
          </a:p>
        </p:txBody>
      </p:sp>
      <p:sp>
        <p:nvSpPr>
          <p:cNvPr id="8" name="local-java-MyHashMap">
            <a:extLst xmlns:a="http://schemas.openxmlformats.org/drawingml/2006/main">
              <a:ext uri="{FF2B5EF4-FFF2-40B4-BE49-F238E27FC236}">
                <a16:creationId xmlns:a16="http://schemas.microsoft.com/office/drawing/2014/main" id="{BB850817-0047-4D75-AEA7-9A7ED7ED0D66}"/>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e34177c8b67a478c"/>
              </a:rPr>
              <a:t>Java: MyHashMap.java</a:t>
            </a:r>
          </a:p>
        </p:txBody>
      </p:sp>
    </p:spTree>
    <p:extLst>
      <p:ext uri="{BB962C8B-B14F-4D97-AF65-F5344CB8AC3E}">
        <p14:creationId xmlns:p14="http://schemas.microsoft.com/office/powerpoint/2010/main" val="96963309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7D8529-7052-4486-83FB-5FBD8E09ABFC}"/>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A weak hash can favor some buckets</a:t>
            </a:r>
          </a:p>
        </p:txBody>
      </p:sp>
      <p:sp>
        <p:nvSpPr>
          <p:cNvPr id="2" name="">
            <a:extLst xmlns:a="http://schemas.openxmlformats.org/drawingml/2006/main">
              <a:ext uri="{FF2B5EF4-FFF2-40B4-BE49-F238E27FC236}">
                <a16:creationId xmlns:a16="http://schemas.microsoft.com/office/drawing/2014/main" id="{DA927038-EE3D-4C10-9834-73E4DF09EA2C}"/>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BBB20240-4EA2-4738-8D13-EE001BFE5180}"/>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38</a:t>
            </a:r>
          </a:p>
        </p:txBody>
      </p:sp>
      <p:sp>
        <p:nvSpPr>
          <p:cNvPr id="4" name="">
            <a:extLst xmlns:a="http://schemas.openxmlformats.org/drawingml/2006/main">
              <a:ext uri="{FF2B5EF4-FFF2-40B4-BE49-F238E27FC236}">
                <a16:creationId xmlns:a16="http://schemas.microsoft.com/office/drawing/2014/main" id="{D1FC059B-497C-489E-A07D-F89D4F10AA5F}"/>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Suppose a nine-digit key includes a two-digit prefix from 00 to 99.</a:t>
            </a:r>
          </a:p>
        </p:txBody>
      </p:sp>
      <p:sp>
        <p:nvSpPr>
          <p:cNvPr id="5" name="">
            <a:extLst xmlns:a="http://schemas.openxmlformats.org/drawingml/2006/main">
              <a:ext uri="{FF2B5EF4-FFF2-40B4-BE49-F238E27FC236}">
                <a16:creationId xmlns:a16="http://schemas.microsoft.com/office/drawing/2014/main" id="{D64EEE28-C83A-4D2B-A6E3-C7204849EB8B}"/>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Hash only the prefix with prefix mod 40.</a:t>
            </a:r>
          </a:p>
        </p:txBody>
      </p:sp>
      <p:sp>
        <p:nvSpPr>
          <p:cNvPr id="6" name="">
            <a:extLst xmlns:a="http://schemas.openxmlformats.org/drawingml/2006/main">
              <a:ext uri="{FF2B5EF4-FFF2-40B4-BE49-F238E27FC236}">
                <a16:creationId xmlns:a16="http://schemas.microsoft.com/office/drawing/2014/main" id="{6B3111E0-FD93-4BF7-9DD7-C4EBEBCAABD4}"/>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Buckets 0–19 each receive three possible prefixes.</a:t>
            </a:r>
          </a:p>
        </p:txBody>
      </p:sp>
      <p:sp>
        <p:nvSpPr>
          <p:cNvPr id="7" name="">
            <a:extLst xmlns:a="http://schemas.openxmlformats.org/drawingml/2006/main">
              <a:ext uri="{FF2B5EF4-FFF2-40B4-BE49-F238E27FC236}">
                <a16:creationId xmlns:a16="http://schemas.microsoft.com/office/drawing/2014/main" id="{C1AC2280-2DC6-456E-847B-ADCD2F26FC29}"/>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Buckets 20–39 each receive only two possible prefixes.</a:t>
            </a:r>
          </a:p>
        </p:txBody>
      </p:sp>
      <p:sp>
        <p:nvSpPr>
          <p:cNvPr id="9" name="local-java-HashAnalysisExamples">
            <a:extLst xmlns:a="http://schemas.openxmlformats.org/drawingml/2006/main">
              <a:ext uri="{FF2B5EF4-FFF2-40B4-BE49-F238E27FC236}">
                <a16:creationId xmlns:a16="http://schemas.microsoft.com/office/drawing/2014/main" id="{AECDC3C4-9D4A-484D-AA98-8D01B5C41E8B}"/>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cc7e93dee8bc458b"/>
              </a:rPr>
              <a:t>Java: HashAnalysisExamples.java</a:t>
            </a:r>
          </a:p>
        </p:txBody>
      </p:sp>
    </p:spTree>
    <p:extLst>
      <p:ext uri="{BB962C8B-B14F-4D97-AF65-F5344CB8AC3E}">
        <p14:creationId xmlns:p14="http://schemas.microsoft.com/office/powerpoint/2010/main" val="27889976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89C2D2-75CC-4B3E-B787-456620C87FFD}"/>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Legacy supplemental mixing</a:t>
            </a:r>
          </a:p>
        </p:txBody>
      </p:sp>
      <p:sp>
        <p:nvSpPr>
          <p:cNvPr id="2" name="">
            <a:extLst xmlns:a="http://schemas.openxmlformats.org/drawingml/2006/main">
              <a:ext uri="{FF2B5EF4-FFF2-40B4-BE49-F238E27FC236}">
                <a16:creationId xmlns:a16="http://schemas.microsoft.com/office/drawing/2014/main" id="{1AAB1B89-4528-4A95-BAAE-25B020483895}"/>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0E4A85F6-E2D8-44E4-A0EB-B88B7DDB5163}"/>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39</a:t>
            </a:r>
          </a:p>
        </p:txBody>
      </p:sp>
      <p:sp>
        <p:nvSpPr>
          <p:cNvPr id="4" name="">
            <a:extLst xmlns:a="http://schemas.openxmlformats.org/drawingml/2006/main">
              <a:ext uri="{FF2B5EF4-FFF2-40B4-BE49-F238E27FC236}">
                <a16:creationId xmlns:a16="http://schemas.microsoft.com/office/drawing/2014/main" id="{5D5AB414-866B-4BD2-BEF1-F7D5D0B9E808}"/>
              </a:ext>
            </a:extLst>
          </p:cNvPr>
          <p:cNvSpPr>
            <a:spLocks xmlns:a="http://schemas.openxmlformats.org/drawingml/2006/main" noGrp="1"/>
          </p:cNvSpPr>
          <p:nvPr/>
        </p:nvSpPr>
        <p:spPr>
          <a:xfrm xmlns:a="http://schemas.openxmlformats.org/drawingml/2006/main">
            <a:off x="571500" y="1476375"/>
            <a:ext cx="11049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2B4D"/>
                </a:solidFill>
                <a:latin typeface="Consolas"/>
                <a:ea typeface="Consolas"/>
                <a:cs typeface="Consolas"/>
              </a:defRPr>
            </a:defPPr>
            <a:lvl1pPr>
              <a:buNone/>
              <a:defRPr sz="1875" b="0">
                <a:solidFill>
                  <a:srgbClr val="172B4D"/>
                </a:solidFill>
                <a:latin typeface="Consolas"/>
                <a:ea typeface="Consolas"/>
                <a:cs typeface="Consolas"/>
              </a:defRPr>
            </a:lvl1pPr>
            <a:lvl2pPr>
              <a:buNone/>
              <a:defRPr sz="1875" b="0">
                <a:solidFill>
                  <a:srgbClr val="172B4D"/>
                </a:solidFill>
                <a:latin typeface="Consolas"/>
                <a:ea typeface="Consolas"/>
                <a:cs typeface="Consolas"/>
              </a:defRPr>
            </a:lvl2pPr>
            <a:lvl3pPr>
              <a:buNone/>
              <a:defRPr sz="1875" b="0">
                <a:solidFill>
                  <a:srgbClr val="172B4D"/>
                </a:solidFill>
                <a:latin typeface="Consolas"/>
                <a:ea typeface="Consolas"/>
                <a:cs typeface="Consolas"/>
              </a:defRPr>
            </a:lvl3pPr>
            <a:lvl4pPr>
              <a:buNone/>
              <a:defRPr sz="1875" b="0">
                <a:solidFill>
                  <a:srgbClr val="172B4D"/>
                </a:solidFill>
                <a:latin typeface="Consolas"/>
                <a:ea typeface="Consolas"/>
                <a:cs typeface="Consolas"/>
              </a:defRPr>
            </a:lvl4pPr>
            <a:lvl5pPr>
              <a:buNone/>
              <a:defRPr sz="1875" b="0">
                <a:solidFill>
                  <a:srgbClr val="172B4D"/>
                </a:solidFill>
                <a:latin typeface="Consolas"/>
                <a:ea typeface="Consolas"/>
                <a:cs typeface="Consolas"/>
              </a:defRPr>
            </a:lvl5pPr>
            <a:lvl6pPr>
              <a:buNone/>
              <a:defRPr sz="1875" b="0">
                <a:solidFill>
                  <a:srgbClr val="172B4D"/>
                </a:solidFill>
                <a:latin typeface="Consolas"/>
                <a:ea typeface="Consolas"/>
                <a:cs typeface="Consolas"/>
              </a:defRPr>
            </a:lvl6pPr>
            <a:lvl7pPr>
              <a:buNone/>
              <a:defRPr sz="1875" b="0">
                <a:solidFill>
                  <a:srgbClr val="172B4D"/>
                </a:solidFill>
                <a:latin typeface="Consolas"/>
                <a:ea typeface="Consolas"/>
                <a:cs typeface="Consolas"/>
              </a:defRPr>
            </a:lvl7pPr>
            <a:lvl8pPr>
              <a:buNone/>
              <a:defRPr sz="1875" b="0">
                <a:solidFill>
                  <a:srgbClr val="172B4D"/>
                </a:solidFill>
                <a:latin typeface="Consolas"/>
                <a:ea typeface="Consolas"/>
                <a:cs typeface="Consolas"/>
              </a:defRPr>
            </a:lvl8pPr>
            <a:lvl9pPr>
              <a:buNone/>
              <a:defRPr sz="1875" b="0">
                <a:solidFill>
                  <a:srgbClr val="172B4D"/>
                </a:solidFill>
                <a:latin typeface="Consolas"/>
                <a:ea typeface="Consolas"/>
                <a:cs typeface="Consolas"/>
              </a:defRPr>
            </a:lvl9pPr>
          </a:lstStyle>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Historical mixing example from the source</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h ^= (h &gt;&gt;&gt; 20) ^ (h &gt;&gt;&gt; 12);</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h = h ^ (h &gt;&gt;&gt; 7) ^ (h &gt;&gt;&gt; 4);</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int index = h &amp; (capacity - 1);</a:t>
            </a:r>
          </a:p>
        </p:txBody>
      </p:sp>
      <p:sp>
        <p:nvSpPr>
          <p:cNvPr id="5" name="">
            <a:extLst xmlns:a="http://schemas.openxmlformats.org/drawingml/2006/main">
              <a:ext uri="{FF2B5EF4-FFF2-40B4-BE49-F238E27FC236}">
                <a16:creationId xmlns:a16="http://schemas.microsoft.com/office/drawing/2014/main" id="{9D141EE1-A8B5-4947-9DC9-067B4F2435A9}"/>
              </a:ext>
            </a:extLst>
          </p:cNvPr>
          <p:cNvSpPr>
            <a:spLocks xmlns:a="http://schemas.openxmlformats.org/drawingml/2006/main" noGrp="1"/>
          </p:cNvSpPr>
          <p:nvPr/>
        </p:nvSpPr>
        <p:spPr>
          <a:xfrm xmlns:a="http://schemas.openxmlformats.org/drawingml/2006/main">
            <a:off x="571500" y="53340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&gt;&gt;&gt; shifts in zeros. ^ combines bits with exclusive OR.</a:t>
            </a:r>
          </a:p>
        </p:txBody>
      </p:sp>
      <p:sp>
        <p:nvSpPr>
          <p:cNvPr id="6" name="">
            <a:extLst xmlns:a="http://schemas.openxmlformats.org/drawingml/2006/main">
              <a:ext uri="{FF2B5EF4-FFF2-40B4-BE49-F238E27FC236}">
                <a16:creationId xmlns:a16="http://schemas.microsoft.com/office/drawing/2014/main" id="{3A8D191D-CAB2-4D20-A46B-9C43A8D654D0}"/>
              </a:ext>
            </a:extLst>
          </p:cNvPr>
          <p:cNvSpPr>
            <a:spLocks xmlns:a="http://schemas.openxmlformats.org/drawingml/2006/main" noGrp="1"/>
          </p:cNvSpPr>
          <p:nvPr/>
        </p:nvSpPr>
        <p:spPr>
          <a:xfrm xmlns:a="http://schemas.openxmlformats.org/drawingml/2006/main">
            <a:off x="571500" y="581025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Mixing can move information from high bits into low bits.</a:t>
            </a:r>
          </a:p>
        </p:txBody>
      </p:sp>
      <p:sp>
        <p:nvSpPr>
          <p:cNvPr id="8" name="local-java-HashMixingExamples">
            <a:extLst xmlns:a="http://schemas.openxmlformats.org/drawingml/2006/main">
              <a:ext uri="{FF2B5EF4-FFF2-40B4-BE49-F238E27FC236}">
                <a16:creationId xmlns:a16="http://schemas.microsoft.com/office/drawing/2014/main" id="{55033233-6E9F-4487-A6AB-99E40818D33F}"/>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e1627d34b3c143bb"/>
              </a:rPr>
              <a:t>Java: HashMixingExamples.java</a:t>
            </a:r>
          </a:p>
        </p:txBody>
      </p:sp>
    </p:spTree>
    <p:extLst>
      <p:ext uri="{BB962C8B-B14F-4D97-AF65-F5344CB8AC3E}">
        <p14:creationId xmlns:p14="http://schemas.microsoft.com/office/powerpoint/2010/main" val="12476597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4EB327-87B6-4A08-93F4-D9BEBD05E302}"/>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OpenJDK HashMap: mixing before masking</a:t>
            </a:r>
          </a:p>
        </p:txBody>
      </p:sp>
      <p:sp>
        <p:nvSpPr>
          <p:cNvPr id="2" name="">
            <a:extLst xmlns:a="http://schemas.openxmlformats.org/drawingml/2006/main">
              <a:ext uri="{FF2B5EF4-FFF2-40B4-BE49-F238E27FC236}">
                <a16:creationId xmlns:a16="http://schemas.microsoft.com/office/drawing/2014/main" id="{F31121DF-7BB3-4116-B168-A62D983ED536}"/>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9569781C-5823-4B6F-88F9-31EC3CDFA2FF}"/>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40</a:t>
            </a:r>
          </a:p>
        </p:txBody>
      </p:sp>
      <p:sp>
        <p:nvSpPr>
          <p:cNvPr id="4" name="">
            <a:extLst xmlns:a="http://schemas.openxmlformats.org/drawingml/2006/main">
              <a:ext uri="{FF2B5EF4-FFF2-40B4-BE49-F238E27FC236}">
                <a16:creationId xmlns:a16="http://schemas.microsoft.com/office/drawing/2014/main" id="{A25D70BA-F637-498E-945A-2DAD6A7CD5C1}"/>
              </a:ext>
            </a:extLst>
          </p:cNvPr>
          <p:cNvSpPr>
            <a:spLocks xmlns:a="http://schemas.openxmlformats.org/drawingml/2006/main" noGrp="1"/>
          </p:cNvSpPr>
          <p:nvPr/>
        </p:nvSpPr>
        <p:spPr>
          <a:xfrm xmlns:a="http://schemas.openxmlformats.org/drawingml/2006/main">
            <a:off x="571500" y="1476375"/>
            <a:ext cx="11049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2B4D"/>
                </a:solidFill>
                <a:latin typeface="Consolas"/>
                <a:ea typeface="Consolas"/>
                <a:cs typeface="Consolas"/>
              </a:defRPr>
            </a:defPPr>
            <a:lvl1pPr>
              <a:buNone/>
              <a:defRPr sz="1875" b="0">
                <a:solidFill>
                  <a:srgbClr val="172B4D"/>
                </a:solidFill>
                <a:latin typeface="Consolas"/>
                <a:ea typeface="Consolas"/>
                <a:cs typeface="Consolas"/>
              </a:defRPr>
            </a:lvl1pPr>
            <a:lvl2pPr>
              <a:buNone/>
              <a:defRPr sz="1875" b="0">
                <a:solidFill>
                  <a:srgbClr val="172B4D"/>
                </a:solidFill>
                <a:latin typeface="Consolas"/>
                <a:ea typeface="Consolas"/>
                <a:cs typeface="Consolas"/>
              </a:defRPr>
            </a:lvl2pPr>
            <a:lvl3pPr>
              <a:buNone/>
              <a:defRPr sz="1875" b="0">
                <a:solidFill>
                  <a:srgbClr val="172B4D"/>
                </a:solidFill>
                <a:latin typeface="Consolas"/>
                <a:ea typeface="Consolas"/>
                <a:cs typeface="Consolas"/>
              </a:defRPr>
            </a:lvl3pPr>
            <a:lvl4pPr>
              <a:buNone/>
              <a:defRPr sz="1875" b="0">
                <a:solidFill>
                  <a:srgbClr val="172B4D"/>
                </a:solidFill>
                <a:latin typeface="Consolas"/>
                <a:ea typeface="Consolas"/>
                <a:cs typeface="Consolas"/>
              </a:defRPr>
            </a:lvl4pPr>
            <a:lvl5pPr>
              <a:buNone/>
              <a:defRPr sz="1875" b="0">
                <a:solidFill>
                  <a:srgbClr val="172B4D"/>
                </a:solidFill>
                <a:latin typeface="Consolas"/>
                <a:ea typeface="Consolas"/>
                <a:cs typeface="Consolas"/>
              </a:defRPr>
            </a:lvl5pPr>
            <a:lvl6pPr>
              <a:buNone/>
              <a:defRPr sz="1875" b="0">
                <a:solidFill>
                  <a:srgbClr val="172B4D"/>
                </a:solidFill>
                <a:latin typeface="Consolas"/>
                <a:ea typeface="Consolas"/>
                <a:cs typeface="Consolas"/>
              </a:defRPr>
            </a:lvl6pPr>
            <a:lvl7pPr>
              <a:buNone/>
              <a:defRPr sz="1875" b="0">
                <a:solidFill>
                  <a:srgbClr val="172B4D"/>
                </a:solidFill>
                <a:latin typeface="Consolas"/>
                <a:ea typeface="Consolas"/>
                <a:cs typeface="Consolas"/>
              </a:defRPr>
            </a:lvl7pPr>
            <a:lvl8pPr>
              <a:buNone/>
              <a:defRPr sz="1875" b="0">
                <a:solidFill>
                  <a:srgbClr val="172B4D"/>
                </a:solidFill>
                <a:latin typeface="Consolas"/>
                <a:ea typeface="Consolas"/>
                <a:cs typeface="Consolas"/>
              </a:defRPr>
            </a:lvl8pPr>
            <a:lvl9pPr>
              <a:buNone/>
              <a:defRPr sz="1875" b="0">
                <a:solidFill>
                  <a:srgbClr val="172B4D"/>
                </a:solidFill>
                <a:latin typeface="Consolas"/>
                <a:ea typeface="Consolas"/>
                <a:cs typeface="Consolas"/>
              </a:defRPr>
            </a:lvl9pPr>
          </a:lstStyle>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OpenJDK 21 implementation excerpt</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static final int hash(Object key) {</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int h;</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return (key == null) ? 0</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 (h = key.hashCode()) ^ (h &gt;&gt;&gt; 16);</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a:t>
            </a:r>
          </a:p>
          <a:p xmlns:a="http://schemas.openxmlformats.org/drawingml/2006/main">
            <a:r>
              <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For an allocated table of power-of-two length n</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int index = (n - 1) &amp; hash(key);</a:t>
            </a:r>
          </a:p>
        </p:txBody>
      </p:sp>
      <p:sp>
        <p:nvSpPr>
          <p:cNvPr id="5" name="">
            <a:extLst xmlns:a="http://schemas.openxmlformats.org/drawingml/2006/main">
              <a:ext uri="{FF2B5EF4-FFF2-40B4-BE49-F238E27FC236}">
                <a16:creationId xmlns:a16="http://schemas.microsoft.com/office/drawing/2014/main" id="{40CA8DB2-861E-463C-8D38-03772561AF93}"/>
              </a:ext>
            </a:extLst>
          </p:cNvPr>
          <p:cNvSpPr>
            <a:spLocks xmlns:a="http://schemas.openxmlformats.org/drawingml/2006/main" noGrp="1"/>
          </p:cNvSpPr>
          <p:nvPr/>
        </p:nvSpPr>
        <p:spPr>
          <a:xfrm xmlns:a="http://schemas.openxmlformats.org/drawingml/2006/main">
            <a:off x="571500" y="5334000"/>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Implementation details can change. The Map interface does not prescribe them.</a:t>
            </a:r>
          </a:p>
        </p:txBody>
      </p:sp>
      <p:sp>
        <p:nvSpPr>
          <p:cNvPr id="7" name="local-java-HashMixingExamples">
            <a:extLst xmlns:a="http://schemas.openxmlformats.org/drawingml/2006/main">
              <a:ext uri="{FF2B5EF4-FFF2-40B4-BE49-F238E27FC236}">
                <a16:creationId xmlns:a16="http://schemas.microsoft.com/office/drawing/2014/main" id="{9681029E-3E09-4260-919E-32CB4EF859BD}"/>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540b21291d9a4fd4"/>
              </a:rPr>
              <a:t>Java: HashMixingExamples.java</a:t>
            </a:r>
          </a:p>
        </p:txBody>
      </p:sp>
    </p:spTree>
    <p:extLst>
      <p:ext uri="{BB962C8B-B14F-4D97-AF65-F5344CB8AC3E}">
        <p14:creationId xmlns:p14="http://schemas.microsoft.com/office/powerpoint/2010/main" val="67493475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FE9FF4-DCAB-49B6-AD40-33C317C90325}"/>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Java HashMap in practice</a:t>
            </a:r>
          </a:p>
        </p:txBody>
      </p:sp>
      <p:sp>
        <p:nvSpPr>
          <p:cNvPr id="2" name="">
            <a:extLst xmlns:a="http://schemas.openxmlformats.org/drawingml/2006/main">
              <a:ext uri="{FF2B5EF4-FFF2-40B4-BE49-F238E27FC236}">
                <a16:creationId xmlns:a16="http://schemas.microsoft.com/office/drawing/2014/main" id="{0421DAD3-0843-4DC2-8BCB-7511475D8C5C}"/>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30487C11-05A6-4ECE-B99F-2302540F5754}"/>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41</a:t>
            </a:r>
          </a:p>
        </p:txBody>
      </p:sp>
      <p:sp>
        <p:nvSpPr>
          <p:cNvPr id="4" name="">
            <a:extLst xmlns:a="http://schemas.openxmlformats.org/drawingml/2006/main">
              <a:ext uri="{FF2B5EF4-FFF2-40B4-BE49-F238E27FC236}">
                <a16:creationId xmlns:a16="http://schemas.microsoft.com/office/drawing/2014/main" id="{5585E62D-4FA1-4B98-9C65-D9F1EBCB75C9}"/>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HashMap provides key-based access without a sorted iteration order.</a:t>
            </a:r>
          </a:p>
        </p:txBody>
      </p:sp>
      <p:sp>
        <p:nvSpPr>
          <p:cNvPr id="5" name="">
            <a:extLst xmlns:a="http://schemas.openxmlformats.org/drawingml/2006/main">
              <a:ext uri="{FF2B5EF4-FFF2-40B4-BE49-F238E27FC236}">
                <a16:creationId xmlns:a16="http://schemas.microsoft.com/office/drawing/2014/main" id="{B8244CE8-1E3E-47EE-8506-2E6FF356D09F}"/>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Its default load-factor setting is 0.75.</a:t>
            </a:r>
          </a:p>
        </p:txBody>
      </p:sp>
      <p:sp>
        <p:nvSpPr>
          <p:cNvPr id="6" name="">
            <a:extLst xmlns:a="http://schemas.openxmlformats.org/drawingml/2006/main">
              <a:ext uri="{FF2B5EF4-FFF2-40B4-BE49-F238E27FC236}">
                <a16:creationId xmlns:a16="http://schemas.microsoft.com/office/drawing/2014/main" id="{C107D60D-E763-4591-9612-866BF7A73BA3}"/>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Sizing for the expected entry count can reduce resizing.</a:t>
            </a:r>
          </a:p>
        </p:txBody>
      </p:sp>
      <p:sp>
        <p:nvSpPr>
          <p:cNvPr id="7" name="">
            <a:extLst xmlns:a="http://schemas.openxmlformats.org/drawingml/2006/main">
              <a:ext uri="{FF2B5EF4-FFF2-40B4-BE49-F238E27FC236}">
                <a16:creationId xmlns:a16="http://schemas.microsoft.com/office/drawing/2014/main" id="{1452EFC6-F839-4235-B90C-CA66ECA73F31}"/>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Tree-based maps support ordered operations.</a:t>
            </a:r>
          </a:p>
        </p:txBody>
      </p:sp>
      <p:sp>
        <p:nvSpPr>
          <p:cNvPr id="9" name="local-java-JavaHashMapDemo">
            <a:extLst xmlns:a="http://schemas.openxmlformats.org/drawingml/2006/main">
              <a:ext uri="{FF2B5EF4-FFF2-40B4-BE49-F238E27FC236}">
                <a16:creationId xmlns:a16="http://schemas.microsoft.com/office/drawing/2014/main" id="{BE44D58A-6350-40A3-A5E6-CEE21721218F}"/>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01f7ac222b19425c"/>
              </a:rPr>
              <a:t>Java: JavaHashMapDemo.java</a:t>
            </a:r>
          </a:p>
        </p:txBody>
      </p:sp>
    </p:spTree>
    <p:extLst>
      <p:ext uri="{BB962C8B-B14F-4D97-AF65-F5344CB8AC3E}">
        <p14:creationId xmlns:p14="http://schemas.microsoft.com/office/powerpoint/2010/main" val="161603993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FA64FE5-A7BA-45ED-A3A0-2050F70DC1EA}"/>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MyHashMap: chained put outline</a:t>
            </a:r>
          </a:p>
        </p:txBody>
      </p:sp>
      <p:sp>
        <p:nvSpPr>
          <p:cNvPr id="2" name="">
            <a:extLst xmlns:a="http://schemas.openxmlformats.org/drawingml/2006/main">
              <a:ext uri="{FF2B5EF4-FFF2-40B4-BE49-F238E27FC236}">
                <a16:creationId xmlns:a16="http://schemas.microsoft.com/office/drawing/2014/main" id="{548B3A5A-ACF2-47A3-974E-83A2516F4C49}"/>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B209F707-7C73-4521-8CAA-42F6AC20D2AF}"/>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42</a:t>
            </a:r>
          </a:p>
        </p:txBody>
      </p:sp>
      <p:sp>
        <p:nvSpPr>
          <p:cNvPr id="4" name="">
            <a:extLst xmlns:a="http://schemas.openxmlformats.org/drawingml/2006/main">
              <a:ext uri="{FF2B5EF4-FFF2-40B4-BE49-F238E27FC236}">
                <a16:creationId xmlns:a16="http://schemas.microsoft.com/office/drawing/2014/main" id="{27820315-2D6F-4311-8BCD-9708FD3C04F8}"/>
              </a:ext>
            </a:extLst>
          </p:cNvPr>
          <p:cNvSpPr>
            <a:spLocks xmlns:a="http://schemas.openxmlformats.org/drawingml/2006/main" noGrp="1"/>
          </p:cNvSpPr>
          <p:nvPr/>
        </p:nvSpPr>
        <p:spPr>
          <a:xfrm xmlns:a="http://schemas.openxmlformats.org/drawingml/2006/main">
            <a:off x="571500" y="1476375"/>
            <a:ext cx="11049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2B4D"/>
                </a:solidFill>
                <a:latin typeface="Consolas"/>
                <a:ea typeface="Consolas"/>
                <a:cs typeface="Consolas"/>
              </a:defRPr>
            </a:defPPr>
            <a:lvl1pPr>
              <a:buNone/>
              <a:defRPr sz="1875" b="0">
                <a:solidFill>
                  <a:srgbClr val="172B4D"/>
                </a:solidFill>
                <a:latin typeface="Consolas"/>
                <a:ea typeface="Consolas"/>
                <a:cs typeface="Consolas"/>
              </a:defRPr>
            </a:lvl1pPr>
            <a:lvl2pPr>
              <a:buNone/>
              <a:defRPr sz="1875" b="0">
                <a:solidFill>
                  <a:srgbClr val="172B4D"/>
                </a:solidFill>
                <a:latin typeface="Consolas"/>
                <a:ea typeface="Consolas"/>
                <a:cs typeface="Consolas"/>
              </a:defRPr>
            </a:lvl2pPr>
            <a:lvl3pPr>
              <a:buNone/>
              <a:defRPr sz="1875" b="0">
                <a:solidFill>
                  <a:srgbClr val="172B4D"/>
                </a:solidFill>
                <a:latin typeface="Consolas"/>
                <a:ea typeface="Consolas"/>
                <a:cs typeface="Consolas"/>
              </a:defRPr>
            </a:lvl3pPr>
            <a:lvl4pPr>
              <a:buNone/>
              <a:defRPr sz="1875" b="0">
                <a:solidFill>
                  <a:srgbClr val="172B4D"/>
                </a:solidFill>
                <a:latin typeface="Consolas"/>
                <a:ea typeface="Consolas"/>
                <a:cs typeface="Consolas"/>
              </a:defRPr>
            </a:lvl4pPr>
            <a:lvl5pPr>
              <a:buNone/>
              <a:defRPr sz="1875" b="0">
                <a:solidFill>
                  <a:srgbClr val="172B4D"/>
                </a:solidFill>
                <a:latin typeface="Consolas"/>
                <a:ea typeface="Consolas"/>
                <a:cs typeface="Consolas"/>
              </a:defRPr>
            </a:lvl5pPr>
            <a:lvl6pPr>
              <a:buNone/>
              <a:defRPr sz="1875" b="0">
                <a:solidFill>
                  <a:srgbClr val="172B4D"/>
                </a:solidFill>
                <a:latin typeface="Consolas"/>
                <a:ea typeface="Consolas"/>
                <a:cs typeface="Consolas"/>
              </a:defRPr>
            </a:lvl6pPr>
            <a:lvl7pPr>
              <a:buNone/>
              <a:defRPr sz="1875" b="0">
                <a:solidFill>
                  <a:srgbClr val="172B4D"/>
                </a:solidFill>
                <a:latin typeface="Consolas"/>
                <a:ea typeface="Consolas"/>
                <a:cs typeface="Consolas"/>
              </a:defRPr>
            </a:lvl7pPr>
            <a:lvl8pPr>
              <a:buNone/>
              <a:defRPr sz="1875" b="0">
                <a:solidFill>
                  <a:srgbClr val="172B4D"/>
                </a:solidFill>
                <a:latin typeface="Consolas"/>
                <a:ea typeface="Consolas"/>
                <a:cs typeface="Consolas"/>
              </a:defRPr>
            </a:lvl8pPr>
            <a:lvl9pPr>
              <a:buNone/>
              <a:defRPr sz="1875" b="0">
                <a:solidFill>
                  <a:srgbClr val="172B4D"/>
                </a:solidFill>
                <a:latin typeface="Consolas"/>
                <a:ea typeface="Consolas"/>
                <a:cs typeface="Consolas"/>
              </a:defRPr>
            </a:lvl9pPr>
          </a:lstStyle>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put(key, value):</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bucket = table[index(key, capacity)]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for entry in bucket:</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if equals(entry.key, 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old = entry.value</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entry.value = value</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return old</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prepend new Entry(key, value) to bucket</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size = size + 1</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if size &gt; threshold: rehash()</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return MISSING</a:t>
            </a:r>
          </a:p>
        </p:txBody>
      </p:sp>
      <p:sp>
        <p:nvSpPr>
          <p:cNvPr id="5" name="">
            <a:extLst xmlns:a="http://schemas.openxmlformats.org/drawingml/2006/main">
              <a:ext uri="{FF2B5EF4-FFF2-40B4-BE49-F238E27FC236}">
                <a16:creationId xmlns:a16="http://schemas.microsoft.com/office/drawing/2014/main" id="{CADC97BE-A710-480C-993E-FD4DAB307321}"/>
              </a:ext>
            </a:extLst>
          </p:cNvPr>
          <p:cNvSpPr>
            <a:spLocks xmlns:a="http://schemas.openxmlformats.org/drawingml/2006/main" noGrp="1"/>
          </p:cNvSpPr>
          <p:nvPr/>
        </p:nvSpPr>
        <p:spPr>
          <a:xfrm xmlns:a="http://schemas.openxmlformats.org/drawingml/2006/main">
            <a:off x="571500" y="5334000"/>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A replacement changes the value without increasing size.</a:t>
            </a:r>
          </a:p>
        </p:txBody>
      </p:sp>
      <p:sp>
        <p:nvSpPr>
          <p:cNvPr id="7" name="local-java-MyHashMap">
            <a:extLst xmlns:a="http://schemas.openxmlformats.org/drawingml/2006/main">
              <a:ext uri="{FF2B5EF4-FFF2-40B4-BE49-F238E27FC236}">
                <a16:creationId xmlns:a16="http://schemas.microsoft.com/office/drawing/2014/main" id="{808D8D4C-BC51-4F5E-A435-309E7EFEEC0D}"/>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1a94920cf29744f7"/>
              </a:rPr>
              <a:t>Java: MyHashMap.java</a:t>
            </a:r>
          </a:p>
        </p:txBody>
      </p:sp>
      <p:sp>
        <p:nvSpPr>
          <p:cNvPr id="8" name="local-java-RehashingDemo">
            <a:extLst xmlns:a="http://schemas.openxmlformats.org/drawingml/2006/main">
              <a:ext uri="{FF2B5EF4-FFF2-40B4-BE49-F238E27FC236}">
                <a16:creationId xmlns:a16="http://schemas.microsoft.com/office/drawing/2014/main" id="{B590D31A-BFB2-4BB3-9614-3D0E5B36EA49}"/>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c1145e084a234423"/>
              </a:rPr>
              <a:t>Java: RehashingDemo.java</a:t>
            </a:r>
          </a:p>
        </p:txBody>
      </p:sp>
    </p:spTree>
    <p:extLst>
      <p:ext uri="{BB962C8B-B14F-4D97-AF65-F5344CB8AC3E}">
        <p14:creationId xmlns:p14="http://schemas.microsoft.com/office/powerpoint/2010/main" val="55443118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7A23BE-DEF3-4526-81B9-BEC8CDF0B129}"/>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MyHashSet can reuse a map</a:t>
            </a:r>
          </a:p>
        </p:txBody>
      </p:sp>
      <p:sp>
        <p:nvSpPr>
          <p:cNvPr id="2" name="">
            <a:extLst xmlns:a="http://schemas.openxmlformats.org/drawingml/2006/main">
              <a:ext uri="{FF2B5EF4-FFF2-40B4-BE49-F238E27FC236}">
                <a16:creationId xmlns:a16="http://schemas.microsoft.com/office/drawing/2014/main" id="{D3E1C78E-E877-495A-841E-189ED4830546}"/>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9D4E1D16-24A4-4637-B9C2-221EE25ECA0A}"/>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43</a:t>
            </a:r>
          </a:p>
        </p:txBody>
      </p:sp>
      <p:sp>
        <p:nvSpPr>
          <p:cNvPr id="4" name="">
            <a:extLst xmlns:a="http://schemas.openxmlformats.org/drawingml/2006/main">
              <a:ext uri="{FF2B5EF4-FFF2-40B4-BE49-F238E27FC236}">
                <a16:creationId xmlns:a16="http://schemas.microsoft.com/office/drawing/2014/main" id="{C240E781-06DC-42F5-BD6F-2903820388AB}"/>
              </a:ext>
            </a:extLst>
          </p:cNvPr>
          <p:cNvSpPr>
            <a:spLocks xmlns:a="http://schemas.openxmlformats.org/drawingml/2006/main" noGrp="1"/>
          </p:cNvSpPr>
          <p:nvPr/>
        </p:nvSpPr>
        <p:spPr>
          <a:xfrm xmlns:a="http://schemas.openxmlformats.org/drawingml/2006/main">
            <a:off x="571500" y="1476375"/>
            <a:ext cx="110490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72B4D"/>
                </a:solidFill>
                <a:latin typeface="Consolas"/>
                <a:ea typeface="Consolas"/>
                <a:cs typeface="Consolas"/>
              </a:defRPr>
            </a:defPPr>
            <a:lvl1pPr>
              <a:buNone/>
              <a:defRPr sz="1875" b="0">
                <a:solidFill>
                  <a:srgbClr val="172B4D"/>
                </a:solidFill>
                <a:latin typeface="Consolas"/>
                <a:ea typeface="Consolas"/>
                <a:cs typeface="Consolas"/>
              </a:defRPr>
            </a:lvl1pPr>
            <a:lvl2pPr>
              <a:buNone/>
              <a:defRPr sz="1875" b="0">
                <a:solidFill>
                  <a:srgbClr val="172B4D"/>
                </a:solidFill>
                <a:latin typeface="Consolas"/>
                <a:ea typeface="Consolas"/>
                <a:cs typeface="Consolas"/>
              </a:defRPr>
            </a:lvl2pPr>
            <a:lvl3pPr>
              <a:buNone/>
              <a:defRPr sz="1875" b="0">
                <a:solidFill>
                  <a:srgbClr val="172B4D"/>
                </a:solidFill>
                <a:latin typeface="Consolas"/>
                <a:ea typeface="Consolas"/>
                <a:cs typeface="Consolas"/>
              </a:defRPr>
            </a:lvl3pPr>
            <a:lvl4pPr>
              <a:buNone/>
              <a:defRPr sz="1875" b="0">
                <a:solidFill>
                  <a:srgbClr val="172B4D"/>
                </a:solidFill>
                <a:latin typeface="Consolas"/>
                <a:ea typeface="Consolas"/>
                <a:cs typeface="Consolas"/>
              </a:defRPr>
            </a:lvl4pPr>
            <a:lvl5pPr>
              <a:buNone/>
              <a:defRPr sz="1875" b="0">
                <a:solidFill>
                  <a:srgbClr val="172B4D"/>
                </a:solidFill>
                <a:latin typeface="Consolas"/>
                <a:ea typeface="Consolas"/>
                <a:cs typeface="Consolas"/>
              </a:defRPr>
            </a:lvl5pPr>
            <a:lvl6pPr>
              <a:buNone/>
              <a:defRPr sz="1875" b="0">
                <a:solidFill>
                  <a:srgbClr val="172B4D"/>
                </a:solidFill>
                <a:latin typeface="Consolas"/>
                <a:ea typeface="Consolas"/>
                <a:cs typeface="Consolas"/>
              </a:defRPr>
            </a:lvl6pPr>
            <a:lvl7pPr>
              <a:buNone/>
              <a:defRPr sz="1875" b="0">
                <a:solidFill>
                  <a:srgbClr val="172B4D"/>
                </a:solidFill>
                <a:latin typeface="Consolas"/>
                <a:ea typeface="Consolas"/>
                <a:cs typeface="Consolas"/>
              </a:defRPr>
            </a:lvl7pPr>
            <a:lvl8pPr>
              <a:buNone/>
              <a:defRPr sz="1875" b="0">
                <a:solidFill>
                  <a:srgbClr val="172B4D"/>
                </a:solidFill>
                <a:latin typeface="Consolas"/>
                <a:ea typeface="Consolas"/>
                <a:cs typeface="Consolas"/>
              </a:defRPr>
            </a:lvl8pPr>
            <a:lvl9pPr>
              <a:buNone/>
              <a:defRPr sz="1875" b="0">
                <a:solidFill>
                  <a:srgbClr val="172B4D"/>
                </a:solidFill>
                <a:latin typeface="Consolas"/>
                <a:ea typeface="Consolas"/>
                <a:cs typeface="Consolas"/>
              </a:defRPr>
            </a:lvl9pPr>
          </a:lstStyle>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add(key):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wasPresent = map.containsKey(key)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map.put(key, PRESENT)</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return not wasPresent</a:t>
            </a:r>
          </a:p>
          <a:p xmlns:a="http://schemas.openxmlformats.org/drawingml/2006/main">
            <a:r>
              <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contains(key): return map.containsKey(key)</a:t>
            </a:r>
          </a:p>
          <a:p xmlns:a="http://schemas.openxmlformats.org/drawingml/2006/main">
            <a:r>
              <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remove(key):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wasPresent = map.containsKey(key)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map.remove(key)</a:t>
            </a:r>
          </a:p>
          <a:p xmlns:a="http://schemas.openxmlformats.org/drawingml/2006/main">
            <a:pPr>
              <a:buNone/>
              <a:defRPr sz="1875" b="0">
                <a:solidFill>
                  <a:srgbClr val="172B4D"/>
                </a:solidFill>
                <a:latin typeface="Consolas"/>
                <a:ea typeface="Consolas"/>
                <a:cs typeface="Consolas"/>
              </a:defRPr>
            </a:pPr>
            <a:r>
              <a:rPr sz="1875" b="0">
                <a:solidFill>
                  <a:srgbClr val="172B4D"/>
                </a:solidFill>
                <a:latin typeface="Consolas"/>
                <a:ea typeface="Consolas"/>
                <a:cs typeface="Consolas"/>
              </a:rPr>
              <a:t>  return wasPresent</a:t>
            </a:r>
          </a:p>
        </p:txBody>
      </p:sp>
      <p:sp>
        <p:nvSpPr>
          <p:cNvPr id="5" name="">
            <a:extLst xmlns:a="http://schemas.openxmlformats.org/drawingml/2006/main">
              <a:ext uri="{FF2B5EF4-FFF2-40B4-BE49-F238E27FC236}">
                <a16:creationId xmlns:a16="http://schemas.microsoft.com/office/drawing/2014/main" id="{9D041D16-4D40-4258-93E2-32AB7BC71FDB}"/>
              </a:ext>
            </a:extLst>
          </p:cNvPr>
          <p:cNvSpPr>
            <a:spLocks xmlns:a="http://schemas.openxmlformats.org/drawingml/2006/main" noGrp="1"/>
          </p:cNvSpPr>
          <p:nvPr/>
        </p:nvSpPr>
        <p:spPr>
          <a:xfrm xmlns:a="http://schemas.openxmlformats.org/drawingml/2006/main">
            <a:off x="571500" y="5334000"/>
            <a:ext cx="1104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PRESENT is one shared marker value. Keys remain unique.</a:t>
            </a:r>
          </a:p>
        </p:txBody>
      </p:sp>
      <p:sp>
        <p:nvSpPr>
          <p:cNvPr id="7" name="local-java-MyHashSet">
            <a:extLst xmlns:a="http://schemas.openxmlformats.org/drawingml/2006/main">
              <a:ext uri="{FF2B5EF4-FFF2-40B4-BE49-F238E27FC236}">
                <a16:creationId xmlns:a16="http://schemas.microsoft.com/office/drawing/2014/main" id="{783EBA57-3245-4058-AC71-B451F9C4C95A}"/>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e739b16e5f054372"/>
              </a:rPr>
              <a:t>Java: MyHashSet.java</a:t>
            </a:r>
          </a:p>
        </p:txBody>
      </p:sp>
      <p:sp>
        <p:nvSpPr>
          <p:cNvPr id="8" name="local-java-MyHashSetDemo">
            <a:extLst xmlns:a="http://schemas.openxmlformats.org/drawingml/2006/main">
              <a:ext uri="{FF2B5EF4-FFF2-40B4-BE49-F238E27FC236}">
                <a16:creationId xmlns:a16="http://schemas.microsoft.com/office/drawing/2014/main" id="{3F1E7200-F5BD-4463-A864-F4132CE7F86F}"/>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7107a51ffdd74589"/>
              </a:rPr>
              <a:t>Java: MyHashSetDemo.java</a:t>
            </a:r>
          </a:p>
        </p:txBody>
      </p:sp>
    </p:spTree>
    <p:extLst>
      <p:ext uri="{BB962C8B-B14F-4D97-AF65-F5344CB8AC3E}">
        <p14:creationId xmlns:p14="http://schemas.microsoft.com/office/powerpoint/2010/main" val="40402987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446648-5A04-4F6A-AD95-AD40469D937E}"/>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Review questions</a:t>
            </a:r>
          </a:p>
        </p:txBody>
      </p:sp>
      <p:sp>
        <p:nvSpPr>
          <p:cNvPr id="2" name="">
            <a:extLst xmlns:a="http://schemas.openxmlformats.org/drawingml/2006/main">
              <a:ext uri="{FF2B5EF4-FFF2-40B4-BE49-F238E27FC236}">
                <a16:creationId xmlns:a16="http://schemas.microsoft.com/office/drawing/2014/main" id="{2C5DBA03-32C2-4E46-9351-8C2BCB83CDA6}"/>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6296C01C-456C-4511-99AD-5BBD289E6285}"/>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44</a:t>
            </a:r>
          </a:p>
        </p:txBody>
      </p:sp>
      <p:sp>
        <p:nvSpPr>
          <p:cNvPr id="4" name="">
            <a:extLst xmlns:a="http://schemas.openxmlformats.org/drawingml/2006/main">
              <a:ext uri="{FF2B5EF4-FFF2-40B4-BE49-F238E27FC236}">
                <a16:creationId xmlns:a16="http://schemas.microsoft.com/office/drawing/2014/main" id="{10ED43A3-87B3-4F36-BE0F-800AC0293F64}"/>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Why can two unequal keys have the same hash code?</a:t>
            </a:r>
          </a:p>
        </p:txBody>
      </p:sp>
      <p:sp>
        <p:nvSpPr>
          <p:cNvPr id="5" name="">
            <a:extLst xmlns:a="http://schemas.openxmlformats.org/drawingml/2006/main">
              <a:ext uri="{FF2B5EF4-FFF2-40B4-BE49-F238E27FC236}">
                <a16:creationId xmlns:a16="http://schemas.microsoft.com/office/drawing/2014/main" id="{D2B06107-705F-43A0-B749-EE368AA2B7FF}"/>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Why does a deleted slot keep an open-addressed lookup going?</a:t>
            </a:r>
          </a:p>
        </p:txBody>
      </p:sp>
      <p:sp>
        <p:nvSpPr>
          <p:cNvPr id="6" name="">
            <a:extLst xmlns:a="http://schemas.openxmlformats.org/drawingml/2006/main">
              <a:ext uri="{FF2B5EF4-FFF2-40B4-BE49-F238E27FC236}">
                <a16:creationId xmlns:a16="http://schemas.microsoft.com/office/drawing/2014/main" id="{16F81292-2EAE-4E63-AF76-64358DE28C7F}"/>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Why does step 5 fail with capacity 10?</a:t>
            </a:r>
          </a:p>
        </p:txBody>
      </p:sp>
      <p:sp>
        <p:nvSpPr>
          <p:cNvPr id="7" name="">
            <a:extLst xmlns:a="http://schemas.openxmlformats.org/drawingml/2006/main">
              <a:ext uri="{FF2B5EF4-FFF2-40B4-BE49-F238E27FC236}">
                <a16:creationId xmlns:a16="http://schemas.microsoft.com/office/drawing/2014/main" id="{E7711D08-2070-4CD6-9345-1AD17D30FF23}"/>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Why does resizing require reinsertion?</a:t>
            </a:r>
          </a:p>
        </p:txBody>
      </p:sp>
    </p:spTree>
    <p:extLst>
      <p:ext uri="{BB962C8B-B14F-4D97-AF65-F5344CB8AC3E}">
        <p14:creationId xmlns:p14="http://schemas.microsoft.com/office/powerpoint/2010/main" val="48366369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CE9695-B4CE-4939-973B-5C07485281F2}"/>
              </a:ext>
            </a:extLst>
          </p:cNvPr>
          <p:cNvSpPr>
            <a:spLocks xmlns:a="http://schemas.openxmlformats.org/drawingml/2006/main" noGrp="1"/>
          </p:cNvSpPr>
          <p:nvPr/>
        </p:nvSpPr>
        <p:spPr>
          <a:xfrm xmlns:a="http://schemas.openxmlformats.org/drawingml/2006/main">
            <a:off x="57150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24583E"/>
                </a:solidFill>
                <a:latin typeface="Arial"/>
                <a:ea typeface="Arial"/>
                <a:cs typeface="Arial"/>
              </a:defRPr>
            </a:defPPr>
            <a:lvl1pPr>
              <a:buNone/>
              <a:defRPr sz="3000" b="1">
                <a:solidFill>
                  <a:srgbClr val="24583E"/>
                </a:solidFill>
                <a:latin typeface="Arial"/>
                <a:ea typeface="Arial"/>
                <a:cs typeface="Arial"/>
              </a:defRPr>
            </a:lvl1pPr>
            <a:lvl2pPr>
              <a:buNone/>
              <a:defRPr sz="3000" b="1">
                <a:solidFill>
                  <a:srgbClr val="24583E"/>
                </a:solidFill>
                <a:latin typeface="Arial"/>
                <a:ea typeface="Arial"/>
                <a:cs typeface="Arial"/>
              </a:defRPr>
            </a:lvl2pPr>
            <a:lvl3pPr>
              <a:buNone/>
              <a:defRPr sz="3000" b="1">
                <a:solidFill>
                  <a:srgbClr val="24583E"/>
                </a:solidFill>
                <a:latin typeface="Arial"/>
                <a:ea typeface="Arial"/>
                <a:cs typeface="Arial"/>
              </a:defRPr>
            </a:lvl3pPr>
            <a:lvl4pPr>
              <a:buNone/>
              <a:defRPr sz="3000" b="1">
                <a:solidFill>
                  <a:srgbClr val="24583E"/>
                </a:solidFill>
                <a:latin typeface="Arial"/>
                <a:ea typeface="Arial"/>
                <a:cs typeface="Arial"/>
              </a:defRPr>
            </a:lvl4pPr>
            <a:lvl5pPr>
              <a:buNone/>
              <a:defRPr sz="3000" b="1">
                <a:solidFill>
                  <a:srgbClr val="24583E"/>
                </a:solidFill>
                <a:latin typeface="Arial"/>
                <a:ea typeface="Arial"/>
                <a:cs typeface="Arial"/>
              </a:defRPr>
            </a:lvl5pPr>
            <a:lvl6pPr>
              <a:buNone/>
              <a:defRPr sz="3000" b="1">
                <a:solidFill>
                  <a:srgbClr val="24583E"/>
                </a:solidFill>
                <a:latin typeface="Arial"/>
                <a:ea typeface="Arial"/>
                <a:cs typeface="Arial"/>
              </a:defRPr>
            </a:lvl6pPr>
            <a:lvl7pPr>
              <a:buNone/>
              <a:defRPr sz="3000" b="1">
                <a:solidFill>
                  <a:srgbClr val="24583E"/>
                </a:solidFill>
                <a:latin typeface="Arial"/>
                <a:ea typeface="Arial"/>
                <a:cs typeface="Arial"/>
              </a:defRPr>
            </a:lvl7pPr>
            <a:lvl8pPr>
              <a:buNone/>
              <a:defRPr sz="3000" b="1">
                <a:solidFill>
                  <a:srgbClr val="24583E"/>
                </a:solidFill>
                <a:latin typeface="Arial"/>
                <a:ea typeface="Arial"/>
                <a:cs typeface="Arial"/>
              </a:defRPr>
            </a:lvl8pPr>
            <a:lvl9pPr>
              <a:buNone/>
              <a:defRPr sz="3000" b="1">
                <a:solidFill>
                  <a:srgbClr val="24583E"/>
                </a:solidFill>
                <a:latin typeface="Arial"/>
                <a:ea typeface="Arial"/>
                <a:cs typeface="Arial"/>
              </a:defRPr>
            </a:lvl9pPr>
          </a:lstStyle>
          <a:p xmlns:a="http://schemas.openxmlformats.org/drawingml/2006/main">
            <a:pPr>
              <a:buNone/>
              <a:defRPr sz="3000" b="1">
                <a:solidFill>
                  <a:srgbClr val="24583E"/>
                </a:solidFill>
                <a:latin typeface="Arial"/>
                <a:ea typeface="Arial"/>
                <a:cs typeface="Arial"/>
              </a:defRPr>
            </a:pPr>
            <a:r>
              <a:rPr sz="3000" b="1">
                <a:solidFill>
                  <a:srgbClr val="24583E"/>
                </a:solidFill>
                <a:latin typeface="Arial"/>
                <a:ea typeface="Arial"/>
                <a:cs typeface="Arial"/>
              </a:rPr>
              <a:t>Further study and classroom activities</a:t>
            </a:r>
          </a:p>
        </p:txBody>
      </p:sp>
      <p:sp>
        <p:nvSpPr>
          <p:cNvPr id="2" name="">
            <a:extLst xmlns:a="http://schemas.openxmlformats.org/drawingml/2006/main">
              <a:ext uri="{FF2B5EF4-FFF2-40B4-BE49-F238E27FC236}">
                <a16:creationId xmlns:a16="http://schemas.microsoft.com/office/drawing/2014/main" id="{359B86E0-19B7-4941-A422-3FC6BC2EE015}"/>
              </a:ext>
            </a:extLst>
          </p:cNvPr>
          <p:cNvSpPr>
            <a:spLocks xmlns:a="http://schemas.openxmlformats.org/drawingml/2006/main" noGrp="1"/>
          </p:cNvSpPr>
          <p:nvPr/>
        </p:nvSpPr>
        <p:spPr>
          <a:xfrm xmlns:a="http://schemas.openxmlformats.org/drawingml/2006/main">
            <a:off x="5715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COMP 182   Lecture 12</a:t>
            </a:r>
          </a:p>
        </p:txBody>
      </p:sp>
      <p:sp>
        <p:nvSpPr>
          <p:cNvPr id="3" name="">
            <a:extLst xmlns:a="http://schemas.openxmlformats.org/drawingml/2006/main">
              <a:ext uri="{FF2B5EF4-FFF2-40B4-BE49-F238E27FC236}">
                <a16:creationId xmlns:a16="http://schemas.microsoft.com/office/drawing/2014/main" id="{1886BF27-28B9-44E8-B743-B0136513C754}"/>
              </a:ext>
            </a:extLst>
          </p:cNvPr>
          <p:cNvSpPr>
            <a:spLocks xmlns:a="http://schemas.openxmlformats.org/drawingml/2006/main" noGrp="1"/>
          </p:cNvSpPr>
          <p:nvPr/>
        </p:nvSpPr>
        <p:spPr>
          <a:xfrm xmlns:a="http://schemas.openxmlformats.org/drawingml/2006/main">
            <a:off x="11239500" y="64579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26B70"/>
                </a:solidFill>
                <a:latin typeface="Arial"/>
                <a:ea typeface="Arial"/>
                <a:cs typeface="Arial"/>
              </a:defRPr>
            </a:defPPr>
            <a:lvl1pPr>
              <a:buNone/>
              <a:defRPr sz="1050" b="0">
                <a:solidFill>
                  <a:srgbClr val="626B70"/>
                </a:solidFill>
                <a:latin typeface="Arial"/>
                <a:ea typeface="Arial"/>
                <a:cs typeface="Arial"/>
              </a:defRPr>
            </a:lvl1pPr>
            <a:lvl2pPr>
              <a:buNone/>
              <a:defRPr sz="1050" b="0">
                <a:solidFill>
                  <a:srgbClr val="626B70"/>
                </a:solidFill>
                <a:latin typeface="Arial"/>
                <a:ea typeface="Arial"/>
                <a:cs typeface="Arial"/>
              </a:defRPr>
            </a:lvl2pPr>
            <a:lvl3pPr>
              <a:buNone/>
              <a:defRPr sz="1050" b="0">
                <a:solidFill>
                  <a:srgbClr val="626B70"/>
                </a:solidFill>
                <a:latin typeface="Arial"/>
                <a:ea typeface="Arial"/>
                <a:cs typeface="Arial"/>
              </a:defRPr>
            </a:lvl3pPr>
            <a:lvl4pPr>
              <a:buNone/>
              <a:defRPr sz="1050" b="0">
                <a:solidFill>
                  <a:srgbClr val="626B70"/>
                </a:solidFill>
                <a:latin typeface="Arial"/>
                <a:ea typeface="Arial"/>
                <a:cs typeface="Arial"/>
              </a:defRPr>
            </a:lvl4pPr>
            <a:lvl5pPr>
              <a:buNone/>
              <a:defRPr sz="1050" b="0">
                <a:solidFill>
                  <a:srgbClr val="626B70"/>
                </a:solidFill>
                <a:latin typeface="Arial"/>
                <a:ea typeface="Arial"/>
                <a:cs typeface="Arial"/>
              </a:defRPr>
            </a:lvl5pPr>
            <a:lvl6pPr>
              <a:buNone/>
              <a:defRPr sz="1050" b="0">
                <a:solidFill>
                  <a:srgbClr val="626B70"/>
                </a:solidFill>
                <a:latin typeface="Arial"/>
                <a:ea typeface="Arial"/>
                <a:cs typeface="Arial"/>
              </a:defRPr>
            </a:lvl6pPr>
            <a:lvl7pPr>
              <a:buNone/>
              <a:defRPr sz="1050" b="0">
                <a:solidFill>
                  <a:srgbClr val="626B70"/>
                </a:solidFill>
                <a:latin typeface="Arial"/>
                <a:ea typeface="Arial"/>
                <a:cs typeface="Arial"/>
              </a:defRPr>
            </a:lvl7pPr>
            <a:lvl8pPr>
              <a:buNone/>
              <a:defRPr sz="1050" b="0">
                <a:solidFill>
                  <a:srgbClr val="626B70"/>
                </a:solidFill>
                <a:latin typeface="Arial"/>
                <a:ea typeface="Arial"/>
                <a:cs typeface="Arial"/>
              </a:defRPr>
            </a:lvl8pPr>
            <a:lvl9pPr>
              <a:buNone/>
              <a:defRPr sz="1050" b="0">
                <a:solidFill>
                  <a:srgbClr val="626B70"/>
                </a:solidFill>
                <a:latin typeface="Arial"/>
                <a:ea typeface="Arial"/>
                <a:cs typeface="Arial"/>
              </a:defRPr>
            </a:lvl9pPr>
          </a:lstStyle>
          <a:p xmlns:a="http://schemas.openxmlformats.org/drawingml/2006/main">
            <a:pPr>
              <a:buNone/>
              <a:defRPr sz="1050" b="0">
                <a:solidFill>
                  <a:srgbClr val="626B70"/>
                </a:solidFill>
                <a:latin typeface="Arial"/>
                <a:ea typeface="Arial"/>
                <a:cs typeface="Arial"/>
              </a:defRPr>
            </a:pPr>
            <a:r>
              <a:rPr sz="1050" b="0">
                <a:solidFill>
                  <a:srgbClr val="626B70"/>
                </a:solidFill>
                <a:latin typeface="Arial"/>
                <a:ea typeface="Arial"/>
                <a:cs typeface="Arial"/>
              </a:rPr>
              <a:t>45</a:t>
            </a:r>
          </a:p>
        </p:txBody>
      </p:sp>
      <p:sp>
        <p:nvSpPr>
          <p:cNvPr id="4" name="">
            <a:extLst xmlns:a="http://schemas.openxmlformats.org/drawingml/2006/main">
              <a:ext uri="{FF2B5EF4-FFF2-40B4-BE49-F238E27FC236}">
                <a16:creationId xmlns:a16="http://schemas.microsoft.com/office/drawing/2014/main" id="{69F370A8-8DD4-4151-910B-106F50BFE982}"/>
              </a:ext>
            </a:extLst>
          </p:cNvPr>
          <p:cNvSpPr>
            <a:spLocks xmlns:a="http://schemas.openxmlformats.org/drawingml/2006/main" noGrp="1"/>
          </p:cNvSpPr>
          <p:nvPr/>
        </p:nvSpPr>
        <p:spPr>
          <a:xfrm xmlns:a="http://schemas.openxmlformats.org/drawingml/2006/main">
            <a:off x="571500" y="147637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Repeat the six-key exercise with a different insertion order.</a:t>
            </a:r>
          </a:p>
        </p:txBody>
      </p:sp>
      <p:sp>
        <p:nvSpPr>
          <p:cNvPr id="5" name="">
            <a:extLst xmlns:a="http://schemas.openxmlformats.org/drawingml/2006/main">
              <a:ext uri="{FF2B5EF4-FFF2-40B4-BE49-F238E27FC236}">
                <a16:creationId xmlns:a16="http://schemas.microsoft.com/office/drawing/2014/main" id="{1E8CF610-BE32-481A-8626-909CB103E8DD}"/>
              </a:ext>
            </a:extLst>
          </p:cNvPr>
          <p:cNvSpPr>
            <a:spLocks xmlns:a="http://schemas.openxmlformats.org/drawingml/2006/main" noGrp="1"/>
          </p:cNvSpPr>
          <p:nvPr/>
        </p:nvSpPr>
        <p:spPr>
          <a:xfrm xmlns:a="http://schemas.openxmlformats.org/drawingml/2006/main">
            <a:off x="571500" y="247650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Compare successful and unsuccessful probe counts.</a:t>
            </a:r>
          </a:p>
        </p:txBody>
      </p:sp>
      <p:sp>
        <p:nvSpPr>
          <p:cNvPr id="6" name="">
            <a:extLst xmlns:a="http://schemas.openxmlformats.org/drawingml/2006/main">
              <a:ext uri="{FF2B5EF4-FFF2-40B4-BE49-F238E27FC236}">
                <a16:creationId xmlns:a16="http://schemas.microsoft.com/office/drawing/2014/main" id="{8B6EB271-3242-427B-8A9B-03A595C83EF5}"/>
              </a:ext>
            </a:extLst>
          </p:cNvPr>
          <p:cNvSpPr>
            <a:spLocks xmlns:a="http://schemas.openxmlformats.org/drawingml/2006/main" noGrp="1"/>
          </p:cNvSpPr>
          <p:nvPr/>
        </p:nvSpPr>
        <p:spPr>
          <a:xfrm xmlns:a="http://schemas.openxmlformats.org/drawingml/2006/main">
            <a:off x="571500" y="3476625"/>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Delete a key, reuse its tombstone, then verify every lookup.</a:t>
            </a:r>
          </a:p>
        </p:txBody>
      </p:sp>
      <p:sp>
        <p:nvSpPr>
          <p:cNvPr id="7" name="">
            <a:extLst xmlns:a="http://schemas.openxmlformats.org/drawingml/2006/main">
              <a:ext uri="{FF2B5EF4-FFF2-40B4-BE49-F238E27FC236}">
                <a16:creationId xmlns:a16="http://schemas.microsoft.com/office/drawing/2014/main" id="{EC93CE63-E4D0-4E20-8669-5452EBAF1B1B}"/>
              </a:ext>
            </a:extLst>
          </p:cNvPr>
          <p:cNvSpPr>
            <a:spLocks xmlns:a="http://schemas.openxmlformats.org/drawingml/2006/main" noGrp="1"/>
          </p:cNvSpPr>
          <p:nvPr/>
        </p:nvSpPr>
        <p:spPr>
          <a:xfrm xmlns:a="http://schemas.openxmlformats.org/drawingml/2006/main">
            <a:off x="571500" y="4476750"/>
            <a:ext cx="1104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03040"/>
                </a:solidFill>
                <a:latin typeface="Arial"/>
                <a:ea typeface="Arial"/>
                <a:cs typeface="Arial"/>
              </a:defRPr>
            </a:defPPr>
            <a:lvl1pPr>
              <a:buNone/>
              <a:defRPr sz="2100" b="0">
                <a:solidFill>
                  <a:srgbClr val="203040"/>
                </a:solidFill>
                <a:latin typeface="Arial"/>
                <a:ea typeface="Arial"/>
                <a:cs typeface="Arial"/>
              </a:defRPr>
            </a:lvl1pPr>
            <a:lvl2pPr>
              <a:buNone/>
              <a:defRPr sz="2100" b="0">
                <a:solidFill>
                  <a:srgbClr val="203040"/>
                </a:solidFill>
                <a:latin typeface="Arial"/>
                <a:ea typeface="Arial"/>
                <a:cs typeface="Arial"/>
              </a:defRPr>
            </a:lvl2pPr>
            <a:lvl3pPr>
              <a:buNone/>
              <a:defRPr sz="2100" b="0">
                <a:solidFill>
                  <a:srgbClr val="203040"/>
                </a:solidFill>
                <a:latin typeface="Arial"/>
                <a:ea typeface="Arial"/>
                <a:cs typeface="Arial"/>
              </a:defRPr>
            </a:lvl3pPr>
            <a:lvl4pPr>
              <a:buNone/>
              <a:defRPr sz="2100" b="0">
                <a:solidFill>
                  <a:srgbClr val="203040"/>
                </a:solidFill>
                <a:latin typeface="Arial"/>
                <a:ea typeface="Arial"/>
                <a:cs typeface="Arial"/>
              </a:defRPr>
            </a:lvl4pPr>
            <a:lvl5pPr>
              <a:buNone/>
              <a:defRPr sz="2100" b="0">
                <a:solidFill>
                  <a:srgbClr val="203040"/>
                </a:solidFill>
                <a:latin typeface="Arial"/>
                <a:ea typeface="Arial"/>
                <a:cs typeface="Arial"/>
              </a:defRPr>
            </a:lvl5pPr>
            <a:lvl6pPr>
              <a:buNone/>
              <a:defRPr sz="2100" b="0">
                <a:solidFill>
                  <a:srgbClr val="203040"/>
                </a:solidFill>
                <a:latin typeface="Arial"/>
                <a:ea typeface="Arial"/>
                <a:cs typeface="Arial"/>
              </a:defRPr>
            </a:lvl6pPr>
            <a:lvl7pPr>
              <a:buNone/>
              <a:defRPr sz="2100" b="0">
                <a:solidFill>
                  <a:srgbClr val="203040"/>
                </a:solidFill>
                <a:latin typeface="Arial"/>
                <a:ea typeface="Arial"/>
                <a:cs typeface="Arial"/>
              </a:defRPr>
            </a:lvl7pPr>
            <a:lvl8pPr>
              <a:buNone/>
              <a:defRPr sz="2100" b="0">
                <a:solidFill>
                  <a:srgbClr val="203040"/>
                </a:solidFill>
                <a:latin typeface="Arial"/>
                <a:ea typeface="Arial"/>
                <a:cs typeface="Arial"/>
              </a:defRPr>
            </a:lvl8pPr>
            <a:lvl9pPr>
              <a:buNone/>
              <a:defRPr sz="2100" b="0">
                <a:solidFill>
                  <a:srgbClr val="203040"/>
                </a:solidFill>
                <a:latin typeface="Arial"/>
                <a:ea typeface="Arial"/>
                <a:cs typeface="Arial"/>
              </a:defRPr>
            </a:lvl9pPr>
          </a:lstStyle>
          <a:p xmlns:a="http://schemas.openxmlformats.org/drawingml/2006/main">
            <a:pPr>
              <a:buNone/>
              <a:defRPr sz="2100" b="0">
                <a:solidFill>
                  <a:srgbClr val="203040"/>
                </a:solidFill>
                <a:latin typeface="Arial"/>
                <a:ea typeface="Arial"/>
                <a:cs typeface="Arial"/>
              </a:defRPr>
            </a:pPr>
            <a:r>
              <a:rPr sz="2100" b="0">
                <a:solidFill>
                  <a:srgbClr val="203040"/>
                </a:solidFill>
                <a:latin typeface="Arial"/>
                <a:ea typeface="Arial"/>
                <a:cs typeface="Arial"/>
              </a:rPr>
              <a:t>Implement chaining first, then add resizing and a set wrapper.</a:t>
            </a:r>
          </a:p>
        </p:txBody>
      </p:sp>
      <p:sp>
        <p:nvSpPr>
          <p:cNvPr id="9" name="local-java-ProbingPractice">
            <a:extLst xmlns:a="http://schemas.openxmlformats.org/drawingml/2006/main">
              <a:ext uri="{FF2B5EF4-FFF2-40B4-BE49-F238E27FC236}">
                <a16:creationId xmlns:a16="http://schemas.microsoft.com/office/drawing/2014/main" id="{FAF2D167-0FA9-4B1B-BD31-99797BA81C39}"/>
              </a:ext>
            </a:extLst>
          </p:cNvPr>
          <p:cNvSpPr>
            <a:spLocks xmlns:a="http://schemas.openxmlformats.org/drawingml/2006/main" noGrp="1"/>
          </p:cNvSpPr>
          <p:nvPr/>
        </p:nvSpPr>
        <p:spPr>
          <a:xfrm xmlns:a="http://schemas.openxmlformats.org/drawingml/2006/main">
            <a:off x="5143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83747331b3194172"/>
              </a:rPr>
              <a:t>Java: ProbingPractice.java</a:t>
            </a:r>
          </a:p>
        </p:txBody>
      </p:sp>
      <p:sp>
        <p:nvSpPr>
          <p:cNvPr id="10" name="local-java-TombstoneMapDemo">
            <a:extLst xmlns:a="http://schemas.openxmlformats.org/drawingml/2006/main">
              <a:ext uri="{FF2B5EF4-FFF2-40B4-BE49-F238E27FC236}">
                <a16:creationId xmlns:a16="http://schemas.microsoft.com/office/drawing/2014/main" id="{743FB4E3-7244-41F0-8287-98E41C6156AD}"/>
              </a:ext>
            </a:extLst>
          </p:cNvPr>
          <p:cNvSpPr>
            <a:spLocks xmlns:a="http://schemas.openxmlformats.org/drawingml/2006/main" noGrp="1"/>
          </p:cNvSpPr>
          <p:nvPr/>
        </p:nvSpPr>
        <p:spPr>
          <a:xfrm xmlns:a="http://schemas.openxmlformats.org/drawingml/2006/main">
            <a:off x="422910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0dcc8ce244ec497c"/>
              </a:rPr>
              <a:t>Java: TombstoneMapDemo.java</a:t>
            </a:r>
          </a:p>
        </p:txBody>
      </p:sp>
      <p:sp>
        <p:nvSpPr>
          <p:cNvPr id="11" name="local-java-ChainingDemo">
            <a:extLst xmlns:a="http://schemas.openxmlformats.org/drawingml/2006/main">
              <a:ext uri="{FF2B5EF4-FFF2-40B4-BE49-F238E27FC236}">
                <a16:creationId xmlns:a16="http://schemas.microsoft.com/office/drawing/2014/main" id="{7BEE6C71-1E04-4A1C-ABA4-9EE3B3DE17AD}"/>
              </a:ext>
            </a:extLst>
          </p:cNvPr>
          <p:cNvSpPr>
            <a:spLocks xmlns:a="http://schemas.openxmlformats.org/drawingml/2006/main" noGrp="1"/>
          </p:cNvSpPr>
          <p:nvPr/>
        </p:nvSpPr>
        <p:spPr>
          <a:xfrm xmlns:a="http://schemas.openxmlformats.org/drawingml/2006/main">
            <a:off x="7943850" y="61912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a:r>
              <a:rPr sz="1350" u="sng">
                <a:solidFill>
                  <a:srgbClr val="24593F"/>
                </a:solidFill>
                <a:latin typeface="Arial"/>
                <a:ea typeface="Arial"/>
                <a:cs typeface="Arial"/>
                <a:hlinkClick xmlns:r="http://schemas.openxmlformats.org/officeDocument/2006/relationships" r:id="R3a6904aed44b4e25"/>
              </a:rPr>
              <a:t>Java: ChainingDemo.java</a:t>
            </a:r>
          </a:p>
        </p:txBody>
      </p:sp>
    </p:spTree>
    <p:extLst>
      <p:ext uri="{BB962C8B-B14F-4D97-AF65-F5344CB8AC3E}">
        <p14:creationId xmlns:p14="http://schemas.microsoft.com/office/powerpoint/2010/main" val="1490095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2026-10-25T16:18:55.2720000Z</dcterms:created>
  <dcterms:modified xsi:type="dcterms:W3CDTF">2026-10-25T16:18:55.2720000Z</dcterms:modified>
</coreProperties>
</file>